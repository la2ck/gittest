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39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3" r:id="rId4"/>
    <p:sldMasterId id="2147483655" r:id="rId5"/>
    <p:sldMasterId id="2147483657" r:id="rId6"/>
    <p:sldMasterId id="2147483659" r:id="rId7"/>
    <p:sldMasterId id="2147483676" r:id="rId8"/>
  </p:sldMasterIdLst>
  <p:notesMasterIdLst>
    <p:notesMasterId r:id="rId33"/>
  </p:notesMasterIdLst>
  <p:handoutMasterIdLst>
    <p:handoutMasterId r:id="rId95"/>
  </p:handoutMasterIdLst>
  <p:sldIdLst>
    <p:sldId id="256" r:id="rId9"/>
    <p:sldId id="1290" r:id="rId10"/>
    <p:sldId id="1291" r:id="rId11"/>
    <p:sldId id="1285" r:id="rId12"/>
    <p:sldId id="1286" r:id="rId13"/>
    <p:sldId id="1297" r:id="rId14"/>
    <p:sldId id="1298" r:id="rId15"/>
    <p:sldId id="1299" r:id="rId16"/>
    <p:sldId id="1300" r:id="rId17"/>
    <p:sldId id="1301" r:id="rId18"/>
    <p:sldId id="1302" r:id="rId19"/>
    <p:sldId id="1303" r:id="rId20"/>
    <p:sldId id="1304" r:id="rId21"/>
    <p:sldId id="1305" r:id="rId22"/>
    <p:sldId id="1306" r:id="rId23"/>
    <p:sldId id="1294" r:id="rId24"/>
    <p:sldId id="1307" r:id="rId25"/>
    <p:sldId id="631" r:id="rId26"/>
    <p:sldId id="632" r:id="rId27"/>
    <p:sldId id="633" r:id="rId28"/>
    <p:sldId id="1309" r:id="rId29"/>
    <p:sldId id="1310" r:id="rId30"/>
    <p:sldId id="1353" r:id="rId31"/>
    <p:sldId id="1352" r:id="rId32"/>
    <p:sldId id="1313" r:id="rId34"/>
    <p:sldId id="1314" r:id="rId35"/>
    <p:sldId id="1374" r:id="rId36"/>
    <p:sldId id="1312" r:id="rId37"/>
    <p:sldId id="1315" r:id="rId38"/>
    <p:sldId id="544" r:id="rId39"/>
    <p:sldId id="485" r:id="rId40"/>
    <p:sldId id="546" r:id="rId41"/>
    <p:sldId id="547" r:id="rId42"/>
    <p:sldId id="548" r:id="rId43"/>
    <p:sldId id="1363" r:id="rId44"/>
    <p:sldId id="1320" r:id="rId45"/>
    <p:sldId id="1321" r:id="rId46"/>
    <p:sldId id="1354" r:id="rId47"/>
    <p:sldId id="1355" r:id="rId48"/>
    <p:sldId id="1322" r:id="rId49"/>
    <p:sldId id="1323" r:id="rId50"/>
    <p:sldId id="1356" r:id="rId51"/>
    <p:sldId id="1357" r:id="rId52"/>
    <p:sldId id="1346" r:id="rId53"/>
    <p:sldId id="1317" r:id="rId54"/>
    <p:sldId id="1365" r:id="rId55"/>
    <p:sldId id="1366" r:id="rId56"/>
    <p:sldId id="1367" r:id="rId57"/>
    <p:sldId id="1368" r:id="rId58"/>
    <p:sldId id="1370" r:id="rId59"/>
    <p:sldId id="1369" r:id="rId60"/>
    <p:sldId id="1372" r:id="rId61"/>
    <p:sldId id="1318" r:id="rId62"/>
    <p:sldId id="1319" r:id="rId63"/>
    <p:sldId id="1358" r:id="rId64"/>
    <p:sldId id="764" r:id="rId65"/>
    <p:sldId id="765" r:id="rId66"/>
    <p:sldId id="1359" r:id="rId67"/>
    <p:sldId id="1364" r:id="rId68"/>
    <p:sldId id="1345" r:id="rId69"/>
    <p:sldId id="1360" r:id="rId70"/>
    <p:sldId id="1324" r:id="rId71"/>
    <p:sldId id="1331" r:id="rId72"/>
    <p:sldId id="554" r:id="rId73"/>
    <p:sldId id="556" r:id="rId74"/>
    <p:sldId id="1377" r:id="rId75"/>
    <p:sldId id="562" r:id="rId76"/>
    <p:sldId id="564" r:id="rId77"/>
    <p:sldId id="1378" r:id="rId78"/>
    <p:sldId id="1379" r:id="rId79"/>
    <p:sldId id="1380" r:id="rId80"/>
    <p:sldId id="1382" r:id="rId81"/>
    <p:sldId id="580" r:id="rId82"/>
    <p:sldId id="1383" r:id="rId83"/>
    <p:sldId id="1376" r:id="rId84"/>
    <p:sldId id="1330" r:id="rId85"/>
    <p:sldId id="1337" r:id="rId86"/>
    <p:sldId id="615" r:id="rId87"/>
    <p:sldId id="616" r:id="rId88"/>
    <p:sldId id="623" r:id="rId89"/>
    <p:sldId id="627" r:id="rId90"/>
    <p:sldId id="648" r:id="rId91"/>
    <p:sldId id="1384" r:id="rId92"/>
    <p:sldId id="1385" r:id="rId93"/>
    <p:sldId id="1282" r:id="rId9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908" userDrawn="1">
          <p15:clr>
            <a:srgbClr val="A4A3A4"/>
          </p15:clr>
        </p15:guide>
        <p15:guide id="3" orient="horz" pos="21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" initials="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933C"/>
    <a:srgbClr val="FFFFFF"/>
    <a:srgbClr val="B60004"/>
    <a:srgbClr val="0070C0"/>
    <a:srgbClr val="7F7F7F"/>
    <a:srgbClr val="DE1E27"/>
    <a:srgbClr val="C00000"/>
    <a:srgbClr val="00B050"/>
    <a:srgbClr val="C0504E"/>
    <a:srgbClr val="E66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940" autoAdjust="0"/>
  </p:normalViewPr>
  <p:slideViewPr>
    <p:cSldViewPr snapToGrid="0" showGuides="1">
      <p:cViewPr varScale="1">
        <p:scale>
          <a:sx n="81" d="100"/>
          <a:sy n="81" d="100"/>
        </p:scale>
        <p:origin x="202" y="48"/>
      </p:cViewPr>
      <p:guideLst>
        <p:guide pos="3908"/>
        <p:guide orient="horz" pos="2112"/>
      </p:guideLst>
    </p:cSldViewPr>
  </p:slideViewPr>
  <p:outlineViewPr>
    <p:cViewPr>
      <p:scale>
        <a:sx n="33" d="100"/>
        <a:sy n="33" d="100"/>
      </p:scale>
      <p:origin x="0" y="-70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commentAuthors" Target="commentAuthors.xml"/><Relationship Id="rId98" Type="http://schemas.openxmlformats.org/officeDocument/2006/relationships/tableStyles" Target="tableStyles.xml"/><Relationship Id="rId97" Type="http://schemas.openxmlformats.org/officeDocument/2006/relationships/viewProps" Target="viewProps.xml"/><Relationship Id="rId96" Type="http://schemas.openxmlformats.org/officeDocument/2006/relationships/presProps" Target="presProps.xml"/><Relationship Id="rId95" Type="http://schemas.openxmlformats.org/officeDocument/2006/relationships/handoutMaster" Target="handoutMasters/handoutMaster1.xml"/><Relationship Id="rId94" Type="http://schemas.openxmlformats.org/officeDocument/2006/relationships/slide" Target="slides/slide85.xml"/><Relationship Id="rId93" Type="http://schemas.openxmlformats.org/officeDocument/2006/relationships/slide" Target="slides/slide84.xml"/><Relationship Id="rId92" Type="http://schemas.openxmlformats.org/officeDocument/2006/relationships/slide" Target="slides/slide83.xml"/><Relationship Id="rId91" Type="http://schemas.openxmlformats.org/officeDocument/2006/relationships/slide" Target="slides/slide82.xml"/><Relationship Id="rId90" Type="http://schemas.openxmlformats.org/officeDocument/2006/relationships/slide" Target="slides/slide81.xml"/><Relationship Id="rId9" Type="http://schemas.openxmlformats.org/officeDocument/2006/relationships/slide" Target="slides/slide1.xml"/><Relationship Id="rId89" Type="http://schemas.openxmlformats.org/officeDocument/2006/relationships/slide" Target="slides/slide80.xml"/><Relationship Id="rId88" Type="http://schemas.openxmlformats.org/officeDocument/2006/relationships/slide" Target="slides/slide79.xml"/><Relationship Id="rId87" Type="http://schemas.openxmlformats.org/officeDocument/2006/relationships/slide" Target="slides/slide78.xml"/><Relationship Id="rId86" Type="http://schemas.openxmlformats.org/officeDocument/2006/relationships/slide" Target="slides/slide77.xml"/><Relationship Id="rId85" Type="http://schemas.openxmlformats.org/officeDocument/2006/relationships/slide" Target="slides/slide76.xml"/><Relationship Id="rId84" Type="http://schemas.openxmlformats.org/officeDocument/2006/relationships/slide" Target="slides/slide75.xml"/><Relationship Id="rId83" Type="http://schemas.openxmlformats.org/officeDocument/2006/relationships/slide" Target="slides/slide74.xml"/><Relationship Id="rId82" Type="http://schemas.openxmlformats.org/officeDocument/2006/relationships/slide" Target="slides/slide73.xml"/><Relationship Id="rId81" Type="http://schemas.openxmlformats.org/officeDocument/2006/relationships/slide" Target="slides/slide72.xml"/><Relationship Id="rId80" Type="http://schemas.openxmlformats.org/officeDocument/2006/relationships/slide" Target="slides/slide71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70.xml"/><Relationship Id="rId78" Type="http://schemas.openxmlformats.org/officeDocument/2006/relationships/slide" Target="slides/slide69.xml"/><Relationship Id="rId77" Type="http://schemas.openxmlformats.org/officeDocument/2006/relationships/slide" Target="slides/slide68.xml"/><Relationship Id="rId76" Type="http://schemas.openxmlformats.org/officeDocument/2006/relationships/slide" Target="slides/slide67.xml"/><Relationship Id="rId75" Type="http://schemas.openxmlformats.org/officeDocument/2006/relationships/slide" Target="slides/slide66.xml"/><Relationship Id="rId74" Type="http://schemas.openxmlformats.org/officeDocument/2006/relationships/slide" Target="slides/slide65.xml"/><Relationship Id="rId73" Type="http://schemas.openxmlformats.org/officeDocument/2006/relationships/slide" Target="slides/slide64.xml"/><Relationship Id="rId72" Type="http://schemas.openxmlformats.org/officeDocument/2006/relationships/slide" Target="slides/slide63.xml"/><Relationship Id="rId71" Type="http://schemas.openxmlformats.org/officeDocument/2006/relationships/slide" Target="slides/slide62.xml"/><Relationship Id="rId70" Type="http://schemas.openxmlformats.org/officeDocument/2006/relationships/slide" Target="slides/slide61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60.xml"/><Relationship Id="rId68" Type="http://schemas.openxmlformats.org/officeDocument/2006/relationships/slide" Target="slides/slide59.xml"/><Relationship Id="rId67" Type="http://schemas.openxmlformats.org/officeDocument/2006/relationships/slide" Target="slides/slide58.xml"/><Relationship Id="rId66" Type="http://schemas.openxmlformats.org/officeDocument/2006/relationships/slide" Target="slides/slide57.xml"/><Relationship Id="rId65" Type="http://schemas.openxmlformats.org/officeDocument/2006/relationships/slide" Target="slides/slide56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60" Type="http://schemas.openxmlformats.org/officeDocument/2006/relationships/slide" Target="slides/slide51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0.xml"/><Relationship Id="rId58" Type="http://schemas.openxmlformats.org/officeDocument/2006/relationships/slide" Target="slides/slide49.xml"/><Relationship Id="rId57" Type="http://schemas.openxmlformats.org/officeDocument/2006/relationships/slide" Target="slides/slide48.xml"/><Relationship Id="rId56" Type="http://schemas.openxmlformats.org/officeDocument/2006/relationships/slide" Target="slides/slide47.xml"/><Relationship Id="rId55" Type="http://schemas.openxmlformats.org/officeDocument/2006/relationships/slide" Target="slides/slide46.xml"/><Relationship Id="rId54" Type="http://schemas.openxmlformats.org/officeDocument/2006/relationships/slide" Target="slides/slide45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0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0" Type="http://schemas.openxmlformats.org/officeDocument/2006/relationships/slide" Target="slides/slide3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24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7"/>
            <a:ext cx="8771021" cy="517191"/>
          </a:xfrm>
          <a:prstGeom prst="rect">
            <a:avLst/>
          </a:prstGeom>
        </p:spPr>
        <p:txBody>
          <a:bodyPr lIns="91420" tIns="45718" rIns="91420" bIns="45718"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9"/>
            <a:ext cx="10698800" cy="517191"/>
          </a:xfrm>
          <a:prstGeom prst="rect">
            <a:avLst/>
          </a:prstGeom>
        </p:spPr>
        <p:txBody>
          <a:bodyPr lIns="91420" tIns="45718" rIns="91420" bIns="45718" anchor="ctr" anchorCtr="0"/>
          <a:lstStyle>
            <a:lvl1pPr marL="0" indent="0">
              <a:buNone/>
              <a:defRPr lang="zh-CN" altLang="en-US" sz="1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 lIns="91420" tIns="45718" rIns="91420" bIns="45718"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8" Type="http://schemas.openxmlformats.org/officeDocument/2006/relationships/theme" Target="../theme/theme6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018" y="5296483"/>
            <a:ext cx="3565964" cy="58207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89" y="2322246"/>
            <a:ext cx="3168023" cy="13084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slide" Target="slide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svg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slide" Target="slide18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slide" Target="slide18.xml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9.svg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svg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.xml"/><Relationship Id="rId2" Type="http://schemas.openxmlformats.org/officeDocument/2006/relationships/image" Target="../media/image22.png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svg"/><Relationship Id="rId1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svg"/><Relationship Id="rId1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svg"/><Relationship Id="rId1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svg"/><Relationship Id="rId1" Type="http://schemas.openxmlformats.org/officeDocument/2006/relationships/image" Target="../media/image17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33.png"/><Relationship Id="rId2" Type="http://schemas.openxmlformats.org/officeDocument/2006/relationships/image" Target="../media/image9.svg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image" Target="../media/image17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svg"/><Relationship Id="rId1" Type="http://schemas.openxmlformats.org/officeDocument/2006/relationships/image" Target="../media/image17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4.png"/><Relationship Id="rId2" Type="http://schemas.openxmlformats.org/officeDocument/2006/relationships/image" Target="../media/image9.svg"/><Relationship Id="rId1" Type="http://schemas.openxmlformats.org/officeDocument/2006/relationships/image" Target="../media/image17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5.png"/><Relationship Id="rId2" Type="http://schemas.openxmlformats.org/officeDocument/2006/relationships/image" Target="../media/image9.svg"/><Relationship Id="rId1" Type="http://schemas.openxmlformats.org/officeDocument/2006/relationships/image" Target="../media/image17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6.png"/><Relationship Id="rId2" Type="http://schemas.openxmlformats.org/officeDocument/2006/relationships/image" Target="../media/image9.svg"/><Relationship Id="rId1" Type="http://schemas.openxmlformats.org/officeDocument/2006/relationships/image" Target="../media/image1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svg"/><Relationship Id="rId1" Type="http://schemas.openxmlformats.org/officeDocument/2006/relationships/image" Target="../media/image17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svg"/><Relationship Id="rId1" Type="http://schemas.openxmlformats.org/officeDocument/2006/relationships/image" Target="../media/image17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500" y="2357847"/>
            <a:ext cx="10541000" cy="1158875"/>
          </a:xfrm>
        </p:spPr>
        <p:txBody>
          <a:bodyPr/>
          <a:lstStyle/>
          <a:p>
            <a:r>
              <a:rPr kumimoji="1" lang="en-US" altLang="zh-CN" sz="7200" dirty="0"/>
              <a:t>Redis</a:t>
            </a:r>
            <a:r>
              <a:rPr kumimoji="1" lang="zh-CN" altLang="en-US" sz="7200" dirty="0"/>
              <a:t>篇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 bwMode="auto">
          <a:xfrm>
            <a:off x="1263193" y="2557615"/>
            <a:ext cx="1791092" cy="40716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5" name="矩形: 圆角 4"/>
          <p:cNvSpPr/>
          <p:nvPr/>
        </p:nvSpPr>
        <p:spPr bwMode="auto">
          <a:xfrm>
            <a:off x="1263193" y="5243773"/>
            <a:ext cx="1791092" cy="4071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7" name="矩形: 圆角 6"/>
          <p:cNvSpPr/>
          <p:nvPr/>
        </p:nvSpPr>
        <p:spPr bwMode="auto">
          <a:xfrm>
            <a:off x="3550550" y="1164511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缓存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8" name="矩形: 圆角 7"/>
          <p:cNvSpPr/>
          <p:nvPr/>
        </p:nvSpPr>
        <p:spPr bwMode="auto">
          <a:xfrm>
            <a:off x="3550550" y="1723104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分布式锁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9" name="矩形: 圆角 8"/>
          <p:cNvSpPr/>
          <p:nvPr/>
        </p:nvSpPr>
        <p:spPr bwMode="auto">
          <a:xfrm>
            <a:off x="3550550" y="2281697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计数器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10" name="矩形: 圆角 9"/>
          <p:cNvSpPr/>
          <p:nvPr/>
        </p:nvSpPr>
        <p:spPr bwMode="auto">
          <a:xfrm>
            <a:off x="3550550" y="2840290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保存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token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11" name="矩形: 圆角 10"/>
          <p:cNvSpPr/>
          <p:nvPr/>
        </p:nvSpPr>
        <p:spPr bwMode="auto">
          <a:xfrm>
            <a:off x="3550550" y="3398883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消息队列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12" name="矩形: 圆角 11"/>
          <p:cNvSpPr/>
          <p:nvPr/>
        </p:nvSpPr>
        <p:spPr bwMode="auto">
          <a:xfrm>
            <a:off x="3550550" y="3957477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延迟队列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16" name="连接符: 曲线 15"/>
          <p:cNvCxnSpPr>
            <a:stCxn id="4" idx="3"/>
            <a:endCxn id="7" idx="1"/>
          </p:cNvCxnSpPr>
          <p:nvPr/>
        </p:nvCxnSpPr>
        <p:spPr>
          <a:xfrm flipV="1">
            <a:off x="3054285" y="1368093"/>
            <a:ext cx="496265" cy="139310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/>
          <p:cNvCxnSpPr>
            <a:stCxn id="4" idx="3"/>
            <a:endCxn id="8" idx="1"/>
          </p:cNvCxnSpPr>
          <p:nvPr/>
        </p:nvCxnSpPr>
        <p:spPr>
          <a:xfrm flipV="1">
            <a:off x="3054285" y="1926686"/>
            <a:ext cx="496265" cy="83451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/>
          <p:cNvCxnSpPr>
            <a:stCxn id="4" idx="3"/>
            <a:endCxn id="9" idx="1"/>
          </p:cNvCxnSpPr>
          <p:nvPr/>
        </p:nvCxnSpPr>
        <p:spPr>
          <a:xfrm flipV="1">
            <a:off x="3054285" y="2485279"/>
            <a:ext cx="496265" cy="27591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曲线 21"/>
          <p:cNvCxnSpPr>
            <a:stCxn id="4" idx="3"/>
            <a:endCxn id="10" idx="1"/>
          </p:cNvCxnSpPr>
          <p:nvPr/>
        </p:nvCxnSpPr>
        <p:spPr>
          <a:xfrm>
            <a:off x="3054285" y="2761197"/>
            <a:ext cx="496265" cy="28267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曲线 23"/>
          <p:cNvCxnSpPr>
            <a:stCxn id="4" idx="3"/>
            <a:endCxn id="11" idx="1"/>
          </p:cNvCxnSpPr>
          <p:nvPr/>
        </p:nvCxnSpPr>
        <p:spPr>
          <a:xfrm>
            <a:off x="3054285" y="2761197"/>
            <a:ext cx="496265" cy="8412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曲线 25"/>
          <p:cNvCxnSpPr>
            <a:stCxn id="4" idx="3"/>
            <a:endCxn id="12" idx="1"/>
          </p:cNvCxnSpPr>
          <p:nvPr/>
        </p:nvCxnSpPr>
        <p:spPr>
          <a:xfrm>
            <a:off x="3054285" y="2761197"/>
            <a:ext cx="496265" cy="13998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/>
          <p:cNvSpPr/>
          <p:nvPr/>
        </p:nvSpPr>
        <p:spPr bwMode="auto">
          <a:xfrm>
            <a:off x="5655190" y="1164511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穿透、击穿、雪崩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2" name="矩形: 圆角 31"/>
          <p:cNvSpPr/>
          <p:nvPr/>
        </p:nvSpPr>
        <p:spPr bwMode="auto">
          <a:xfrm>
            <a:off x="7759830" y="1164511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双写一致、持久化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3" name="矩形: 圆角 32"/>
          <p:cNvSpPr/>
          <p:nvPr/>
        </p:nvSpPr>
        <p:spPr bwMode="auto">
          <a:xfrm>
            <a:off x="9864470" y="1164511"/>
            <a:ext cx="1858758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数据过期、淘汰策略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4" name="矩形: 圆角 33"/>
          <p:cNvSpPr/>
          <p:nvPr/>
        </p:nvSpPr>
        <p:spPr bwMode="auto">
          <a:xfrm>
            <a:off x="5655190" y="1723104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setnx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、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redisson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5" name="右大括号 34"/>
          <p:cNvSpPr/>
          <p:nvPr/>
        </p:nvSpPr>
        <p:spPr>
          <a:xfrm>
            <a:off x="5564015" y="2964778"/>
            <a:ext cx="496265" cy="131499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/>
          <p:cNvSpPr/>
          <p:nvPr/>
        </p:nvSpPr>
        <p:spPr bwMode="auto">
          <a:xfrm>
            <a:off x="6154131" y="3420710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数据类型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7" name="矩形: 圆角 36"/>
          <p:cNvSpPr/>
          <p:nvPr/>
        </p:nvSpPr>
        <p:spPr bwMode="auto">
          <a:xfrm>
            <a:off x="3550550" y="4601624"/>
            <a:ext cx="1791092" cy="4071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集群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8" name="矩形: 圆角 37"/>
          <p:cNvSpPr/>
          <p:nvPr/>
        </p:nvSpPr>
        <p:spPr bwMode="auto">
          <a:xfrm>
            <a:off x="5564015" y="4601622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主从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9" name="矩形: 圆角 38"/>
          <p:cNvSpPr/>
          <p:nvPr/>
        </p:nvSpPr>
        <p:spPr bwMode="auto">
          <a:xfrm>
            <a:off x="7591301" y="4601622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哨兵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40" name="矩形: 圆角 39"/>
          <p:cNvSpPr/>
          <p:nvPr/>
        </p:nvSpPr>
        <p:spPr bwMode="auto">
          <a:xfrm>
            <a:off x="3545837" y="5245771"/>
            <a:ext cx="1791092" cy="4071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事务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43" name="矩形: 圆角 42"/>
          <p:cNvSpPr/>
          <p:nvPr/>
        </p:nvSpPr>
        <p:spPr bwMode="auto">
          <a:xfrm>
            <a:off x="3545837" y="5889918"/>
            <a:ext cx="1791092" cy="4071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为什么快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44" name="矩形: 圆角 43"/>
          <p:cNvSpPr/>
          <p:nvPr/>
        </p:nvSpPr>
        <p:spPr bwMode="auto">
          <a:xfrm>
            <a:off x="9618588" y="4601622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集群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46" name="连接符: 曲线 45"/>
          <p:cNvCxnSpPr>
            <a:stCxn id="5" idx="3"/>
            <a:endCxn id="37" idx="1"/>
          </p:cNvCxnSpPr>
          <p:nvPr/>
        </p:nvCxnSpPr>
        <p:spPr>
          <a:xfrm flipV="1">
            <a:off x="3054285" y="4805206"/>
            <a:ext cx="496265" cy="64214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曲线 47"/>
          <p:cNvCxnSpPr>
            <a:stCxn id="5" idx="3"/>
            <a:endCxn id="40" idx="1"/>
          </p:cNvCxnSpPr>
          <p:nvPr/>
        </p:nvCxnSpPr>
        <p:spPr>
          <a:xfrm>
            <a:off x="3054285" y="5447355"/>
            <a:ext cx="491552" cy="199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曲线 49"/>
          <p:cNvCxnSpPr>
            <a:stCxn id="5" idx="3"/>
            <a:endCxn id="43" idx="1"/>
          </p:cNvCxnSpPr>
          <p:nvPr/>
        </p:nvCxnSpPr>
        <p:spPr>
          <a:xfrm>
            <a:off x="3054285" y="5447355"/>
            <a:ext cx="491552" cy="64614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1477613" y="2604384"/>
            <a:ext cx="12291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使用场景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196619" y="5293465"/>
            <a:ext cx="17910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其他面试题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7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3" grpId="0" animBg="1"/>
      <p:bldP spid="44" grpId="0" animBg="1"/>
      <p:bldP spid="52" grpId="0"/>
      <p:bldP spid="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 bwMode="auto">
          <a:xfrm>
            <a:off x="727088" y="1256757"/>
            <a:ext cx="4668661" cy="503092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46865" y="1354471"/>
            <a:ext cx="12291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使用场景</a:t>
            </a:r>
            <a:endParaRPr lang="zh-CN" altLang="en-US" sz="1600" b="1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6" name="矩形: 圆角 5"/>
          <p:cNvSpPr/>
          <p:nvPr/>
        </p:nvSpPr>
        <p:spPr bwMode="auto">
          <a:xfrm>
            <a:off x="6589335" y="1256757"/>
            <a:ext cx="4649333" cy="50309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79116" y="1351482"/>
            <a:ext cx="17910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其他面试题</a:t>
            </a:r>
            <a:endParaRPr lang="zh-CN" altLang="en-US" sz="1600" b="1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4458" y="1905409"/>
            <a:ext cx="4165424" cy="328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的数据持久化策略有哪些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什么是缓存穿透，怎么解决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什么是布隆过滤器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什么是缓存击穿，怎么解决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什么是缓存雪崩，怎么解决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双写问题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分布式锁如何实现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实现分布式锁如何合理的控制锁的有效时长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的数据过期策略有哪些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的数据淘汰策略有哪些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90992" y="1905409"/>
            <a:ext cx="4167342" cy="2643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集群有哪些方案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知道嘛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主从同步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你们使用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是单点还是集群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?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哪种集群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分片集群中数据是怎么存储和读取的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集群脑裂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怎么保证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的高并发高可用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你们用过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的事务吗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?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事务的命令有哪些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是单线程的，但是为什么还那么快？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3233394" y="2375556"/>
            <a:ext cx="6532775" cy="1423447"/>
          </a:xfrm>
        </p:spPr>
        <p:txBody>
          <a:bodyPr/>
          <a:lstStyle/>
          <a:p>
            <a:r>
              <a:rPr lang="en-US" altLang="zh-CN" sz="6000" b="1" dirty="0">
                <a:solidFill>
                  <a:schemeClr val="accent4">
                    <a:lumMod val="75000"/>
                  </a:schemeClr>
                </a:solidFill>
              </a:rPr>
              <a:t>Redis-</a:t>
            </a:r>
            <a:r>
              <a:rPr lang="zh-CN" altLang="en-US" sz="6000" b="1" dirty="0">
                <a:solidFill>
                  <a:schemeClr val="accent4">
                    <a:lumMod val="75000"/>
                  </a:schemeClr>
                </a:solidFill>
              </a:rPr>
              <a:t>使用场景</a:t>
            </a:r>
            <a:endParaRPr lang="zh-CN" altLang="en-US" sz="600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/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/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/>
            <p:cNvSpPr txBox="1"/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/>
          <p:cNvSpPr txBox="1"/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6" name="文本占位符 6"/>
          <p:cNvSpPr txBox="1"/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/>
          <p:cNvSpPr txBox="1"/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8" name="箭头: 下 17"/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  <a:endParaRPr lang="zh-CN" altLang="en-US" sz="14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0" name="图形 19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686" y="5348639"/>
            <a:ext cx="867323" cy="116706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1415952" y="5149395"/>
            <a:ext cx="7907155" cy="717988"/>
            <a:chOff x="1415952" y="1021955"/>
            <a:chExt cx="7907155" cy="717988"/>
          </a:xfrm>
        </p:grpSpPr>
        <p:sp>
          <p:nvSpPr>
            <p:cNvPr id="23" name="任意多边形: 形状 22"/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-1" fmla="*/ 803381 w 5319528"/>
                <a:gd name="connsiteY0-2" fmla="*/ 0 h 787065"/>
                <a:gd name="connsiteX1-3" fmla="*/ 5216541 w 5319528"/>
                <a:gd name="connsiteY1-4" fmla="*/ 0 h 787065"/>
                <a:gd name="connsiteX2-5" fmla="*/ 5319528 w 5319528"/>
                <a:gd name="connsiteY2-6" fmla="*/ 102987 h 787065"/>
                <a:gd name="connsiteX3-7" fmla="*/ 5319528 w 5319528"/>
                <a:gd name="connsiteY3-8" fmla="*/ 514924 h 787065"/>
                <a:gd name="connsiteX4-9" fmla="*/ 5216541 w 5319528"/>
                <a:gd name="connsiteY4-10" fmla="*/ 617911 h 787065"/>
                <a:gd name="connsiteX5-11" fmla="*/ 875800 w 5319528"/>
                <a:gd name="connsiteY5-12" fmla="*/ 617911 h 787065"/>
                <a:gd name="connsiteX6-13" fmla="*/ 0 w 5319528"/>
                <a:gd name="connsiteY6-14" fmla="*/ 787065 h 787065"/>
                <a:gd name="connsiteX7-15" fmla="*/ 700394 w 5319528"/>
                <a:gd name="connsiteY7-16" fmla="*/ 498849 h 787065"/>
                <a:gd name="connsiteX8-17" fmla="*/ 700394 w 5319528"/>
                <a:gd name="connsiteY8-18" fmla="*/ 102987 h 787065"/>
                <a:gd name="connsiteX9-19" fmla="*/ 803381 w 5319528"/>
                <a:gd name="connsiteY9-20" fmla="*/ 0 h 78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如果发生了缓存穿透、击穿、雪崩，该如何解决？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17" grpId="0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缓存穿透</a:t>
            </a:r>
            <a:endParaRPr lang="zh-CN" altLang="en-US" dirty="0"/>
          </a:p>
        </p:txBody>
      </p:sp>
      <p:sp>
        <p:nvSpPr>
          <p:cNvPr id="74" name="文本占位符 2"/>
          <p:cNvSpPr txBox="1"/>
          <p:nvPr/>
        </p:nvSpPr>
        <p:spPr>
          <a:xfrm>
            <a:off x="750279" y="4373098"/>
            <a:ext cx="10411057" cy="5657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缓存穿透</a:t>
            </a:r>
            <a:r>
              <a:rPr lang="zh-CN" altLang="en-US" sz="1400" dirty="0"/>
              <a:t>：查询一个</a:t>
            </a:r>
            <a:r>
              <a:rPr lang="zh-CN" altLang="en-US" sz="1400" b="1" dirty="0"/>
              <a:t>不存在</a:t>
            </a:r>
            <a:r>
              <a:rPr lang="zh-CN" altLang="en-US" sz="1400" dirty="0"/>
              <a:t>的数据，</a:t>
            </a:r>
            <a:r>
              <a:rPr lang="en-US" altLang="zh-CN" sz="1400" dirty="0" err="1"/>
              <a:t>mysql</a:t>
            </a:r>
            <a:r>
              <a:rPr lang="zh-CN" altLang="en-US" sz="1400" dirty="0"/>
              <a:t>查询不到数据也不会直接写入缓存，就会导致每次请求都查数据库</a:t>
            </a:r>
            <a:endParaRPr lang="zh-CN" altLang="en-US" sz="1400" dirty="0"/>
          </a:p>
        </p:txBody>
      </p:sp>
      <p:sp>
        <p:nvSpPr>
          <p:cNvPr id="76" name="文本占位符 75"/>
          <p:cNvSpPr>
            <a:spLocks noGrp="1"/>
          </p:cNvSpPr>
          <p:nvPr>
            <p:ph type="body" sz="quarter" idx="11"/>
          </p:nvPr>
        </p:nvSpPr>
        <p:spPr>
          <a:xfrm>
            <a:off x="824002" y="1624205"/>
            <a:ext cx="4577557" cy="836191"/>
          </a:xfr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sz="1400" dirty="0"/>
              <a:t>例：</a:t>
            </a:r>
            <a:endParaRPr lang="en-US" altLang="zh-CN" sz="1400" dirty="0"/>
          </a:p>
          <a:p>
            <a:r>
              <a:rPr lang="zh-CN" altLang="en-US" sz="1400" dirty="0"/>
              <a:t>一个</a:t>
            </a:r>
            <a:r>
              <a:rPr lang="en-US" altLang="zh-CN" sz="1400" dirty="0"/>
              <a:t>get</a:t>
            </a:r>
            <a:r>
              <a:rPr lang="zh-CN" altLang="en-US" sz="1400" dirty="0"/>
              <a:t>请求：</a:t>
            </a:r>
            <a:r>
              <a:rPr lang="en-US" altLang="zh-CN" sz="1400" dirty="0" err="1"/>
              <a:t>api</a:t>
            </a:r>
            <a:r>
              <a:rPr lang="en-US" altLang="zh-CN" sz="1400" dirty="0"/>
              <a:t>/news/</a:t>
            </a:r>
            <a:r>
              <a:rPr lang="en-US" altLang="zh-CN" sz="1400" dirty="0" err="1"/>
              <a:t>getById</a:t>
            </a:r>
            <a:r>
              <a:rPr lang="en-US" altLang="zh-CN" sz="1400" dirty="0"/>
              <a:t>/</a:t>
            </a:r>
            <a:r>
              <a:rPr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77" name="矩形: 圆角 76"/>
          <p:cNvSpPr/>
          <p:nvPr/>
        </p:nvSpPr>
        <p:spPr bwMode="auto">
          <a:xfrm>
            <a:off x="1583703" y="2720793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查询文章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9" name="直接箭头连接符 78"/>
          <p:cNvCxnSpPr/>
          <p:nvPr/>
        </p:nvCxnSpPr>
        <p:spPr>
          <a:xfrm>
            <a:off x="3487918" y="2934671"/>
            <a:ext cx="172510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图片 7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5869" y="2684280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85" name="直接箭头连接符 84"/>
          <p:cNvCxnSpPr/>
          <p:nvPr/>
        </p:nvCxnSpPr>
        <p:spPr>
          <a:xfrm flipH="1">
            <a:off x="3487918" y="3252245"/>
            <a:ext cx="1734531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流程图: 磁盘 89"/>
          <p:cNvSpPr/>
          <p:nvPr/>
        </p:nvSpPr>
        <p:spPr bwMode="auto">
          <a:xfrm>
            <a:off x="8653806" y="2720793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>
            <a:off x="6589336" y="3073136"/>
            <a:ext cx="193249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/>
          <p:cNvCxnSpPr>
            <a:stCxn id="90" idx="3"/>
            <a:endCxn id="77" idx="2"/>
          </p:cNvCxnSpPr>
          <p:nvPr/>
        </p:nvCxnSpPr>
        <p:spPr>
          <a:xfrm rot="5400000">
            <a:off x="5819277" y="-6491"/>
            <a:ext cx="135526" cy="6815579"/>
          </a:xfrm>
          <a:prstGeom prst="bentConnector3">
            <a:avLst>
              <a:gd name="adj1" fmla="val 609507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占位符 2"/>
          <p:cNvSpPr txBox="1"/>
          <p:nvPr/>
        </p:nvSpPr>
        <p:spPr>
          <a:xfrm>
            <a:off x="4469033" y="3779204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99" name="文本占位符 2"/>
          <p:cNvSpPr txBox="1"/>
          <p:nvPr/>
        </p:nvSpPr>
        <p:spPr>
          <a:xfrm>
            <a:off x="3969413" y="2532510"/>
            <a:ext cx="96080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</a:t>
            </a:r>
            <a:r>
              <a:rPr lang="en-US" altLang="zh-CN" sz="1200" dirty="0" err="1"/>
              <a:t>redis</a:t>
            </a:r>
            <a:endParaRPr lang="zh-CN" altLang="en-US" sz="1200" dirty="0"/>
          </a:p>
        </p:txBody>
      </p:sp>
      <p:sp>
        <p:nvSpPr>
          <p:cNvPr id="100" name="文本占位符 2"/>
          <p:cNvSpPr txBox="1"/>
          <p:nvPr/>
        </p:nvSpPr>
        <p:spPr>
          <a:xfrm>
            <a:off x="3733742" y="2909582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  <a:endParaRPr lang="zh-CN" altLang="en-US" sz="1200" dirty="0"/>
          </a:p>
        </p:txBody>
      </p:sp>
      <p:sp>
        <p:nvSpPr>
          <p:cNvPr id="101" name="文本占位符 2"/>
          <p:cNvSpPr txBox="1"/>
          <p:nvPr/>
        </p:nvSpPr>
        <p:spPr>
          <a:xfrm>
            <a:off x="6819446" y="2685695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3" name="文本占位符 2"/>
          <p:cNvSpPr txBox="1"/>
          <p:nvPr/>
        </p:nvSpPr>
        <p:spPr>
          <a:xfrm>
            <a:off x="756027" y="4882143"/>
            <a:ext cx="9490909" cy="48171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解决方案一</a:t>
            </a:r>
            <a:r>
              <a:rPr lang="zh-CN" altLang="en-US" sz="1400" dirty="0"/>
              <a:t>：缓存空数据，查询返回的数据为空，仍把这个空结果进行缓存</a:t>
            </a:r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4" name="文本占位符 75"/>
          <p:cNvSpPr txBox="1"/>
          <p:nvPr/>
        </p:nvSpPr>
        <p:spPr>
          <a:xfrm>
            <a:off x="7187094" y="4829318"/>
            <a:ext cx="1787223" cy="459119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{key:1,value:</a:t>
            </a:r>
            <a:r>
              <a:rPr lang="en-US" altLang="zh-CN" sz="1400" dirty="0">
                <a:solidFill>
                  <a:srgbClr val="C00000"/>
                </a:solidFill>
              </a:rPr>
              <a:t>null</a:t>
            </a:r>
            <a:r>
              <a:rPr lang="en-US" altLang="zh-CN" sz="1400" dirty="0"/>
              <a:t>}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5" name="文本占位符 2"/>
          <p:cNvSpPr txBox="1"/>
          <p:nvPr/>
        </p:nvSpPr>
        <p:spPr>
          <a:xfrm>
            <a:off x="765454" y="5325201"/>
            <a:ext cx="5330546" cy="905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优点：</a:t>
            </a:r>
            <a:r>
              <a:rPr lang="zh-CN" altLang="en-US" sz="1400" dirty="0"/>
              <a:t>简单</a:t>
            </a:r>
            <a:endParaRPr lang="en-US" altLang="zh-CN" sz="1400" dirty="0"/>
          </a:p>
          <a:p>
            <a:r>
              <a:rPr lang="zh-CN" altLang="en-US" sz="1400" b="1" dirty="0"/>
              <a:t>缺点：</a:t>
            </a:r>
            <a:r>
              <a:rPr lang="zh-CN" altLang="en-US" sz="1400" dirty="0"/>
              <a:t>消耗内存，可能会发生不一致的问题</a:t>
            </a:r>
            <a:endParaRPr lang="en-US" altLang="zh-CN" sz="1400" dirty="0"/>
          </a:p>
          <a:p>
            <a:endParaRPr lang="zh-CN" altLang="en-US" sz="14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6" grpId="0" animBg="1"/>
      <p:bldP spid="77" grpId="0" animBg="1"/>
      <p:bldP spid="90" grpId="0" animBg="1"/>
      <p:bldP spid="98" grpId="0"/>
      <p:bldP spid="99" grpId="0"/>
      <p:bldP spid="100" grpId="0"/>
      <p:bldP spid="101" grpId="0"/>
      <p:bldP spid="3" grpId="0"/>
      <p:bldP spid="4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缓存穿透</a:t>
            </a:r>
            <a:endParaRPr lang="zh-CN" altLang="en-US" dirty="0"/>
          </a:p>
        </p:txBody>
      </p:sp>
      <p:sp>
        <p:nvSpPr>
          <p:cNvPr id="76" name="文本占位符 75"/>
          <p:cNvSpPr>
            <a:spLocks noGrp="1"/>
          </p:cNvSpPr>
          <p:nvPr>
            <p:ph type="body" sz="quarter" idx="11"/>
          </p:nvPr>
        </p:nvSpPr>
        <p:spPr>
          <a:xfrm>
            <a:off x="824002" y="1624205"/>
            <a:ext cx="4577557" cy="836191"/>
          </a:xfr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sz="1400" dirty="0"/>
              <a:t>例：</a:t>
            </a:r>
            <a:endParaRPr lang="en-US" altLang="zh-CN" sz="1400" dirty="0"/>
          </a:p>
          <a:p>
            <a:r>
              <a:rPr lang="zh-CN" altLang="en-US" sz="1400" dirty="0"/>
              <a:t>一个</a:t>
            </a:r>
            <a:r>
              <a:rPr lang="en-US" altLang="zh-CN" sz="1400" dirty="0"/>
              <a:t>get</a:t>
            </a:r>
            <a:r>
              <a:rPr lang="zh-CN" altLang="en-US" sz="1400" dirty="0"/>
              <a:t>请求：</a:t>
            </a:r>
            <a:r>
              <a:rPr lang="en-US" altLang="zh-CN" sz="1400" dirty="0" err="1"/>
              <a:t>api</a:t>
            </a:r>
            <a:r>
              <a:rPr lang="en-US" altLang="zh-CN" sz="1400" dirty="0"/>
              <a:t>/news/</a:t>
            </a:r>
            <a:r>
              <a:rPr lang="en-US" altLang="zh-CN" sz="1400" dirty="0" err="1"/>
              <a:t>getById</a:t>
            </a:r>
            <a:r>
              <a:rPr lang="en-US" altLang="zh-CN" sz="1400" dirty="0"/>
              <a:t>/</a:t>
            </a:r>
            <a:r>
              <a:rPr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77" name="矩形: 圆角 76"/>
          <p:cNvSpPr/>
          <p:nvPr/>
        </p:nvSpPr>
        <p:spPr bwMode="auto">
          <a:xfrm>
            <a:off x="782425" y="3154427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查询文章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9" name="直接箭头连接符 78"/>
          <p:cNvCxnSpPr/>
          <p:nvPr/>
        </p:nvCxnSpPr>
        <p:spPr>
          <a:xfrm>
            <a:off x="5279010" y="3465513"/>
            <a:ext cx="177223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图片 7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2376" y="3000277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0" name="流程图: 磁盘 89"/>
          <p:cNvSpPr/>
          <p:nvPr/>
        </p:nvSpPr>
        <p:spPr bwMode="auto">
          <a:xfrm>
            <a:off x="10086680" y="3159142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>
            <a:off x="8380429" y="3450209"/>
            <a:ext cx="159312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/>
          <p:cNvCxnSpPr>
            <a:stCxn id="90" idx="3"/>
            <a:endCxn id="77" idx="2"/>
          </p:cNvCxnSpPr>
          <p:nvPr/>
        </p:nvCxnSpPr>
        <p:spPr>
          <a:xfrm rot="5400000">
            <a:off x="6137433" y="-687576"/>
            <a:ext cx="130811" cy="9049731"/>
          </a:xfrm>
          <a:prstGeom prst="bentConnector3">
            <a:avLst>
              <a:gd name="adj1" fmla="val 822445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占位符 2"/>
          <p:cNvSpPr txBox="1"/>
          <p:nvPr/>
        </p:nvSpPr>
        <p:spPr>
          <a:xfrm>
            <a:off x="6096000" y="4457934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99" name="文本占位符 2"/>
          <p:cNvSpPr txBox="1"/>
          <p:nvPr/>
        </p:nvSpPr>
        <p:spPr>
          <a:xfrm>
            <a:off x="5223179" y="3075717"/>
            <a:ext cx="2082594" cy="35328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布隆过滤中存在，查</a:t>
            </a:r>
            <a:r>
              <a:rPr lang="en-US" altLang="zh-CN" sz="1200" dirty="0" err="1"/>
              <a:t>redis</a:t>
            </a:r>
            <a:endParaRPr lang="zh-CN" altLang="en-US" sz="1200" dirty="0"/>
          </a:p>
          <a:p>
            <a:endParaRPr lang="zh-CN" altLang="en-US" sz="1200" dirty="0"/>
          </a:p>
        </p:txBody>
      </p:sp>
      <p:sp>
        <p:nvSpPr>
          <p:cNvPr id="100" name="文本占位符 2"/>
          <p:cNvSpPr txBox="1"/>
          <p:nvPr/>
        </p:nvSpPr>
        <p:spPr>
          <a:xfrm>
            <a:off x="4403045" y="4125639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  <a:endParaRPr lang="zh-CN" altLang="en-US" sz="1200" dirty="0"/>
          </a:p>
        </p:txBody>
      </p:sp>
      <p:sp>
        <p:nvSpPr>
          <p:cNvPr id="101" name="文本占位符 2"/>
          <p:cNvSpPr txBox="1"/>
          <p:nvPr/>
        </p:nvSpPr>
        <p:spPr>
          <a:xfrm>
            <a:off x="8440856" y="3062768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3" name="文本占位符 2"/>
          <p:cNvSpPr txBox="1"/>
          <p:nvPr/>
        </p:nvSpPr>
        <p:spPr>
          <a:xfrm>
            <a:off x="765454" y="5117812"/>
            <a:ext cx="9490909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解决方案二</a:t>
            </a:r>
            <a:r>
              <a:rPr lang="zh-CN" altLang="en-US" sz="1400" dirty="0"/>
              <a:t>：布隆过滤器</a:t>
            </a:r>
            <a:endParaRPr lang="zh-CN" altLang="en-US" sz="1400" dirty="0"/>
          </a:p>
        </p:txBody>
      </p:sp>
      <p:sp>
        <p:nvSpPr>
          <p:cNvPr id="5" name="文本占位符 2"/>
          <p:cNvSpPr txBox="1"/>
          <p:nvPr/>
        </p:nvSpPr>
        <p:spPr>
          <a:xfrm>
            <a:off x="765454" y="5608006"/>
            <a:ext cx="5330546" cy="905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优点：</a:t>
            </a:r>
            <a:r>
              <a:rPr lang="zh-CN" altLang="en-US" sz="1400" dirty="0"/>
              <a:t>内存占用较少，没有多余</a:t>
            </a:r>
            <a:r>
              <a:rPr lang="en-US" altLang="zh-CN" sz="1400" dirty="0"/>
              <a:t>key</a:t>
            </a:r>
            <a:endParaRPr lang="en-US" altLang="zh-CN" sz="1400" dirty="0"/>
          </a:p>
          <a:p>
            <a:r>
              <a:rPr lang="zh-CN" altLang="en-US" sz="1400" b="1" dirty="0"/>
              <a:t>缺点：</a:t>
            </a:r>
            <a:r>
              <a:rPr lang="zh-CN" altLang="en-US" sz="1400" dirty="0"/>
              <a:t>实现复杂，存在误判</a:t>
            </a:r>
            <a:endParaRPr lang="zh-CN" altLang="en-US" sz="1400" dirty="0"/>
          </a:p>
        </p:txBody>
      </p:sp>
      <p:sp>
        <p:nvSpPr>
          <p:cNvPr id="6" name="矩形 5"/>
          <p:cNvSpPr/>
          <p:nvPr/>
        </p:nvSpPr>
        <p:spPr bwMode="auto">
          <a:xfrm>
            <a:off x="3987539" y="2740842"/>
            <a:ext cx="1197204" cy="13763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布隆过滤器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2620652" y="3346515"/>
            <a:ext cx="1263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2601798" y="3751868"/>
            <a:ext cx="12726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2"/>
          <p:cNvSpPr txBox="1"/>
          <p:nvPr/>
        </p:nvSpPr>
        <p:spPr>
          <a:xfrm>
            <a:off x="2605666" y="2974378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查询布隆过滤器</a:t>
            </a:r>
            <a:endParaRPr lang="zh-CN" altLang="en-US" sz="1200" dirty="0"/>
          </a:p>
        </p:txBody>
      </p:sp>
      <p:sp>
        <p:nvSpPr>
          <p:cNvPr id="18" name="文本占位符 2"/>
          <p:cNvSpPr txBox="1"/>
          <p:nvPr/>
        </p:nvSpPr>
        <p:spPr>
          <a:xfrm>
            <a:off x="2558532" y="3429000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不存在，直接返回</a:t>
            </a:r>
            <a:endParaRPr lang="zh-CN" altLang="en-US" sz="1200" dirty="0"/>
          </a:p>
        </p:txBody>
      </p:sp>
      <p:cxnSp>
        <p:nvCxnSpPr>
          <p:cNvPr id="22" name="连接符: 肘形 21"/>
          <p:cNvCxnSpPr>
            <a:stCxn id="80" idx="2"/>
            <a:endCxn id="77" idx="2"/>
          </p:cNvCxnSpPr>
          <p:nvPr/>
        </p:nvCxnSpPr>
        <p:spPr>
          <a:xfrm rot="5400000">
            <a:off x="4665779" y="869916"/>
            <a:ext cx="44973" cy="6020585"/>
          </a:xfrm>
          <a:prstGeom prst="bentConnector3">
            <a:avLst>
              <a:gd name="adj1" fmla="val 14048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2"/>
          <p:cNvSpPr txBox="1"/>
          <p:nvPr/>
        </p:nvSpPr>
        <p:spPr>
          <a:xfrm>
            <a:off x="5270311" y="2695125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rgbClr val="C00000"/>
                </a:solidFill>
              </a:rPr>
              <a:t>缓存预热时，预热布隆过滤器</a:t>
            </a:r>
            <a:endParaRPr lang="zh-CN" altLang="en-US" sz="1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布隆过滤器</a:t>
            </a:r>
            <a:endParaRPr lang="zh-CN" altLang="en-US" dirty="0"/>
          </a:p>
        </p:txBody>
      </p:sp>
      <p:sp>
        <p:nvSpPr>
          <p:cNvPr id="5" name="文本占位符 2"/>
          <p:cNvSpPr txBox="1"/>
          <p:nvPr/>
        </p:nvSpPr>
        <p:spPr>
          <a:xfrm>
            <a:off x="765454" y="1639322"/>
            <a:ext cx="8633070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/>
              <a:t>bitmap</a:t>
            </a:r>
            <a:r>
              <a:rPr lang="zh-CN" altLang="en-US" sz="1400" b="1" dirty="0"/>
              <a:t>（位图）：</a:t>
            </a:r>
            <a:r>
              <a:rPr lang="zh-CN" altLang="en-US" sz="1400" dirty="0"/>
              <a:t>相当于是一个以</a:t>
            </a:r>
            <a:r>
              <a:rPr lang="zh-CN" altLang="en-US" sz="1400" dirty="0">
                <a:solidFill>
                  <a:srgbClr val="C00000"/>
                </a:solidFill>
              </a:rPr>
              <a:t>（</a:t>
            </a:r>
            <a:r>
              <a:rPr lang="en-US" altLang="zh-CN" sz="1400" dirty="0">
                <a:solidFill>
                  <a:srgbClr val="C00000"/>
                </a:solidFill>
              </a:rPr>
              <a:t>bit</a:t>
            </a:r>
            <a:r>
              <a:rPr lang="zh-CN" altLang="en-US" sz="1400" dirty="0">
                <a:solidFill>
                  <a:srgbClr val="C00000"/>
                </a:solidFill>
              </a:rPr>
              <a:t>）位</a:t>
            </a:r>
            <a:r>
              <a:rPr lang="zh-CN" altLang="en-US" sz="1400" dirty="0"/>
              <a:t>为单位的数组，数组中每个单元只能存储二进制数</a:t>
            </a:r>
            <a:r>
              <a:rPr lang="en-US" altLang="zh-CN" sz="1400" dirty="0">
                <a:solidFill>
                  <a:srgbClr val="C00000"/>
                </a:solidFill>
              </a:rPr>
              <a:t>0</a:t>
            </a:r>
            <a:r>
              <a:rPr lang="zh-CN" altLang="en-US" sz="1400" dirty="0">
                <a:solidFill>
                  <a:srgbClr val="C00000"/>
                </a:solidFill>
              </a:rPr>
              <a:t>或</a:t>
            </a:r>
            <a:r>
              <a:rPr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graphicFrame>
        <p:nvGraphicFramePr>
          <p:cNvPr id="9" name="表格 9"/>
          <p:cNvGraphicFramePr>
            <a:graphicFrameLocks noGrp="1"/>
          </p:cNvGraphicFramePr>
          <p:nvPr/>
        </p:nvGraphicFramePr>
        <p:xfrm>
          <a:off x="1749196" y="287753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文本占位符 2"/>
          <p:cNvSpPr txBox="1"/>
          <p:nvPr/>
        </p:nvSpPr>
        <p:spPr>
          <a:xfrm>
            <a:off x="1864307" y="3241881"/>
            <a:ext cx="8080971" cy="49113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0       1        2        3        4       5        6        7        8       9       10     11      12      13      14      15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2" name="文本占位符 2"/>
          <p:cNvSpPr txBox="1"/>
          <p:nvPr/>
        </p:nvSpPr>
        <p:spPr>
          <a:xfrm>
            <a:off x="784308" y="2101235"/>
            <a:ext cx="8633070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布隆过滤器作用：</a:t>
            </a:r>
            <a:r>
              <a:rPr lang="zh-CN" altLang="en-US" sz="1400" dirty="0"/>
              <a:t>布隆过滤器可以用于检索一个元素是否在一个集合中。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布隆过滤器</a:t>
            </a:r>
            <a:endParaRPr lang="zh-CN" altLang="en-US" dirty="0"/>
          </a:p>
        </p:txBody>
      </p:sp>
      <p:sp>
        <p:nvSpPr>
          <p:cNvPr id="5" name="文本占位符 2"/>
          <p:cNvSpPr txBox="1"/>
          <p:nvPr/>
        </p:nvSpPr>
        <p:spPr>
          <a:xfrm>
            <a:off x="765454" y="1639321"/>
            <a:ext cx="8633070" cy="905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/>
              <a:t>bitmap</a:t>
            </a:r>
            <a:r>
              <a:rPr lang="zh-CN" altLang="en-US" sz="1400" b="1" dirty="0"/>
              <a:t>（位图）：</a:t>
            </a:r>
            <a:r>
              <a:rPr lang="zh-CN" altLang="en-US" sz="1400" dirty="0"/>
              <a:t>相当于是一个以</a:t>
            </a:r>
            <a:r>
              <a:rPr lang="zh-CN" altLang="en-US" sz="1400" dirty="0">
                <a:solidFill>
                  <a:srgbClr val="C00000"/>
                </a:solidFill>
              </a:rPr>
              <a:t>（</a:t>
            </a:r>
            <a:r>
              <a:rPr lang="en-US" altLang="zh-CN" sz="1400" dirty="0">
                <a:solidFill>
                  <a:srgbClr val="C00000"/>
                </a:solidFill>
              </a:rPr>
              <a:t>bit</a:t>
            </a:r>
            <a:r>
              <a:rPr lang="zh-CN" altLang="en-US" sz="1400" dirty="0">
                <a:solidFill>
                  <a:srgbClr val="C00000"/>
                </a:solidFill>
              </a:rPr>
              <a:t>）位</a:t>
            </a:r>
            <a:r>
              <a:rPr lang="zh-CN" altLang="en-US" sz="1400" dirty="0"/>
              <a:t>为单位的数组，数组中每个单元只能存储二进制数</a:t>
            </a:r>
            <a:r>
              <a:rPr lang="en-US" altLang="zh-CN" sz="1400" dirty="0">
                <a:solidFill>
                  <a:srgbClr val="C00000"/>
                </a:solidFill>
              </a:rPr>
              <a:t>0</a:t>
            </a:r>
            <a:r>
              <a:rPr lang="zh-CN" altLang="en-US" sz="1400" dirty="0">
                <a:solidFill>
                  <a:srgbClr val="C00000"/>
                </a:solidFill>
              </a:rPr>
              <a:t>或</a:t>
            </a:r>
            <a:r>
              <a:rPr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graphicFrame>
        <p:nvGraphicFramePr>
          <p:cNvPr id="9" name="表格 9"/>
          <p:cNvGraphicFramePr>
            <a:graphicFrameLocks noGrp="1"/>
          </p:cNvGraphicFramePr>
          <p:nvPr/>
        </p:nvGraphicFramePr>
        <p:xfrm>
          <a:off x="1749196" y="4451810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文本占位符 2"/>
          <p:cNvSpPr txBox="1"/>
          <p:nvPr/>
        </p:nvSpPr>
        <p:spPr>
          <a:xfrm>
            <a:off x="1864307" y="4816158"/>
            <a:ext cx="8080971" cy="49113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0       1        2        3        4       5        6        7        8       9       10     11      12      13      14      15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3" name="椭圆 2"/>
          <p:cNvSpPr/>
          <p:nvPr/>
        </p:nvSpPr>
        <p:spPr bwMode="auto">
          <a:xfrm>
            <a:off x="3619893" y="2856322"/>
            <a:ext cx="867266" cy="424207"/>
          </a:xfrm>
          <a:prstGeom prst="ellipse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id1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连接符: 曲线 10"/>
          <p:cNvCxnSpPr>
            <a:stCxn id="3" idx="5"/>
          </p:cNvCxnSpPr>
          <p:nvPr/>
        </p:nvCxnSpPr>
        <p:spPr>
          <a:xfrm rot="16200000" flipH="1">
            <a:off x="4345459" y="3233096"/>
            <a:ext cx="1221621" cy="119223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16"/>
          <p:cNvCxnSpPr>
            <a:stCxn id="3" idx="4"/>
          </p:cNvCxnSpPr>
          <p:nvPr/>
        </p:nvCxnSpPr>
        <p:spPr>
          <a:xfrm rot="5400000">
            <a:off x="3200401" y="3615180"/>
            <a:ext cx="1187777" cy="5184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/>
          <p:cNvCxnSpPr>
            <a:stCxn id="3" idx="3"/>
          </p:cNvCxnSpPr>
          <p:nvPr/>
        </p:nvCxnSpPr>
        <p:spPr>
          <a:xfrm rot="5400000">
            <a:off x="2525831" y="3218959"/>
            <a:ext cx="1221624" cy="122051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占位符 2"/>
          <p:cNvSpPr txBox="1"/>
          <p:nvPr/>
        </p:nvSpPr>
        <p:spPr>
          <a:xfrm>
            <a:off x="784308" y="2101235"/>
            <a:ext cx="8633070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布隆过滤器作用：</a:t>
            </a:r>
            <a:r>
              <a:rPr lang="zh-CN" altLang="en-US" sz="1400" dirty="0"/>
              <a:t>布隆过滤器可以用于检索一个元素是否在一个集合中。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33" name="文本占位符 2"/>
          <p:cNvSpPr txBox="1"/>
          <p:nvPr/>
        </p:nvSpPr>
        <p:spPr>
          <a:xfrm>
            <a:off x="2424570" y="3741501"/>
            <a:ext cx="921945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hash1(1)=1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34" name="文本占位符 2"/>
          <p:cNvSpPr txBox="1"/>
          <p:nvPr/>
        </p:nvSpPr>
        <p:spPr>
          <a:xfrm>
            <a:off x="3480372" y="3635195"/>
            <a:ext cx="912519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hash2(1)=3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35" name="文本占位符 2"/>
          <p:cNvSpPr txBox="1"/>
          <p:nvPr/>
        </p:nvSpPr>
        <p:spPr>
          <a:xfrm>
            <a:off x="4705857" y="3701183"/>
            <a:ext cx="921945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hash3(1)=7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36" name="文本占位符 2"/>
          <p:cNvSpPr txBox="1"/>
          <p:nvPr/>
        </p:nvSpPr>
        <p:spPr>
          <a:xfrm>
            <a:off x="4621016" y="2836526"/>
            <a:ext cx="7190769" cy="7268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/>
                </a:solidFill>
              </a:rPr>
              <a:t>存储数据：</a:t>
            </a:r>
            <a:r>
              <a:rPr lang="en-US" altLang="zh-CN" sz="1200" dirty="0">
                <a:solidFill>
                  <a:schemeClr val="tx1"/>
                </a:solidFill>
              </a:rPr>
              <a:t>id</a:t>
            </a:r>
            <a:r>
              <a:rPr lang="zh-CN" altLang="en-US" sz="1200" dirty="0">
                <a:solidFill>
                  <a:schemeClr val="tx1"/>
                </a:solidFill>
              </a:rPr>
              <a:t>为</a:t>
            </a:r>
            <a:r>
              <a:rPr lang="en-US" altLang="zh-CN" sz="1200" dirty="0">
                <a:solidFill>
                  <a:schemeClr val="tx1"/>
                </a:solidFill>
              </a:rPr>
              <a:t>1</a:t>
            </a:r>
            <a:r>
              <a:rPr lang="zh-CN" altLang="en-US" sz="1200" dirty="0">
                <a:solidFill>
                  <a:schemeClr val="tx1"/>
                </a:solidFill>
              </a:rPr>
              <a:t>的数据，通过多个</a:t>
            </a:r>
            <a:r>
              <a:rPr lang="en-US" altLang="zh-CN" sz="1200" dirty="0">
                <a:solidFill>
                  <a:schemeClr val="tx1"/>
                </a:solidFill>
              </a:rPr>
              <a:t>hash</a:t>
            </a:r>
            <a:r>
              <a:rPr lang="zh-CN" altLang="en-US" sz="1200" dirty="0">
                <a:solidFill>
                  <a:schemeClr val="tx1"/>
                </a:solidFill>
              </a:rPr>
              <a:t>函数获取</a:t>
            </a:r>
            <a:r>
              <a:rPr lang="en-US" altLang="zh-CN" sz="1200" dirty="0">
                <a:solidFill>
                  <a:schemeClr val="tx1"/>
                </a:solidFill>
              </a:rPr>
              <a:t>hash</a:t>
            </a:r>
            <a:r>
              <a:rPr lang="zh-CN" altLang="en-US" sz="1200" dirty="0">
                <a:solidFill>
                  <a:schemeClr val="tx1"/>
                </a:solidFill>
              </a:rPr>
              <a:t>值，根据</a:t>
            </a:r>
            <a:r>
              <a:rPr lang="en-US" altLang="zh-CN" sz="1200" dirty="0">
                <a:solidFill>
                  <a:schemeClr val="tx1"/>
                </a:solidFill>
              </a:rPr>
              <a:t>hash</a:t>
            </a:r>
            <a:r>
              <a:rPr lang="zh-CN" altLang="en-US" sz="1200" dirty="0">
                <a:solidFill>
                  <a:schemeClr val="tx1"/>
                </a:solidFill>
              </a:rPr>
              <a:t>计算数组对应位置</a:t>
            </a:r>
            <a:r>
              <a:rPr lang="zh-CN" altLang="en-US" sz="1200" dirty="0">
                <a:solidFill>
                  <a:srgbClr val="C00000"/>
                </a:solidFill>
              </a:rPr>
              <a:t>改为</a:t>
            </a:r>
            <a:r>
              <a:rPr lang="en-US" altLang="zh-CN" sz="1200" dirty="0">
                <a:solidFill>
                  <a:srgbClr val="C00000"/>
                </a:solidFill>
              </a:rPr>
              <a:t>1</a:t>
            </a:r>
            <a:endParaRPr lang="en-US" altLang="zh-CN" sz="1200" dirty="0">
              <a:solidFill>
                <a:srgbClr val="C00000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/>
                </a:solidFill>
              </a:rPr>
              <a:t>查询数据：使用相同</a:t>
            </a:r>
            <a:r>
              <a:rPr lang="en-US" altLang="zh-CN" sz="1200" dirty="0">
                <a:solidFill>
                  <a:schemeClr val="tx1"/>
                </a:solidFill>
              </a:rPr>
              <a:t>hash</a:t>
            </a:r>
            <a:r>
              <a:rPr lang="zh-CN" altLang="en-US" sz="1200" dirty="0">
                <a:solidFill>
                  <a:schemeClr val="tx1"/>
                </a:solidFill>
              </a:rPr>
              <a:t>函数获取</a:t>
            </a:r>
            <a:r>
              <a:rPr lang="en-US" altLang="zh-CN" sz="1200" dirty="0">
                <a:solidFill>
                  <a:schemeClr val="tx1"/>
                </a:solidFill>
              </a:rPr>
              <a:t>hash</a:t>
            </a:r>
            <a:r>
              <a:rPr lang="zh-CN" altLang="en-US" sz="1200" dirty="0">
                <a:solidFill>
                  <a:schemeClr val="tx1"/>
                </a:solidFill>
              </a:rPr>
              <a:t>值，判断对应位置是否都为</a:t>
            </a:r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  <a:p>
            <a:endParaRPr lang="zh-CN" altLang="en-US" sz="1200" dirty="0">
              <a:solidFill>
                <a:srgbClr val="C00000"/>
              </a:solidFill>
            </a:endParaRPr>
          </a:p>
        </p:txBody>
      </p:sp>
      <p:sp>
        <p:nvSpPr>
          <p:cNvPr id="37" name="文本占位符 2"/>
          <p:cNvSpPr txBox="1"/>
          <p:nvPr/>
        </p:nvSpPr>
        <p:spPr>
          <a:xfrm>
            <a:off x="4639871" y="3215231"/>
            <a:ext cx="6021844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布隆过滤器</a:t>
            </a:r>
            <a:endParaRPr lang="zh-CN" altLang="en-US" dirty="0"/>
          </a:p>
        </p:txBody>
      </p:sp>
      <p:graphicFrame>
        <p:nvGraphicFramePr>
          <p:cNvPr id="9" name="表格 9"/>
          <p:cNvGraphicFramePr>
            <a:graphicFrameLocks noGrp="1"/>
          </p:cNvGraphicFramePr>
          <p:nvPr/>
        </p:nvGraphicFramePr>
        <p:xfrm>
          <a:off x="1673781" y="3367728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文本占位符 2"/>
          <p:cNvSpPr txBox="1"/>
          <p:nvPr/>
        </p:nvSpPr>
        <p:spPr>
          <a:xfrm>
            <a:off x="1788892" y="3732076"/>
            <a:ext cx="8080971" cy="49113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0       1        2        3        4       5        6        7        8       9       10     11      12      13      14      15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3" name="椭圆 2"/>
          <p:cNvSpPr/>
          <p:nvPr/>
        </p:nvSpPr>
        <p:spPr bwMode="auto">
          <a:xfrm>
            <a:off x="3544478" y="1772240"/>
            <a:ext cx="867266" cy="424207"/>
          </a:xfrm>
          <a:prstGeom prst="ellipse">
            <a:avLst/>
          </a:prstGeom>
          <a:solidFill>
            <a:srgbClr val="C00000"/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id1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7354478" y="1698396"/>
            <a:ext cx="867266" cy="424207"/>
          </a:xfrm>
          <a:prstGeom prst="ellipse">
            <a:avLst/>
          </a:prstGeom>
          <a:solidFill>
            <a:srgbClr val="C00000"/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id2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箭头连接符 26"/>
          <p:cNvCxnSpPr>
            <a:stCxn id="4" idx="4"/>
          </p:cNvCxnSpPr>
          <p:nvPr/>
        </p:nvCxnSpPr>
        <p:spPr>
          <a:xfrm flipH="1">
            <a:off x="6485641" y="2122603"/>
            <a:ext cx="1302470" cy="1233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4" idx="4"/>
          </p:cNvCxnSpPr>
          <p:nvPr/>
        </p:nvCxnSpPr>
        <p:spPr>
          <a:xfrm>
            <a:off x="7788111" y="2122603"/>
            <a:ext cx="168112" cy="1223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4" idx="4"/>
          </p:cNvCxnSpPr>
          <p:nvPr/>
        </p:nvCxnSpPr>
        <p:spPr>
          <a:xfrm>
            <a:off x="7788111" y="2122603"/>
            <a:ext cx="1214487" cy="1223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占位符 2"/>
          <p:cNvSpPr txBox="1"/>
          <p:nvPr/>
        </p:nvSpPr>
        <p:spPr>
          <a:xfrm>
            <a:off x="8261333" y="2769499"/>
            <a:ext cx="995789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dirty="0"/>
              <a:t>hash3(2)=14</a:t>
            </a:r>
            <a:endParaRPr lang="zh-CN" altLang="en-US" sz="1000" dirty="0">
              <a:solidFill>
                <a:srgbClr val="C00000"/>
              </a:solidFill>
            </a:endParaRPr>
          </a:p>
        </p:txBody>
      </p:sp>
      <p:sp>
        <p:nvSpPr>
          <p:cNvPr id="24" name="文本占位符 2"/>
          <p:cNvSpPr txBox="1"/>
          <p:nvPr/>
        </p:nvSpPr>
        <p:spPr>
          <a:xfrm>
            <a:off x="7268067" y="2590393"/>
            <a:ext cx="989814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dirty="0"/>
              <a:t>hash2(2)=12</a:t>
            </a:r>
            <a:endParaRPr lang="zh-CN" altLang="en-US" sz="1000" dirty="0">
              <a:solidFill>
                <a:srgbClr val="C00000"/>
              </a:solidFill>
            </a:endParaRPr>
          </a:p>
        </p:txBody>
      </p:sp>
      <p:sp>
        <p:nvSpPr>
          <p:cNvPr id="25" name="文本占位符 2"/>
          <p:cNvSpPr txBox="1"/>
          <p:nvPr/>
        </p:nvSpPr>
        <p:spPr>
          <a:xfrm>
            <a:off x="6328838" y="2866380"/>
            <a:ext cx="892093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dirty="0"/>
              <a:t>hash1(2)=9</a:t>
            </a:r>
            <a:endParaRPr lang="zh-CN" altLang="en-US" sz="1000" dirty="0">
              <a:solidFill>
                <a:srgbClr val="C00000"/>
              </a:solidFill>
            </a:endParaRPr>
          </a:p>
        </p:txBody>
      </p:sp>
      <p:cxnSp>
        <p:nvCxnSpPr>
          <p:cNvPr id="44" name="直接箭头连接符 43"/>
          <p:cNvCxnSpPr>
            <a:stCxn id="3" idx="4"/>
          </p:cNvCxnSpPr>
          <p:nvPr/>
        </p:nvCxnSpPr>
        <p:spPr>
          <a:xfrm flipH="1">
            <a:off x="2450969" y="2196447"/>
            <a:ext cx="1527142" cy="1159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3" idx="4"/>
          </p:cNvCxnSpPr>
          <p:nvPr/>
        </p:nvCxnSpPr>
        <p:spPr>
          <a:xfrm flipH="1">
            <a:off x="3450210" y="2196447"/>
            <a:ext cx="527901" cy="1159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3" idx="4"/>
          </p:cNvCxnSpPr>
          <p:nvPr/>
        </p:nvCxnSpPr>
        <p:spPr>
          <a:xfrm>
            <a:off x="3978111" y="2196447"/>
            <a:ext cx="1480009" cy="1159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占位符 2"/>
          <p:cNvSpPr txBox="1"/>
          <p:nvPr/>
        </p:nvSpPr>
        <p:spPr>
          <a:xfrm>
            <a:off x="2339728" y="2770540"/>
            <a:ext cx="921945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hash1(1)=1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34" name="文本占位符 2"/>
          <p:cNvSpPr txBox="1"/>
          <p:nvPr/>
        </p:nvSpPr>
        <p:spPr>
          <a:xfrm>
            <a:off x="3404957" y="2617100"/>
            <a:ext cx="912519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hash2(1)=3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35" name="文本占位符 2"/>
          <p:cNvSpPr txBox="1"/>
          <p:nvPr/>
        </p:nvSpPr>
        <p:spPr>
          <a:xfrm>
            <a:off x="4555028" y="2730223"/>
            <a:ext cx="921945" cy="37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/>
              <a:t>hash3(1)=7</a:t>
            </a:r>
            <a:endParaRPr lang="zh-CN" altLang="en-US" sz="1050" dirty="0">
              <a:solidFill>
                <a:srgbClr val="C00000"/>
              </a:solidFill>
            </a:endParaRPr>
          </a:p>
        </p:txBody>
      </p:sp>
      <p:sp>
        <p:nvSpPr>
          <p:cNvPr id="50" name="椭圆 49"/>
          <p:cNvSpPr/>
          <p:nvPr/>
        </p:nvSpPr>
        <p:spPr bwMode="auto">
          <a:xfrm>
            <a:off x="5055909" y="5301006"/>
            <a:ext cx="867266" cy="42420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id3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接箭头连接符 51"/>
          <p:cNvCxnSpPr>
            <a:stCxn id="50" idx="0"/>
          </p:cNvCxnSpPr>
          <p:nvPr/>
        </p:nvCxnSpPr>
        <p:spPr>
          <a:xfrm flipH="1" flipV="1">
            <a:off x="3440784" y="3742441"/>
            <a:ext cx="2048758" cy="1558565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50" idx="0"/>
          </p:cNvCxnSpPr>
          <p:nvPr/>
        </p:nvCxnSpPr>
        <p:spPr>
          <a:xfrm flipV="1">
            <a:off x="5489542" y="3733014"/>
            <a:ext cx="1005526" cy="1567992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50" idx="0"/>
          </p:cNvCxnSpPr>
          <p:nvPr/>
        </p:nvCxnSpPr>
        <p:spPr>
          <a:xfrm flipV="1">
            <a:off x="5489542" y="3742441"/>
            <a:ext cx="2551522" cy="1558565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占位符 2"/>
          <p:cNvSpPr txBox="1"/>
          <p:nvPr/>
        </p:nvSpPr>
        <p:spPr>
          <a:xfrm>
            <a:off x="6096000" y="5326143"/>
            <a:ext cx="3151695" cy="48076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rgbClr val="C00000"/>
                </a:solidFill>
              </a:rPr>
              <a:t>id</a:t>
            </a:r>
            <a:r>
              <a:rPr lang="zh-CN" altLang="en-US" sz="1400" dirty="0">
                <a:solidFill>
                  <a:srgbClr val="C00000"/>
                </a:solidFill>
              </a:rPr>
              <a:t>为</a:t>
            </a:r>
            <a:r>
              <a:rPr lang="en-US" altLang="zh-CN" sz="1400" dirty="0">
                <a:solidFill>
                  <a:srgbClr val="C00000"/>
                </a:solidFill>
              </a:rPr>
              <a:t>3</a:t>
            </a:r>
            <a:r>
              <a:rPr lang="zh-CN" altLang="en-US" sz="1400" dirty="0">
                <a:solidFill>
                  <a:srgbClr val="C00000"/>
                </a:solidFill>
              </a:rPr>
              <a:t>的数据不存在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65" name="文本占位符 2"/>
          <p:cNvSpPr txBox="1"/>
          <p:nvPr/>
        </p:nvSpPr>
        <p:spPr>
          <a:xfrm>
            <a:off x="1524000" y="6023726"/>
            <a:ext cx="8110194" cy="48076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chemeClr val="tx1"/>
                </a:solidFill>
              </a:rPr>
              <a:t>误判率</a:t>
            </a:r>
            <a:r>
              <a:rPr lang="zh-CN" altLang="en-US" sz="1400" dirty="0">
                <a:solidFill>
                  <a:schemeClr val="tx1"/>
                </a:solidFill>
              </a:rPr>
              <a:t>：数组越小误判率就越大，数组越大误判率就越小，但是同时带来了更多的内存消耗。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7" name="矩形: 圆角 66"/>
          <p:cNvSpPr/>
          <p:nvPr/>
        </p:nvSpPr>
        <p:spPr bwMode="auto">
          <a:xfrm>
            <a:off x="9293425" y="4365212"/>
            <a:ext cx="1828800" cy="49019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Redisson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: 圆角 67"/>
          <p:cNvSpPr/>
          <p:nvPr/>
        </p:nvSpPr>
        <p:spPr bwMode="auto">
          <a:xfrm>
            <a:off x="9293426" y="5072223"/>
            <a:ext cx="1828800" cy="49019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Guava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占位符 2"/>
          <p:cNvSpPr txBox="1"/>
          <p:nvPr/>
        </p:nvSpPr>
        <p:spPr>
          <a:xfrm>
            <a:off x="7014021" y="4694207"/>
            <a:ext cx="1789211" cy="50056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布隆过滤器实现方案</a:t>
            </a:r>
            <a:endParaRPr lang="zh-CN" altLang="en-US" sz="1400" dirty="0"/>
          </a:p>
        </p:txBody>
      </p:sp>
      <p:cxnSp>
        <p:nvCxnSpPr>
          <p:cNvPr id="70" name="连接符: 曲线 69"/>
          <p:cNvCxnSpPr>
            <a:stCxn id="69" idx="3"/>
            <a:endCxn id="67" idx="1"/>
          </p:cNvCxnSpPr>
          <p:nvPr/>
        </p:nvCxnSpPr>
        <p:spPr>
          <a:xfrm flipV="1">
            <a:off x="8803232" y="4610309"/>
            <a:ext cx="490193" cy="33418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曲线 70"/>
          <p:cNvCxnSpPr>
            <a:stCxn id="69" idx="3"/>
            <a:endCxn id="68" idx="1"/>
          </p:cNvCxnSpPr>
          <p:nvPr/>
        </p:nvCxnSpPr>
        <p:spPr>
          <a:xfrm>
            <a:off x="8803232" y="4944489"/>
            <a:ext cx="490194" cy="37283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图片 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905" y="942680"/>
            <a:ext cx="5274198" cy="54072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64" grpId="0"/>
      <p:bldP spid="65" grpId="0"/>
      <p:bldP spid="67" grpId="0" animBg="1"/>
      <p:bldP spid="68" grpId="0" animBg="1"/>
      <p:bldP spid="6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缓存穿透</a:t>
            </a:r>
            <a:endParaRPr lang="zh-CN" altLang="en-US" dirty="0"/>
          </a:p>
        </p:txBody>
      </p:sp>
      <p:sp>
        <p:nvSpPr>
          <p:cNvPr id="76" name="文本占位符 75"/>
          <p:cNvSpPr>
            <a:spLocks noGrp="1"/>
          </p:cNvSpPr>
          <p:nvPr>
            <p:ph type="body" sz="quarter" idx="11"/>
          </p:nvPr>
        </p:nvSpPr>
        <p:spPr>
          <a:xfrm>
            <a:off x="824002" y="1624205"/>
            <a:ext cx="4577557" cy="836191"/>
          </a:xfr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sz="1400" dirty="0"/>
              <a:t>例：</a:t>
            </a:r>
            <a:endParaRPr lang="en-US" altLang="zh-CN" sz="1400" dirty="0"/>
          </a:p>
          <a:p>
            <a:r>
              <a:rPr lang="zh-CN" altLang="en-US" sz="1400" dirty="0"/>
              <a:t>一个</a:t>
            </a:r>
            <a:r>
              <a:rPr lang="en-US" altLang="zh-CN" sz="1400" dirty="0"/>
              <a:t>get</a:t>
            </a:r>
            <a:r>
              <a:rPr lang="zh-CN" altLang="en-US" sz="1400" dirty="0"/>
              <a:t>请求：</a:t>
            </a:r>
            <a:r>
              <a:rPr lang="en-US" altLang="zh-CN" sz="1400" dirty="0" err="1"/>
              <a:t>api</a:t>
            </a:r>
            <a:r>
              <a:rPr lang="en-US" altLang="zh-CN" sz="1400" dirty="0"/>
              <a:t>/news/</a:t>
            </a:r>
            <a:r>
              <a:rPr lang="en-US" altLang="zh-CN" sz="1400" dirty="0" err="1"/>
              <a:t>getById</a:t>
            </a:r>
            <a:r>
              <a:rPr lang="en-US" altLang="zh-CN" sz="1400" dirty="0"/>
              <a:t>/</a:t>
            </a:r>
            <a:r>
              <a:rPr lang="en-US" altLang="zh-CN" sz="1400" dirty="0">
                <a:solidFill>
                  <a:srgbClr val="C00000"/>
                </a:solidFill>
              </a:rPr>
              <a:t>1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77" name="矩形: 圆角 76"/>
          <p:cNvSpPr/>
          <p:nvPr/>
        </p:nvSpPr>
        <p:spPr bwMode="auto">
          <a:xfrm>
            <a:off x="782425" y="3154427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查询文章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9" name="直接箭头连接符 78"/>
          <p:cNvCxnSpPr/>
          <p:nvPr/>
        </p:nvCxnSpPr>
        <p:spPr>
          <a:xfrm>
            <a:off x="5279010" y="3465513"/>
            <a:ext cx="177223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图片 7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2376" y="3000277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0" name="流程图: 磁盘 89"/>
          <p:cNvSpPr/>
          <p:nvPr/>
        </p:nvSpPr>
        <p:spPr bwMode="auto">
          <a:xfrm>
            <a:off x="10086680" y="3159142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>
            <a:off x="8380429" y="3450209"/>
            <a:ext cx="159312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/>
          <p:cNvCxnSpPr>
            <a:stCxn id="90" idx="3"/>
            <a:endCxn id="77" idx="2"/>
          </p:cNvCxnSpPr>
          <p:nvPr/>
        </p:nvCxnSpPr>
        <p:spPr>
          <a:xfrm rot="5400000">
            <a:off x="6137433" y="-687576"/>
            <a:ext cx="130811" cy="9049731"/>
          </a:xfrm>
          <a:prstGeom prst="bentConnector3">
            <a:avLst>
              <a:gd name="adj1" fmla="val 822445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占位符 2"/>
          <p:cNvSpPr txBox="1"/>
          <p:nvPr/>
        </p:nvSpPr>
        <p:spPr>
          <a:xfrm>
            <a:off x="6096000" y="4457934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99" name="文本占位符 2"/>
          <p:cNvSpPr txBox="1"/>
          <p:nvPr/>
        </p:nvSpPr>
        <p:spPr>
          <a:xfrm>
            <a:off x="5223179" y="3075717"/>
            <a:ext cx="2082594" cy="35328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布隆过滤中存在，查</a:t>
            </a:r>
            <a:r>
              <a:rPr lang="en-US" altLang="zh-CN" sz="1200" dirty="0" err="1"/>
              <a:t>redis</a:t>
            </a:r>
            <a:endParaRPr lang="zh-CN" altLang="en-US" sz="1200" dirty="0"/>
          </a:p>
          <a:p>
            <a:endParaRPr lang="zh-CN" altLang="en-US" sz="1200" dirty="0"/>
          </a:p>
        </p:txBody>
      </p:sp>
      <p:sp>
        <p:nvSpPr>
          <p:cNvPr id="100" name="文本占位符 2"/>
          <p:cNvSpPr txBox="1"/>
          <p:nvPr/>
        </p:nvSpPr>
        <p:spPr>
          <a:xfrm>
            <a:off x="4403045" y="4125639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  <a:endParaRPr lang="zh-CN" altLang="en-US" sz="1200" dirty="0"/>
          </a:p>
        </p:txBody>
      </p:sp>
      <p:sp>
        <p:nvSpPr>
          <p:cNvPr id="101" name="文本占位符 2"/>
          <p:cNvSpPr txBox="1"/>
          <p:nvPr/>
        </p:nvSpPr>
        <p:spPr>
          <a:xfrm>
            <a:off x="8440856" y="3062768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3" name="文本占位符 2"/>
          <p:cNvSpPr txBox="1"/>
          <p:nvPr/>
        </p:nvSpPr>
        <p:spPr>
          <a:xfrm>
            <a:off x="784308" y="4797300"/>
            <a:ext cx="9490909" cy="905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解决方案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zh-CN" altLang="en-US" sz="1400" dirty="0"/>
              <a:t>方案二：布隆过滤器</a:t>
            </a:r>
            <a:endParaRPr lang="zh-CN" altLang="en-US" sz="1400" dirty="0"/>
          </a:p>
        </p:txBody>
      </p:sp>
      <p:sp>
        <p:nvSpPr>
          <p:cNvPr id="5" name="文本占位符 2"/>
          <p:cNvSpPr txBox="1"/>
          <p:nvPr/>
        </p:nvSpPr>
        <p:spPr>
          <a:xfrm>
            <a:off x="765454" y="5579725"/>
            <a:ext cx="5330546" cy="905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优点：</a:t>
            </a:r>
            <a:r>
              <a:rPr lang="zh-CN" altLang="en-US" sz="1400" dirty="0"/>
              <a:t>内存占用较少，没有多余</a:t>
            </a:r>
            <a:r>
              <a:rPr lang="en-US" altLang="zh-CN" sz="1400" dirty="0"/>
              <a:t>key</a:t>
            </a:r>
            <a:endParaRPr lang="en-US" altLang="zh-CN" sz="1400" dirty="0"/>
          </a:p>
          <a:p>
            <a:r>
              <a:rPr lang="zh-CN" altLang="en-US" sz="1400" b="1" dirty="0"/>
              <a:t>缺点：</a:t>
            </a:r>
            <a:r>
              <a:rPr lang="zh-CN" altLang="en-US" sz="1400" dirty="0"/>
              <a:t>实现复杂，存在误判</a:t>
            </a:r>
            <a:endParaRPr lang="zh-CN" altLang="en-US" sz="1400" dirty="0"/>
          </a:p>
        </p:txBody>
      </p:sp>
      <p:sp>
        <p:nvSpPr>
          <p:cNvPr id="6" name="矩形 5"/>
          <p:cNvSpPr/>
          <p:nvPr/>
        </p:nvSpPr>
        <p:spPr bwMode="auto">
          <a:xfrm>
            <a:off x="3987539" y="2740842"/>
            <a:ext cx="1197204" cy="13763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布隆过滤器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2620652" y="3346515"/>
            <a:ext cx="1263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2601798" y="3751868"/>
            <a:ext cx="12726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2"/>
          <p:cNvSpPr txBox="1"/>
          <p:nvPr/>
        </p:nvSpPr>
        <p:spPr>
          <a:xfrm>
            <a:off x="2605666" y="2974378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查询布隆过滤器</a:t>
            </a:r>
            <a:endParaRPr lang="zh-CN" altLang="en-US" sz="1200" dirty="0"/>
          </a:p>
        </p:txBody>
      </p:sp>
      <p:sp>
        <p:nvSpPr>
          <p:cNvPr id="18" name="文本占位符 2"/>
          <p:cNvSpPr txBox="1"/>
          <p:nvPr/>
        </p:nvSpPr>
        <p:spPr>
          <a:xfrm>
            <a:off x="2558532" y="3429000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不存在，直接返回</a:t>
            </a:r>
            <a:endParaRPr lang="zh-CN" altLang="en-US" sz="1200" dirty="0"/>
          </a:p>
        </p:txBody>
      </p:sp>
      <p:cxnSp>
        <p:nvCxnSpPr>
          <p:cNvPr id="22" name="连接符: 肘形 21"/>
          <p:cNvCxnSpPr>
            <a:stCxn id="80" idx="2"/>
            <a:endCxn id="77" idx="2"/>
          </p:cNvCxnSpPr>
          <p:nvPr/>
        </p:nvCxnSpPr>
        <p:spPr>
          <a:xfrm rot="5400000">
            <a:off x="4665779" y="869916"/>
            <a:ext cx="44973" cy="6020585"/>
          </a:xfrm>
          <a:prstGeom prst="bentConnector3">
            <a:avLst>
              <a:gd name="adj1" fmla="val 14048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2"/>
          <p:cNvSpPr txBox="1"/>
          <p:nvPr/>
        </p:nvSpPr>
        <p:spPr>
          <a:xfrm>
            <a:off x="5270311" y="2695126"/>
            <a:ext cx="2440815" cy="40629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rgbClr val="C00000"/>
                </a:solidFill>
              </a:rPr>
              <a:t>缓存预热时，预热布隆过滤器</a:t>
            </a:r>
            <a:endParaRPr lang="zh-CN" altLang="en-US" sz="1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48763" y="3429000"/>
            <a:ext cx="5760538" cy="818247"/>
          </a:xfrm>
        </p:spPr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的使用场景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什么是缓存穿透，怎么解决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占位符 2"/>
          <p:cNvSpPr txBox="1"/>
          <p:nvPr/>
        </p:nvSpPr>
        <p:spPr>
          <a:xfrm>
            <a:off x="5317999" y="1533018"/>
            <a:ext cx="3373514" cy="15603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根据自己简历上的业务进行回答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缓存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分布式锁</a:t>
            </a:r>
            <a:endParaRPr lang="zh-CN" altLang="en-US" sz="1400" dirty="0"/>
          </a:p>
        </p:txBody>
      </p:sp>
      <p:sp>
        <p:nvSpPr>
          <p:cNvPr id="7" name="文本占位符 2"/>
          <p:cNvSpPr txBox="1"/>
          <p:nvPr/>
        </p:nvSpPr>
        <p:spPr>
          <a:xfrm>
            <a:off x="5220721" y="3916295"/>
            <a:ext cx="6248189" cy="15603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缓存穿透：查询一个</a:t>
            </a:r>
            <a:r>
              <a:rPr lang="zh-CN" altLang="en-US" sz="1400" b="1" dirty="0"/>
              <a:t>不存在</a:t>
            </a:r>
            <a:r>
              <a:rPr lang="zh-CN" altLang="en-US" sz="1400" dirty="0"/>
              <a:t>的数据，</a:t>
            </a:r>
            <a:r>
              <a:rPr lang="en-US" altLang="zh-CN" sz="1400" dirty="0" err="1"/>
              <a:t>mysql</a:t>
            </a:r>
            <a:r>
              <a:rPr lang="zh-CN" altLang="en-US" sz="1400" dirty="0"/>
              <a:t>查询不到数据也不会直接写入缓存，就会导致每次请求都查数据库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解决方案一：缓存空数据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解决方案二：布隆过滤器</a:t>
            </a:r>
            <a:endParaRPr lang="zh-CN" altLang="en-US" sz="1400" dirty="0"/>
          </a:p>
        </p:txBody>
      </p:sp>
      <p:sp>
        <p:nvSpPr>
          <p:cNvPr id="9" name="文本占位符 6"/>
          <p:cNvSpPr txBox="1"/>
          <p:nvPr/>
        </p:nvSpPr>
        <p:spPr>
          <a:xfrm>
            <a:off x="6511506" y="1890001"/>
            <a:ext cx="546053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穿透、击穿、雪崩、双写一致、持久化、数据过期、淘汰策略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0" name="文本占位符 6"/>
          <p:cNvSpPr txBox="1"/>
          <p:nvPr/>
        </p:nvSpPr>
        <p:spPr>
          <a:xfrm>
            <a:off x="6490594" y="2258059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84693" y="1889575"/>
            <a:ext cx="5847550" cy="459409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缓存击穿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1279252"/>
          </a:xfrm>
        </p:spPr>
        <p:txBody>
          <a:bodyPr/>
          <a:lstStyle/>
          <a:p>
            <a:r>
              <a:rPr lang="zh-CN" altLang="en-US" sz="1400" b="1" dirty="0"/>
              <a:t>缓存击穿：</a:t>
            </a:r>
            <a:r>
              <a:rPr lang="zh-CN" altLang="en-US" sz="1400" dirty="0"/>
              <a:t>给某一个</a:t>
            </a:r>
            <a:r>
              <a:rPr lang="en-US" altLang="zh-CN" sz="1400" dirty="0"/>
              <a:t>key</a:t>
            </a:r>
            <a:r>
              <a:rPr lang="zh-CN" altLang="en-US" sz="1400" dirty="0"/>
              <a:t>设置了过期时间，当</a:t>
            </a:r>
            <a:r>
              <a:rPr lang="en-US" altLang="zh-CN" sz="1400" dirty="0"/>
              <a:t>key</a:t>
            </a:r>
            <a:r>
              <a:rPr lang="zh-CN" altLang="en-US" sz="1400" dirty="0"/>
              <a:t>过期的时候，恰好这时间点对这个</a:t>
            </a:r>
            <a:r>
              <a:rPr lang="en-US" altLang="zh-CN" sz="1400" dirty="0"/>
              <a:t>key</a:t>
            </a:r>
            <a:r>
              <a:rPr lang="zh-CN" altLang="en-US" sz="1400" dirty="0"/>
              <a:t>有大量的并发请求过来，这些并发的请求可能会瞬间把</a:t>
            </a:r>
            <a:r>
              <a:rPr lang="en-US" altLang="zh-CN" sz="1400" dirty="0"/>
              <a:t>DB</a:t>
            </a:r>
            <a:r>
              <a:rPr lang="zh-CN" altLang="en-US" sz="1400" dirty="0"/>
              <a:t>压垮</a:t>
            </a:r>
            <a:endParaRPr lang="zh-CN" altLang="en-US" sz="1400" dirty="0"/>
          </a:p>
        </p:txBody>
      </p:sp>
      <p:sp>
        <p:nvSpPr>
          <p:cNvPr id="52" name="矩形: 圆角 51"/>
          <p:cNvSpPr/>
          <p:nvPr/>
        </p:nvSpPr>
        <p:spPr bwMode="auto">
          <a:xfrm>
            <a:off x="1583703" y="2720793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查询文章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>
            <a:off x="3487918" y="2934671"/>
            <a:ext cx="172510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图片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5869" y="2684280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55" name="直接箭头连接符 54"/>
          <p:cNvCxnSpPr/>
          <p:nvPr/>
        </p:nvCxnSpPr>
        <p:spPr>
          <a:xfrm flipH="1">
            <a:off x="3487918" y="3252245"/>
            <a:ext cx="1734531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流程图: 磁盘 55"/>
          <p:cNvSpPr/>
          <p:nvPr/>
        </p:nvSpPr>
        <p:spPr bwMode="auto">
          <a:xfrm>
            <a:off x="9662474" y="2720793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>
            <a:off x="6589336" y="3073136"/>
            <a:ext cx="287517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/>
          <p:cNvCxnSpPr>
            <a:stCxn id="56" idx="3"/>
            <a:endCxn id="52" idx="2"/>
          </p:cNvCxnSpPr>
          <p:nvPr/>
        </p:nvCxnSpPr>
        <p:spPr>
          <a:xfrm rot="5400000">
            <a:off x="6323611" y="-510825"/>
            <a:ext cx="135526" cy="7824247"/>
          </a:xfrm>
          <a:prstGeom prst="bentConnector3">
            <a:avLst>
              <a:gd name="adj1" fmla="val 679062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占位符 2"/>
          <p:cNvSpPr txBox="1"/>
          <p:nvPr/>
        </p:nvSpPr>
        <p:spPr>
          <a:xfrm>
            <a:off x="3969413" y="2532510"/>
            <a:ext cx="96080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</a:t>
            </a:r>
            <a:r>
              <a:rPr lang="en-US" altLang="zh-CN" sz="1200" dirty="0" err="1"/>
              <a:t>redis</a:t>
            </a:r>
            <a:endParaRPr lang="zh-CN" altLang="en-US" sz="1200" dirty="0"/>
          </a:p>
        </p:txBody>
      </p:sp>
      <p:sp>
        <p:nvSpPr>
          <p:cNvPr id="60" name="文本占位符 2"/>
          <p:cNvSpPr txBox="1"/>
          <p:nvPr/>
        </p:nvSpPr>
        <p:spPr>
          <a:xfrm>
            <a:off x="3733742" y="2909582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  <a:endParaRPr lang="zh-CN" altLang="en-US" sz="1200" dirty="0"/>
          </a:p>
        </p:txBody>
      </p:sp>
      <p:sp>
        <p:nvSpPr>
          <p:cNvPr id="61" name="文本占位符 2"/>
          <p:cNvSpPr txBox="1"/>
          <p:nvPr/>
        </p:nvSpPr>
        <p:spPr>
          <a:xfrm>
            <a:off x="6819446" y="2685695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b="1" dirty="0"/>
              <a:t>key</a:t>
            </a:r>
            <a:r>
              <a:rPr lang="zh-CN" altLang="en-US" sz="1200" b="1" dirty="0"/>
              <a:t>过期</a:t>
            </a:r>
            <a:r>
              <a:rPr lang="zh-CN" altLang="en-US" sz="1200" dirty="0"/>
              <a:t>，</a:t>
            </a:r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65" name="文本占位符 2"/>
          <p:cNvSpPr txBox="1"/>
          <p:nvPr/>
        </p:nvSpPr>
        <p:spPr>
          <a:xfrm>
            <a:off x="5228734" y="3873472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68" name="矩形: 圆角 67"/>
          <p:cNvSpPr/>
          <p:nvPr/>
        </p:nvSpPr>
        <p:spPr bwMode="auto">
          <a:xfrm>
            <a:off x="6768445" y="2705494"/>
            <a:ext cx="2309567" cy="339365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/>
          <p:cNvSpPr/>
          <p:nvPr/>
        </p:nvSpPr>
        <p:spPr bwMode="auto">
          <a:xfrm>
            <a:off x="6711885" y="3883843"/>
            <a:ext cx="1960776" cy="339365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占位符 2"/>
          <p:cNvSpPr txBox="1"/>
          <p:nvPr/>
        </p:nvSpPr>
        <p:spPr>
          <a:xfrm>
            <a:off x="7048107" y="3298437"/>
            <a:ext cx="153028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>
                <a:solidFill>
                  <a:srgbClr val="C00000"/>
                </a:solidFill>
              </a:rPr>
              <a:t>消耗了</a:t>
            </a:r>
            <a:r>
              <a:rPr lang="en-US" altLang="zh-CN" sz="1200" b="1" dirty="0">
                <a:solidFill>
                  <a:srgbClr val="C00000"/>
                </a:solidFill>
              </a:rPr>
              <a:t>50</a:t>
            </a:r>
            <a:r>
              <a:rPr lang="zh-CN" altLang="en-US" sz="1200" b="1" dirty="0">
                <a:solidFill>
                  <a:srgbClr val="C00000"/>
                </a:solidFill>
              </a:rPr>
              <a:t>毫秒</a:t>
            </a:r>
            <a:endParaRPr lang="zh-CN" altLang="en-US" sz="1200" b="1" dirty="0">
              <a:solidFill>
                <a:srgbClr val="C00000"/>
              </a:solidFill>
            </a:endParaRPr>
          </a:p>
        </p:txBody>
      </p:sp>
      <p:cxnSp>
        <p:nvCxnSpPr>
          <p:cNvPr id="72" name="直接箭头连接符 71"/>
          <p:cNvCxnSpPr>
            <a:stCxn id="68" idx="2"/>
            <a:endCxn id="70" idx="0"/>
          </p:cNvCxnSpPr>
          <p:nvPr/>
        </p:nvCxnSpPr>
        <p:spPr>
          <a:xfrm flipH="1">
            <a:off x="7813250" y="3044859"/>
            <a:ext cx="109979" cy="253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7682845" y="3648173"/>
            <a:ext cx="0" cy="226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占位符 2"/>
          <p:cNvSpPr txBox="1"/>
          <p:nvPr/>
        </p:nvSpPr>
        <p:spPr>
          <a:xfrm>
            <a:off x="692027" y="4640781"/>
            <a:ext cx="5209153" cy="8833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解决方案一：</a:t>
            </a:r>
            <a:r>
              <a:rPr lang="zh-CN" altLang="en-US" sz="1400" dirty="0"/>
              <a:t>互斥锁</a:t>
            </a:r>
            <a:endParaRPr lang="en-US" altLang="zh-CN" sz="1400" dirty="0"/>
          </a:p>
          <a:p>
            <a:r>
              <a:rPr lang="zh-CN" altLang="en-US" sz="1400" b="1" dirty="0"/>
              <a:t>解决方案二：</a:t>
            </a:r>
            <a:r>
              <a:rPr lang="zh-CN" altLang="en-US" sz="1400" dirty="0"/>
              <a:t>逻辑过期</a:t>
            </a:r>
            <a:endParaRPr lang="zh-CN" altLang="en-US" sz="1400" dirty="0"/>
          </a:p>
        </p:txBody>
      </p:sp>
      <p:pic>
        <p:nvPicPr>
          <p:cNvPr id="77" name="图片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506" y="789734"/>
            <a:ext cx="7259571" cy="16125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6" grpId="0" animBg="1"/>
      <p:bldP spid="59" grpId="0"/>
      <p:bldP spid="60" grpId="0"/>
      <p:bldP spid="61" grpId="0"/>
      <p:bldP spid="65" grpId="0"/>
      <p:bldP spid="68" grpId="0" animBg="1"/>
      <p:bldP spid="69" grpId="0" animBg="1"/>
      <p:bldP spid="7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缓存击穿</a:t>
            </a:r>
            <a:endParaRPr lang="zh-CN" altLang="en-US" dirty="0"/>
          </a:p>
        </p:txBody>
      </p:sp>
      <p:sp>
        <p:nvSpPr>
          <p:cNvPr id="9" name="矩形: 圆角 8"/>
          <p:cNvSpPr/>
          <p:nvPr/>
        </p:nvSpPr>
        <p:spPr>
          <a:xfrm>
            <a:off x="718520" y="1513746"/>
            <a:ext cx="3872141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58834" y="19572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1" name="直线连接符 8"/>
          <p:cNvCxnSpPr>
            <a:stCxn id="10" idx="2"/>
          </p:cNvCxnSpPr>
          <p:nvPr/>
        </p:nvCxnSpPr>
        <p:spPr>
          <a:xfrm>
            <a:off x="1276466" y="2338410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213294" y="2502261"/>
            <a:ext cx="114027" cy="3295319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67293" y="2584658"/>
            <a:ext cx="123200" cy="393560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4" name="肘形连接符 25"/>
          <p:cNvCxnSpPr>
            <a:endCxn id="13" idx="3"/>
          </p:cNvCxnSpPr>
          <p:nvPr/>
        </p:nvCxnSpPr>
        <p:spPr>
          <a:xfrm rot="16200000" flipH="1">
            <a:off x="1242914" y="2633859"/>
            <a:ext cx="228404" cy="66754"/>
          </a:xfrm>
          <a:prstGeom prst="bentConnector4">
            <a:avLst>
              <a:gd name="adj1" fmla="val 6923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593772" y="2584658"/>
            <a:ext cx="995987" cy="44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查询缓存，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未命中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75542" y="3716163"/>
            <a:ext cx="103587" cy="91989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/>
          <p:cNvCxnSpPr>
            <a:endCxn id="16" idx="3"/>
          </p:cNvCxnSpPr>
          <p:nvPr/>
        </p:nvCxnSpPr>
        <p:spPr>
          <a:xfrm rot="16200000" flipH="1">
            <a:off x="1109750" y="3906732"/>
            <a:ext cx="507632" cy="31126"/>
          </a:xfrm>
          <a:prstGeom prst="bentConnector4">
            <a:avLst>
              <a:gd name="adj1" fmla="val 4697"/>
              <a:gd name="adj2" fmla="val 834434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608569" y="3754358"/>
            <a:ext cx="8001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查询数据库重建缓存数据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65755" y="3145461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0" name="肘形连接符 25"/>
          <p:cNvCxnSpPr>
            <a:endCxn id="19" idx="3"/>
          </p:cNvCxnSpPr>
          <p:nvPr/>
        </p:nvCxnSpPr>
        <p:spPr>
          <a:xfrm rot="16200000" flipH="1">
            <a:off x="1244469" y="3179157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592234" y="3133049"/>
            <a:ext cx="888318" cy="44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锁成功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277141" y="4834206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3" name="肘形连接符 25"/>
          <p:cNvCxnSpPr>
            <a:endCxn id="22" idx="3"/>
          </p:cNvCxnSpPr>
          <p:nvPr/>
        </p:nvCxnSpPr>
        <p:spPr>
          <a:xfrm rot="16200000" flipH="1">
            <a:off x="1255855" y="4867902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603619" y="4821794"/>
            <a:ext cx="9202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写入缓存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77928" y="5323322"/>
            <a:ext cx="114446" cy="308222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6" name="肘形连接符 25"/>
          <p:cNvCxnSpPr>
            <a:endCxn id="25" idx="3"/>
          </p:cNvCxnSpPr>
          <p:nvPr/>
        </p:nvCxnSpPr>
        <p:spPr>
          <a:xfrm rot="16200000" flipH="1">
            <a:off x="1264300" y="5349359"/>
            <a:ext cx="198148" cy="57999"/>
          </a:xfrm>
          <a:prstGeom prst="bentConnector4">
            <a:avLst>
              <a:gd name="adj1" fmla="val 11112"/>
              <a:gd name="adj2" fmla="val 494145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504140" y="5305852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5.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释放锁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644133" y="19572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9" name="直线连接符 8"/>
          <p:cNvCxnSpPr>
            <a:stCxn id="28" idx="2"/>
          </p:cNvCxnSpPr>
          <p:nvPr/>
        </p:nvCxnSpPr>
        <p:spPr>
          <a:xfrm>
            <a:off x="2961765" y="2338410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898593" y="2502261"/>
            <a:ext cx="124808" cy="3744160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952592" y="2882075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2" name="肘形连接符 25"/>
          <p:cNvCxnSpPr>
            <a:endCxn id="31" idx="3"/>
          </p:cNvCxnSpPr>
          <p:nvPr/>
        </p:nvCxnSpPr>
        <p:spPr>
          <a:xfrm rot="16200000" flipH="1">
            <a:off x="2931306" y="2915771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279071" y="2869663"/>
            <a:ext cx="995987" cy="44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查询缓存，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未命中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951054" y="3501716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5" name="肘形连接符 25"/>
          <p:cNvCxnSpPr>
            <a:endCxn id="34" idx="3"/>
          </p:cNvCxnSpPr>
          <p:nvPr/>
        </p:nvCxnSpPr>
        <p:spPr>
          <a:xfrm rot="16200000" flipH="1">
            <a:off x="2929768" y="3535412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3277533" y="3489304"/>
            <a:ext cx="68834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accent6">
                    <a:lumMod val="75000"/>
                  </a:schemeClr>
                </a:solidFill>
              </a:rPr>
              <a:t>2.</a:t>
            </a:r>
            <a:r>
              <a:rPr lang="zh-CN" altLang="en-US" sz="1050">
                <a:solidFill>
                  <a:schemeClr val="accent6">
                    <a:lumMod val="75000"/>
                  </a:schemeClr>
                </a:solidFill>
              </a:rPr>
              <a:t>获取</a:t>
            </a:r>
            <a:endParaRPr lang="en-US" altLang="zh-CN" sz="1050">
              <a:solidFill>
                <a:schemeClr val="accent6">
                  <a:lumMod val="7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zh-CN" altLang="en-US" sz="1050">
                <a:solidFill>
                  <a:schemeClr val="accent6">
                    <a:lumMod val="75000"/>
                  </a:schemeClr>
                </a:solidFill>
              </a:rPr>
              <a:t>互斥锁</a:t>
            </a:r>
            <a:endParaRPr lang="en-US" altLang="zh-CN" sz="1050">
              <a:solidFill>
                <a:schemeClr val="accent6">
                  <a:lumMod val="7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accent6">
                    <a:lumMod val="75000"/>
                  </a:schemeClr>
                </a:solidFill>
              </a:rPr>
              <a:t> 失败</a:t>
            </a:r>
            <a:endParaRPr lang="zh-CN" altLang="en-US" sz="10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963227" y="5382709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8" name="肘形连接符 25"/>
          <p:cNvCxnSpPr>
            <a:endCxn id="37" idx="3"/>
          </p:cNvCxnSpPr>
          <p:nvPr/>
        </p:nvCxnSpPr>
        <p:spPr>
          <a:xfrm rot="16200000" flipH="1">
            <a:off x="2941941" y="5416405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3289706" y="5370297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5.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缓存命中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40" name="连接符: 肘形 39"/>
          <p:cNvCxnSpPr>
            <a:stCxn id="41" idx="3"/>
          </p:cNvCxnSpPr>
          <p:nvPr/>
        </p:nvCxnSpPr>
        <p:spPr>
          <a:xfrm flipH="1" flipV="1">
            <a:off x="3040855" y="2659325"/>
            <a:ext cx="56670" cy="1563468"/>
          </a:xfrm>
          <a:prstGeom prst="bentConnector4">
            <a:avLst>
              <a:gd name="adj1" fmla="val -1975029"/>
              <a:gd name="adj2" fmla="val 101665"/>
            </a:avLst>
          </a:prstGeom>
          <a:ln w="31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2961933" y="3984793"/>
            <a:ext cx="135592" cy="47599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198060" y="4780367"/>
            <a:ext cx="8472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重试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872969" y="4203286"/>
            <a:ext cx="72422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休眠一会儿，再重试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4" name="箭头: 上弧形 43"/>
          <p:cNvSpPr/>
          <p:nvPr/>
        </p:nvSpPr>
        <p:spPr>
          <a:xfrm rot="5400000">
            <a:off x="3007088" y="4630823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45" name="箭头: 上弧形 44"/>
          <p:cNvSpPr/>
          <p:nvPr/>
        </p:nvSpPr>
        <p:spPr>
          <a:xfrm rot="5400000">
            <a:off x="3016766" y="4996548"/>
            <a:ext cx="265417" cy="181154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solidFill>
                <a:schemeClr val="tx1"/>
              </a:solidFill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711200" y="5236048"/>
            <a:ext cx="386078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3" name="矩形: 圆角 162"/>
          <p:cNvSpPr/>
          <p:nvPr/>
        </p:nvSpPr>
        <p:spPr>
          <a:xfrm>
            <a:off x="5445211" y="1513746"/>
            <a:ext cx="6497973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文本占位符 1"/>
          <p:cNvSpPr txBox="1"/>
          <p:nvPr/>
        </p:nvSpPr>
        <p:spPr>
          <a:xfrm>
            <a:off x="7416606" y="1328182"/>
            <a:ext cx="2555183" cy="490923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b="1" dirty="0"/>
              <a:t>逻辑过期</a:t>
            </a:r>
            <a:endParaRPr lang="en-US" altLang="zh-CN" sz="1400" b="1" dirty="0"/>
          </a:p>
        </p:txBody>
      </p:sp>
      <p:sp>
        <p:nvSpPr>
          <p:cNvPr id="165" name="矩形 164"/>
          <p:cNvSpPr/>
          <p:nvPr/>
        </p:nvSpPr>
        <p:spPr>
          <a:xfrm>
            <a:off x="5676098" y="19572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66" name="直线连接符 8"/>
          <p:cNvCxnSpPr>
            <a:stCxn id="165" idx="2"/>
          </p:cNvCxnSpPr>
          <p:nvPr/>
        </p:nvCxnSpPr>
        <p:spPr>
          <a:xfrm flipH="1">
            <a:off x="5990755" y="2338410"/>
            <a:ext cx="2975" cy="395230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矩形 166"/>
          <p:cNvSpPr/>
          <p:nvPr/>
        </p:nvSpPr>
        <p:spPr>
          <a:xfrm>
            <a:off x="5930558" y="2502262"/>
            <a:ext cx="115609" cy="2017330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5984557" y="2584658"/>
            <a:ext cx="123200" cy="393560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69" name="肘形连接符 25"/>
          <p:cNvCxnSpPr>
            <a:endCxn id="168" idx="3"/>
          </p:cNvCxnSpPr>
          <p:nvPr/>
        </p:nvCxnSpPr>
        <p:spPr>
          <a:xfrm rot="16200000" flipH="1">
            <a:off x="5960178" y="2633859"/>
            <a:ext cx="228404" cy="66754"/>
          </a:xfrm>
          <a:prstGeom prst="bentConnector4">
            <a:avLst>
              <a:gd name="adj1" fmla="val 6923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文本框 169"/>
          <p:cNvSpPr txBox="1"/>
          <p:nvPr/>
        </p:nvSpPr>
        <p:spPr>
          <a:xfrm>
            <a:off x="6291373" y="2422998"/>
            <a:ext cx="99299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查询缓存，发现逻辑时间已过期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5983019" y="3145461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72" name="肘形连接符 25"/>
          <p:cNvCxnSpPr>
            <a:endCxn id="171" idx="3"/>
          </p:cNvCxnSpPr>
          <p:nvPr/>
        </p:nvCxnSpPr>
        <p:spPr>
          <a:xfrm rot="16200000" flipH="1">
            <a:off x="5961733" y="3179157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文本框 172"/>
          <p:cNvSpPr txBox="1"/>
          <p:nvPr/>
        </p:nvSpPr>
        <p:spPr>
          <a:xfrm>
            <a:off x="6309498" y="3133049"/>
            <a:ext cx="90708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锁成功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6006801" y="3988749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75" name="肘形连接符 25"/>
          <p:cNvCxnSpPr>
            <a:endCxn id="174" idx="3"/>
          </p:cNvCxnSpPr>
          <p:nvPr/>
        </p:nvCxnSpPr>
        <p:spPr>
          <a:xfrm rot="16200000" flipH="1">
            <a:off x="5985515" y="4022445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文本框 175"/>
          <p:cNvSpPr txBox="1"/>
          <p:nvPr/>
        </p:nvSpPr>
        <p:spPr>
          <a:xfrm>
            <a:off x="6393281" y="3922295"/>
            <a:ext cx="92026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返回过期数据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9008828" y="1957262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78" name="直线连接符 8"/>
          <p:cNvCxnSpPr>
            <a:stCxn id="177" idx="2"/>
          </p:cNvCxnSpPr>
          <p:nvPr/>
        </p:nvCxnSpPr>
        <p:spPr>
          <a:xfrm>
            <a:off x="9326460" y="2338410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矩形 178"/>
          <p:cNvSpPr/>
          <p:nvPr/>
        </p:nvSpPr>
        <p:spPr>
          <a:xfrm>
            <a:off x="9263772" y="2647672"/>
            <a:ext cx="117628" cy="2132695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80" name="矩形 179"/>
          <p:cNvSpPr/>
          <p:nvPr/>
        </p:nvSpPr>
        <p:spPr>
          <a:xfrm>
            <a:off x="9317771" y="3027486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81" name="肘形连接符 25"/>
          <p:cNvCxnSpPr>
            <a:endCxn id="180" idx="3"/>
          </p:cNvCxnSpPr>
          <p:nvPr/>
        </p:nvCxnSpPr>
        <p:spPr>
          <a:xfrm rot="16200000" flipH="1">
            <a:off x="9296485" y="3061182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文本框 181"/>
          <p:cNvSpPr txBox="1"/>
          <p:nvPr/>
        </p:nvSpPr>
        <p:spPr>
          <a:xfrm>
            <a:off x="9624607" y="2856031"/>
            <a:ext cx="95076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查询缓存，发现逻辑时间已过期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9316233" y="3647127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84" name="肘形连接符 25"/>
          <p:cNvCxnSpPr>
            <a:endCxn id="183" idx="3"/>
          </p:cNvCxnSpPr>
          <p:nvPr/>
        </p:nvCxnSpPr>
        <p:spPr>
          <a:xfrm rot="16200000" flipH="1">
            <a:off x="9294947" y="3680823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文本框 184"/>
          <p:cNvSpPr txBox="1"/>
          <p:nvPr/>
        </p:nvSpPr>
        <p:spPr>
          <a:xfrm>
            <a:off x="9642712" y="3634715"/>
            <a:ext cx="9507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互斥锁失败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9316233" y="4188523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87" name="肘形连接符 25"/>
          <p:cNvCxnSpPr>
            <a:endCxn id="186" idx="3"/>
          </p:cNvCxnSpPr>
          <p:nvPr/>
        </p:nvCxnSpPr>
        <p:spPr>
          <a:xfrm rot="16200000" flipH="1">
            <a:off x="9294947" y="4222219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文本框 187"/>
          <p:cNvSpPr txBox="1"/>
          <p:nvPr/>
        </p:nvSpPr>
        <p:spPr>
          <a:xfrm>
            <a:off x="9642712" y="4176111"/>
            <a:ext cx="9326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返回过期数据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89" name="矩形 188"/>
          <p:cNvSpPr/>
          <p:nvPr/>
        </p:nvSpPr>
        <p:spPr>
          <a:xfrm>
            <a:off x="7309979" y="195736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90" name="直线连接符 8"/>
          <p:cNvCxnSpPr>
            <a:stCxn id="189" idx="2"/>
          </p:cNvCxnSpPr>
          <p:nvPr/>
        </p:nvCxnSpPr>
        <p:spPr>
          <a:xfrm flipH="1">
            <a:off x="7624636" y="2338517"/>
            <a:ext cx="2975" cy="395230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矩形 190"/>
          <p:cNvSpPr/>
          <p:nvPr/>
        </p:nvSpPr>
        <p:spPr>
          <a:xfrm>
            <a:off x="7564439" y="3634715"/>
            <a:ext cx="117629" cy="2162972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192" name="矩形 191"/>
          <p:cNvSpPr/>
          <p:nvPr/>
        </p:nvSpPr>
        <p:spPr>
          <a:xfrm>
            <a:off x="7632099" y="3948242"/>
            <a:ext cx="107842" cy="662827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93" name="肘形连接符 25"/>
          <p:cNvCxnSpPr>
            <a:endCxn id="192" idx="3"/>
          </p:cNvCxnSpPr>
          <p:nvPr/>
        </p:nvCxnSpPr>
        <p:spPr>
          <a:xfrm rot="16200000" flipH="1">
            <a:off x="7532701" y="4072416"/>
            <a:ext cx="379098" cy="35382"/>
          </a:xfrm>
          <a:prstGeom prst="bentConnector4">
            <a:avLst>
              <a:gd name="adj1" fmla="val 6289"/>
              <a:gd name="adj2" fmla="val 74609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文本框 193"/>
          <p:cNvSpPr txBox="1"/>
          <p:nvPr/>
        </p:nvSpPr>
        <p:spPr>
          <a:xfrm>
            <a:off x="7965126" y="3986437"/>
            <a:ext cx="8001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查询数据库重建缓存数据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7628286" y="4834313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96" name="肘形连接符 25"/>
          <p:cNvCxnSpPr>
            <a:endCxn id="195" idx="3"/>
          </p:cNvCxnSpPr>
          <p:nvPr/>
        </p:nvCxnSpPr>
        <p:spPr>
          <a:xfrm rot="16200000" flipH="1">
            <a:off x="7607000" y="4868009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文本框 196"/>
          <p:cNvSpPr txBox="1"/>
          <p:nvPr/>
        </p:nvSpPr>
        <p:spPr>
          <a:xfrm>
            <a:off x="7979359" y="4694848"/>
            <a:ext cx="92026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写入缓存，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重置逻辑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过期时间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7629073" y="5382804"/>
            <a:ext cx="114446" cy="308222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199" name="肘形连接符 25"/>
          <p:cNvCxnSpPr>
            <a:endCxn id="198" idx="3"/>
          </p:cNvCxnSpPr>
          <p:nvPr/>
        </p:nvCxnSpPr>
        <p:spPr>
          <a:xfrm rot="16200000" flipH="1">
            <a:off x="7615445" y="5408841"/>
            <a:ext cx="198148" cy="57999"/>
          </a:xfrm>
          <a:prstGeom prst="bentConnector4">
            <a:avLst>
              <a:gd name="adj1" fmla="val 11112"/>
              <a:gd name="adj2" fmla="val 494145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文本框 199"/>
          <p:cNvSpPr txBox="1"/>
          <p:nvPr/>
        </p:nvSpPr>
        <p:spPr>
          <a:xfrm>
            <a:off x="7968406" y="5365334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释放锁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01" name="直接箭头连接符 200"/>
          <p:cNvCxnSpPr/>
          <p:nvPr/>
        </p:nvCxnSpPr>
        <p:spPr>
          <a:xfrm>
            <a:off x="6039465" y="3754358"/>
            <a:ext cx="1524974" cy="0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文本框 201"/>
          <p:cNvSpPr txBox="1"/>
          <p:nvPr/>
        </p:nvSpPr>
        <p:spPr>
          <a:xfrm>
            <a:off x="6324190" y="3554482"/>
            <a:ext cx="10644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开启新线程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03" name="矩形 202"/>
          <p:cNvSpPr/>
          <p:nvPr/>
        </p:nvSpPr>
        <p:spPr>
          <a:xfrm>
            <a:off x="10467536" y="195249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04" name="直线连接符 8"/>
          <p:cNvCxnSpPr>
            <a:stCxn id="203" idx="2"/>
          </p:cNvCxnSpPr>
          <p:nvPr/>
        </p:nvCxnSpPr>
        <p:spPr>
          <a:xfrm>
            <a:off x="10785168" y="233364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矩形 204"/>
          <p:cNvSpPr/>
          <p:nvPr/>
        </p:nvSpPr>
        <p:spPr>
          <a:xfrm>
            <a:off x="10728281" y="5365334"/>
            <a:ext cx="108907" cy="74385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206" name="矩形 205"/>
          <p:cNvSpPr/>
          <p:nvPr/>
        </p:nvSpPr>
        <p:spPr>
          <a:xfrm>
            <a:off x="10780742" y="5476111"/>
            <a:ext cx="135592" cy="381148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207" name="肘形连接符 25"/>
          <p:cNvCxnSpPr>
            <a:endCxn id="206" idx="3"/>
          </p:cNvCxnSpPr>
          <p:nvPr/>
        </p:nvCxnSpPr>
        <p:spPr>
          <a:xfrm rot="16200000" flipH="1">
            <a:off x="10759456" y="5509807"/>
            <a:ext cx="234610" cy="79146"/>
          </a:xfrm>
          <a:prstGeom prst="bentConnector4">
            <a:avLst>
              <a:gd name="adj1" fmla="val 9385"/>
              <a:gd name="adj2" fmla="val 388833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文本框 207"/>
          <p:cNvSpPr txBox="1"/>
          <p:nvPr/>
        </p:nvSpPr>
        <p:spPr>
          <a:xfrm>
            <a:off x="11107221" y="5463699"/>
            <a:ext cx="93266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命中缓存，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并且没有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过期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09" name="直接连接符 208"/>
          <p:cNvCxnSpPr/>
          <p:nvPr/>
        </p:nvCxnSpPr>
        <p:spPr>
          <a:xfrm flipV="1">
            <a:off x="5445211" y="5279284"/>
            <a:ext cx="6497973" cy="26568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1" name="文本占位符 1"/>
          <p:cNvSpPr txBox="1"/>
          <p:nvPr/>
        </p:nvSpPr>
        <p:spPr>
          <a:xfrm>
            <a:off x="2179423" y="1376305"/>
            <a:ext cx="950335" cy="490923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b="1" dirty="0"/>
              <a:t>互斥锁</a:t>
            </a:r>
            <a:endParaRPr lang="en-US" altLang="zh-CN" sz="1400" b="1" dirty="0"/>
          </a:p>
        </p:txBody>
      </p:sp>
      <p:sp>
        <p:nvSpPr>
          <p:cNvPr id="212" name="矩形: 圆角 211"/>
          <p:cNvSpPr/>
          <p:nvPr/>
        </p:nvSpPr>
        <p:spPr bwMode="auto">
          <a:xfrm>
            <a:off x="3704734" y="4854803"/>
            <a:ext cx="1084082" cy="4336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强一致</a:t>
            </a:r>
            <a:endParaRPr lang="zh-CN" altLang="en-US" sz="1400" b="1" dirty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" name="矩形: 圆角 212"/>
          <p:cNvSpPr/>
          <p:nvPr/>
        </p:nvSpPr>
        <p:spPr bwMode="auto">
          <a:xfrm>
            <a:off x="3714161" y="5373277"/>
            <a:ext cx="1084082" cy="4336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性能差</a:t>
            </a:r>
            <a:endParaRPr lang="zh-CN" altLang="en-US" sz="1400" b="1" dirty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" name="矩形: 圆角 213"/>
          <p:cNvSpPr/>
          <p:nvPr/>
        </p:nvSpPr>
        <p:spPr bwMode="auto">
          <a:xfrm>
            <a:off x="5222449" y="4845376"/>
            <a:ext cx="1084082" cy="4336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高可用</a:t>
            </a:r>
            <a:endParaRPr lang="zh-CN" altLang="en-US" sz="1400" b="1" dirty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" name="矩形: 圆角 214"/>
          <p:cNvSpPr/>
          <p:nvPr/>
        </p:nvSpPr>
        <p:spPr bwMode="auto">
          <a:xfrm>
            <a:off x="5231876" y="5363850"/>
            <a:ext cx="1084082" cy="43363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性能优</a:t>
            </a:r>
            <a:endParaRPr lang="zh-CN" altLang="en-US" sz="1400" b="1" dirty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18" name="表格 217"/>
          <p:cNvGraphicFramePr>
            <a:graphicFrameLocks noGrp="1"/>
          </p:cNvGraphicFramePr>
          <p:nvPr/>
        </p:nvGraphicFramePr>
        <p:xfrm>
          <a:off x="5715000" y="829945"/>
          <a:ext cx="5881657" cy="5486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639102"/>
                <a:gridCol w="4242555"/>
              </a:tblGrid>
              <a:tr h="2370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KEY</a:t>
                      </a:r>
                      <a:endParaRPr lang="zh-CN" altLang="en-US" sz="12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VALUE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</a:tr>
              <a:tr h="2717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9" name="Rectangle 3"/>
          <p:cNvSpPr>
            <a:spLocks noChangeArrowheads="1"/>
          </p:cNvSpPr>
          <p:nvPr/>
        </p:nvSpPr>
        <p:spPr bwMode="auto">
          <a:xfrm>
            <a:off x="7447280" y="1104049"/>
            <a:ext cx="4145280" cy="2923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{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"id"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"123"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"title"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黑马程序员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"expire"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153213455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: 圆角 3"/>
          <p:cNvSpPr/>
          <p:nvPr/>
        </p:nvSpPr>
        <p:spPr bwMode="auto">
          <a:xfrm>
            <a:off x="9239838" y="1519286"/>
            <a:ext cx="1685828" cy="30951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不设置过期时间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00"/>
                            </p:stCondLst>
                            <p:childTnLst>
                              <p:par>
                                <p:cTn id="2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00"/>
                            </p:stCondLst>
                            <p:childTnLst>
                              <p:par>
                                <p:cTn id="21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500"/>
                            </p:stCondLst>
                            <p:childTnLst>
                              <p:par>
                                <p:cTn id="2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"/>
                            </p:stCondLst>
                            <p:childTnLst>
                              <p:par>
                                <p:cTn id="2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00"/>
                            </p:stCondLst>
                            <p:childTnLst>
                              <p:par>
                                <p:cTn id="2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500"/>
                            </p:stCondLst>
                            <p:childTnLst>
                              <p:par>
                                <p:cTn id="27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500"/>
                            </p:stCondLst>
                            <p:childTnLst>
                              <p:par>
                                <p:cTn id="2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500"/>
                            </p:stCondLst>
                            <p:childTnLst>
                              <p:par>
                                <p:cTn id="29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500"/>
                            </p:stCondLst>
                            <p:childTnLst>
                              <p:par>
                                <p:cTn id="31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500"/>
                            </p:stCondLst>
                            <p:childTnLst>
                              <p:par>
                                <p:cTn id="3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9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500"/>
                            </p:stCondLst>
                            <p:childTnLst>
                              <p:par>
                                <p:cTn id="3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500"/>
                            </p:stCondLst>
                            <p:childTnLst>
                              <p:par>
                                <p:cTn id="3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3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9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5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5" grpId="0"/>
      <p:bldP spid="16" grpId="0" animBg="1"/>
      <p:bldP spid="18" grpId="0"/>
      <p:bldP spid="19" grpId="0" animBg="1"/>
      <p:bldP spid="21" grpId="0"/>
      <p:bldP spid="22" grpId="0" animBg="1"/>
      <p:bldP spid="24" grpId="0"/>
      <p:bldP spid="25" grpId="0" animBg="1"/>
      <p:bldP spid="27" grpId="0"/>
      <p:bldP spid="28" grpId="0" animBg="1"/>
      <p:bldP spid="30" grpId="0" animBg="1"/>
      <p:bldP spid="31" grpId="0" animBg="1"/>
      <p:bldP spid="33" grpId="0"/>
      <p:bldP spid="34" grpId="0" animBg="1"/>
      <p:bldP spid="36" grpId="0"/>
      <p:bldP spid="37" grpId="0" animBg="1"/>
      <p:bldP spid="39" grpId="0"/>
      <p:bldP spid="41" grpId="0" animBg="1"/>
      <p:bldP spid="42" grpId="0"/>
      <p:bldP spid="43" grpId="0"/>
      <p:bldP spid="44" grpId="0" animBg="1"/>
      <p:bldP spid="45" grpId="0" animBg="1"/>
      <p:bldP spid="165" grpId="0" animBg="1"/>
      <p:bldP spid="167" grpId="0" animBg="1"/>
      <p:bldP spid="168" grpId="0" animBg="1"/>
      <p:bldP spid="170" grpId="0"/>
      <p:bldP spid="171" grpId="0" animBg="1"/>
      <p:bldP spid="173" grpId="0"/>
      <p:bldP spid="174" grpId="0" animBg="1"/>
      <p:bldP spid="176" grpId="0"/>
      <p:bldP spid="177" grpId="0" animBg="1"/>
      <p:bldP spid="179" grpId="0" animBg="1"/>
      <p:bldP spid="180" grpId="0" animBg="1"/>
      <p:bldP spid="182" grpId="0"/>
      <p:bldP spid="183" grpId="0" animBg="1"/>
      <p:bldP spid="185" grpId="0"/>
      <p:bldP spid="186" grpId="0" animBg="1"/>
      <p:bldP spid="188" grpId="0"/>
      <p:bldP spid="189" grpId="0" animBg="1"/>
      <p:bldP spid="191" grpId="0" animBg="1"/>
      <p:bldP spid="192" grpId="0" animBg="1"/>
      <p:bldP spid="194" grpId="0"/>
      <p:bldP spid="195" grpId="0" animBg="1"/>
      <p:bldP spid="197" grpId="0"/>
      <p:bldP spid="198" grpId="0" animBg="1"/>
      <p:bldP spid="200" grpId="0"/>
      <p:bldP spid="202" grpId="0"/>
      <p:bldP spid="203" grpId="0" animBg="1"/>
      <p:bldP spid="205" grpId="0" animBg="1"/>
      <p:bldP spid="206" grpId="0" animBg="1"/>
      <p:bldP spid="208" grpId="0"/>
      <p:bldP spid="212" grpId="0" animBg="1"/>
      <p:bldP spid="213" grpId="0" animBg="1"/>
      <p:bldP spid="214" grpId="0" animBg="1"/>
      <p:bldP spid="215" grpId="0" animBg="1"/>
      <p:bldP spid="219" grpId="0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63040"/>
            <a:ext cx="5760538" cy="119531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缓存击穿</a:t>
            </a:r>
            <a:endParaRPr lang="zh-CN" altLang="en-US" dirty="0"/>
          </a:p>
        </p:txBody>
      </p:sp>
      <p:sp>
        <p:nvSpPr>
          <p:cNvPr id="3" name="文本占位符 2"/>
          <p:cNvSpPr txBox="1"/>
          <p:nvPr/>
        </p:nvSpPr>
        <p:spPr>
          <a:xfrm>
            <a:off x="5252012" y="2466271"/>
            <a:ext cx="6192128" cy="171922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缓存击穿：</a:t>
            </a:r>
            <a:r>
              <a:rPr lang="zh-CN" altLang="en-US" sz="1400" dirty="0"/>
              <a:t>给某一个</a:t>
            </a:r>
            <a:r>
              <a:rPr lang="en-US" altLang="zh-CN" sz="1400" dirty="0"/>
              <a:t>key</a:t>
            </a:r>
            <a:r>
              <a:rPr lang="zh-CN" altLang="en-US" sz="1400" dirty="0"/>
              <a:t>设置了过期时间，当</a:t>
            </a:r>
            <a:r>
              <a:rPr lang="en-US" altLang="zh-CN" sz="1400" dirty="0"/>
              <a:t>key</a:t>
            </a:r>
            <a:r>
              <a:rPr lang="zh-CN" altLang="en-US" sz="1400" dirty="0"/>
              <a:t>过期的时候，恰好这时间点对这个</a:t>
            </a:r>
            <a:r>
              <a:rPr lang="en-US" altLang="zh-CN" sz="1400" dirty="0"/>
              <a:t>key</a:t>
            </a:r>
            <a:r>
              <a:rPr lang="zh-CN" altLang="en-US" sz="1400" dirty="0"/>
              <a:t>有大量的并发请求过来，这些并发的请求可能会瞬间把</a:t>
            </a:r>
            <a:r>
              <a:rPr lang="en-US" altLang="zh-CN" sz="1400" dirty="0"/>
              <a:t>DB</a:t>
            </a:r>
            <a:r>
              <a:rPr lang="zh-CN" altLang="en-US" sz="1400" dirty="0"/>
              <a:t>压垮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解决方案一</a:t>
            </a:r>
            <a:r>
              <a:rPr lang="zh-CN" altLang="en-US" sz="1400" dirty="0"/>
              <a:t>：互斥锁，强一致，性能差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解决方案二</a:t>
            </a:r>
            <a:r>
              <a:rPr lang="zh-CN" altLang="en-US" sz="1400" dirty="0"/>
              <a:t>：逻辑过期，高可用，性能优，不能保证数据绝对一致</a:t>
            </a:r>
            <a:endParaRPr lang="zh-CN" altLang="en-US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sz="1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07262" y="1270441"/>
            <a:ext cx="6555305" cy="537382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缓存雪崩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647656"/>
          </a:xfrm>
        </p:spPr>
        <p:txBody>
          <a:bodyPr/>
          <a:lstStyle/>
          <a:p>
            <a:r>
              <a:rPr lang="zh-CN" altLang="en-US" b="1" dirty="0"/>
              <a:t>缓存雪崩</a:t>
            </a:r>
            <a:r>
              <a:rPr lang="zh-CN" altLang="en-US" dirty="0"/>
              <a:t>是指在同一时段大量的缓存</a:t>
            </a:r>
            <a:r>
              <a:rPr lang="en-US" altLang="zh-CN" dirty="0"/>
              <a:t>key</a:t>
            </a:r>
            <a:r>
              <a:rPr lang="zh-CN" altLang="en-US" dirty="0"/>
              <a:t>同时失效或者</a:t>
            </a:r>
            <a:r>
              <a:rPr lang="en-US" altLang="zh-CN" dirty="0"/>
              <a:t>Redis</a:t>
            </a:r>
            <a:r>
              <a:rPr lang="zh-CN" altLang="en-US" dirty="0"/>
              <a:t>服务宕机，导致大量请求到达数据库，带来巨大压力。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8506" y="789734"/>
            <a:ext cx="7259571" cy="16125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矩形: 圆角 4"/>
          <p:cNvSpPr/>
          <p:nvPr/>
        </p:nvSpPr>
        <p:spPr bwMode="auto">
          <a:xfrm>
            <a:off x="1564850" y="2748495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请求数据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3469065" y="2962373"/>
            <a:ext cx="172510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016" y="2711982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8" name="直接箭头连接符 7"/>
          <p:cNvCxnSpPr/>
          <p:nvPr/>
        </p:nvCxnSpPr>
        <p:spPr>
          <a:xfrm flipH="1">
            <a:off x="3469065" y="3279947"/>
            <a:ext cx="1734531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图: 磁盘 8"/>
          <p:cNvSpPr/>
          <p:nvPr/>
        </p:nvSpPr>
        <p:spPr bwMode="auto">
          <a:xfrm>
            <a:off x="9643621" y="2748495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6570483" y="3100838"/>
            <a:ext cx="287517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/>
          <p:cNvCxnSpPr>
            <a:stCxn id="9" idx="3"/>
            <a:endCxn id="5" idx="2"/>
          </p:cNvCxnSpPr>
          <p:nvPr/>
        </p:nvCxnSpPr>
        <p:spPr>
          <a:xfrm rot="5400000">
            <a:off x="6304758" y="-483123"/>
            <a:ext cx="135526" cy="7824247"/>
          </a:xfrm>
          <a:prstGeom prst="bentConnector3">
            <a:avLst>
              <a:gd name="adj1" fmla="val 679062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2"/>
          <p:cNvSpPr txBox="1"/>
          <p:nvPr/>
        </p:nvSpPr>
        <p:spPr>
          <a:xfrm>
            <a:off x="3950560" y="2560212"/>
            <a:ext cx="96080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</a:t>
            </a:r>
            <a:r>
              <a:rPr lang="en-US" altLang="zh-CN" sz="1200" dirty="0" err="1"/>
              <a:t>redis</a:t>
            </a:r>
            <a:endParaRPr lang="zh-CN" altLang="en-US" sz="1200" dirty="0"/>
          </a:p>
        </p:txBody>
      </p:sp>
      <p:sp>
        <p:nvSpPr>
          <p:cNvPr id="13" name="文本占位符 2"/>
          <p:cNvSpPr txBox="1"/>
          <p:nvPr/>
        </p:nvSpPr>
        <p:spPr>
          <a:xfrm>
            <a:off x="3714889" y="2937284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  <a:endParaRPr lang="zh-CN" altLang="en-US" sz="1200" dirty="0"/>
          </a:p>
        </p:txBody>
      </p:sp>
      <p:sp>
        <p:nvSpPr>
          <p:cNvPr id="14" name="文本占位符 2"/>
          <p:cNvSpPr txBox="1"/>
          <p:nvPr/>
        </p:nvSpPr>
        <p:spPr>
          <a:xfrm>
            <a:off x="6800593" y="2713397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15" name="文本占位符 2"/>
          <p:cNvSpPr txBox="1"/>
          <p:nvPr/>
        </p:nvSpPr>
        <p:spPr>
          <a:xfrm>
            <a:off x="5209881" y="3901174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21" name="文本占位符 2"/>
          <p:cNvSpPr txBox="1"/>
          <p:nvPr/>
        </p:nvSpPr>
        <p:spPr>
          <a:xfrm>
            <a:off x="746600" y="4421171"/>
            <a:ext cx="3542596" cy="220489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解决方案：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给不同的</a:t>
            </a:r>
            <a:r>
              <a:rPr lang="en-US" altLang="zh-CN" dirty="0"/>
              <a:t>Key</a:t>
            </a:r>
            <a:r>
              <a:rPr lang="zh-CN" altLang="en-US" dirty="0"/>
              <a:t>的</a:t>
            </a:r>
            <a:r>
              <a:rPr lang="en-US" altLang="zh-CN" dirty="0"/>
              <a:t>TTL</a:t>
            </a:r>
            <a:r>
              <a:rPr lang="zh-CN" altLang="en-US" dirty="0"/>
              <a:t>添加随机值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利用</a:t>
            </a:r>
            <a:r>
              <a:rPr lang="en-US" altLang="zh-CN" dirty="0"/>
              <a:t>Redis</a:t>
            </a:r>
            <a:r>
              <a:rPr lang="zh-CN" altLang="en-US" dirty="0"/>
              <a:t>集群提高服务的可用性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给缓存业务添加降级限流策略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给业务添加多级缓存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2" name="文本占位符 2"/>
          <p:cNvSpPr txBox="1"/>
          <p:nvPr/>
        </p:nvSpPr>
        <p:spPr>
          <a:xfrm>
            <a:off x="5320585" y="2402313"/>
            <a:ext cx="1080215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rgbClr val="C00000"/>
                </a:solidFill>
              </a:rPr>
              <a:t>大量</a:t>
            </a:r>
            <a:r>
              <a:rPr lang="en-US" altLang="zh-CN" sz="1200" dirty="0">
                <a:solidFill>
                  <a:srgbClr val="C00000"/>
                </a:solidFill>
              </a:rPr>
              <a:t>key</a:t>
            </a:r>
            <a:r>
              <a:rPr lang="zh-CN" altLang="en-US" sz="1200" dirty="0">
                <a:solidFill>
                  <a:srgbClr val="C00000"/>
                </a:solidFill>
              </a:rPr>
              <a:t>过期</a:t>
            </a:r>
            <a:endParaRPr lang="zh-CN" altLang="en-US" sz="1200" dirty="0">
              <a:solidFill>
                <a:srgbClr val="C00000"/>
              </a:solidFill>
            </a:endParaRPr>
          </a:p>
        </p:txBody>
      </p:sp>
      <p:sp>
        <p:nvSpPr>
          <p:cNvPr id="35" name="爆炸形: 8 pt  34"/>
          <p:cNvSpPr/>
          <p:nvPr/>
        </p:nvSpPr>
        <p:spPr>
          <a:xfrm>
            <a:off x="4670806" y="2638531"/>
            <a:ext cx="2524737" cy="1065300"/>
          </a:xfrm>
          <a:prstGeom prst="irregularSeal1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Redis</a:t>
            </a:r>
            <a:r>
              <a:rPr lang="zh-CN" altLang="en-US" dirty="0"/>
              <a:t>宕机</a:t>
            </a:r>
            <a:endParaRPr lang="zh-CN" altLang="en-US" dirty="0"/>
          </a:p>
        </p:txBody>
      </p:sp>
      <p:sp>
        <p:nvSpPr>
          <p:cNvPr id="36" name="文本占位符 2"/>
          <p:cNvSpPr txBox="1"/>
          <p:nvPr/>
        </p:nvSpPr>
        <p:spPr>
          <a:xfrm>
            <a:off x="4324702" y="5241303"/>
            <a:ext cx="3542596" cy="4524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哨兵模式、集群模式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7" name="文本占位符 2"/>
          <p:cNvSpPr txBox="1"/>
          <p:nvPr/>
        </p:nvSpPr>
        <p:spPr>
          <a:xfrm>
            <a:off x="4324702" y="5665509"/>
            <a:ext cx="3542596" cy="4524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>
                <a:solidFill>
                  <a:srgbClr val="C00000"/>
                </a:solidFill>
              </a:rPr>
              <a:t>ngxin</a:t>
            </a:r>
            <a:r>
              <a:rPr lang="zh-CN" altLang="en-US" dirty="0">
                <a:solidFill>
                  <a:srgbClr val="C00000"/>
                </a:solidFill>
              </a:rPr>
              <a:t>或</a:t>
            </a:r>
            <a:r>
              <a:rPr lang="en-US" altLang="zh-CN" dirty="0">
                <a:solidFill>
                  <a:srgbClr val="C00000"/>
                </a:solidFill>
              </a:rPr>
              <a:t>spring cloud gateway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8" name="文本占位符 2"/>
          <p:cNvSpPr txBox="1"/>
          <p:nvPr/>
        </p:nvSpPr>
        <p:spPr>
          <a:xfrm>
            <a:off x="4324702" y="6165130"/>
            <a:ext cx="3542596" cy="4524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Guava</a:t>
            </a:r>
            <a:r>
              <a:rPr lang="zh-CN" altLang="en-US" dirty="0">
                <a:solidFill>
                  <a:srgbClr val="C00000"/>
                </a:solidFill>
              </a:rPr>
              <a:t>或</a:t>
            </a:r>
            <a:r>
              <a:rPr lang="en-US" altLang="zh-CN" dirty="0">
                <a:solidFill>
                  <a:srgbClr val="C00000"/>
                </a:solidFill>
              </a:rPr>
              <a:t>Caffeine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2" grpId="0"/>
      <p:bldP spid="13" grpId="0"/>
      <p:bldP spid="14" grpId="0"/>
      <p:bldP spid="15" grpId="0"/>
      <p:bldP spid="22" grpId="0"/>
      <p:bldP spid="35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38644" y="762648"/>
            <a:ext cx="5760538" cy="156296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缓存雪崩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文本占位符 2"/>
          <p:cNvSpPr txBox="1"/>
          <p:nvPr/>
        </p:nvSpPr>
        <p:spPr>
          <a:xfrm>
            <a:off x="4345232" y="1630295"/>
            <a:ext cx="7434964" cy="257205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zh-CN" altLang="en-US" sz="1400" b="1" dirty="0"/>
              <a:t>缓存雪崩</a:t>
            </a:r>
            <a:r>
              <a:rPr lang="zh-CN" altLang="en-US" sz="1400" dirty="0"/>
              <a:t>是指在同一时段大量的缓存</a:t>
            </a:r>
            <a:r>
              <a:rPr lang="en-US" altLang="zh-CN" sz="1400" dirty="0"/>
              <a:t>key</a:t>
            </a:r>
            <a:r>
              <a:rPr lang="zh-CN" altLang="en-US" sz="1400" dirty="0"/>
              <a:t>同时失效或者</a:t>
            </a:r>
            <a:r>
              <a:rPr lang="en-US" altLang="zh-CN" sz="1400" dirty="0"/>
              <a:t>Redis</a:t>
            </a:r>
            <a:r>
              <a:rPr lang="zh-CN" altLang="en-US" sz="1400" dirty="0"/>
              <a:t>服务宕机，导致大量请求到达数据库，带来巨大压力。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b="1" dirty="0"/>
              <a:t>解决方案：</a:t>
            </a:r>
            <a:endParaRPr lang="en-US" altLang="zh-CN" sz="1400" b="1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给不同的</a:t>
            </a:r>
            <a:r>
              <a:rPr lang="en-US" altLang="zh-CN" sz="1400" dirty="0"/>
              <a:t>Key</a:t>
            </a:r>
            <a:r>
              <a:rPr lang="zh-CN" altLang="en-US" sz="1400" dirty="0"/>
              <a:t>的</a:t>
            </a:r>
            <a:r>
              <a:rPr lang="en-US" altLang="zh-CN" sz="1400" dirty="0"/>
              <a:t>TTL</a:t>
            </a:r>
            <a:r>
              <a:rPr lang="zh-CN" altLang="en-US" sz="1400" dirty="0"/>
              <a:t>添加随机值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利用</a:t>
            </a:r>
            <a:r>
              <a:rPr lang="en-US" altLang="zh-CN" sz="1400" dirty="0"/>
              <a:t>Redis</a:t>
            </a:r>
            <a:r>
              <a:rPr lang="zh-CN" altLang="en-US" sz="1400" dirty="0"/>
              <a:t>集群提高服务的可用性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给缓存业务添加降级限流策略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给业务添加多级缓存</a:t>
            </a:r>
            <a:endParaRPr lang="en-US" altLang="zh-CN" sz="1400" dirty="0"/>
          </a:p>
        </p:txBody>
      </p:sp>
      <p:sp>
        <p:nvSpPr>
          <p:cNvPr id="4" name="文本占位符 2"/>
          <p:cNvSpPr txBox="1"/>
          <p:nvPr/>
        </p:nvSpPr>
        <p:spPr>
          <a:xfrm>
            <a:off x="7166254" y="3399816"/>
            <a:ext cx="4506938" cy="53988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降级可做为系统的保底策略，适用于穿透、击穿、雪崩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94683" y="4305158"/>
            <a:ext cx="7196507" cy="24858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文本占位符 2"/>
          <p:cNvSpPr txBox="1"/>
          <p:nvPr/>
        </p:nvSpPr>
        <p:spPr>
          <a:xfrm>
            <a:off x="6405245" y="4445635"/>
            <a:ext cx="6210300" cy="220472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《</a:t>
            </a:r>
            <a:r>
              <a:rPr lang="zh-CN" altLang="en-US" b="1" dirty="0"/>
              <a:t>缓存三兄弟</a:t>
            </a:r>
            <a:r>
              <a:rPr lang="en-US" altLang="zh-CN" b="1" dirty="0"/>
              <a:t>》</a:t>
            </a:r>
            <a:endParaRPr lang="en-US" altLang="zh-CN" b="1" dirty="0"/>
          </a:p>
          <a:p>
            <a:r>
              <a:rPr lang="zh-CN" altLang="en-US" dirty="0"/>
              <a:t>穿透无中生有</a:t>
            </a:r>
            <a:r>
              <a:rPr lang="en-US" altLang="zh-CN" dirty="0"/>
              <a:t>key</a:t>
            </a:r>
            <a:r>
              <a:rPr lang="zh-CN" altLang="en-US" dirty="0"/>
              <a:t>，布隆过滤</a:t>
            </a:r>
            <a:r>
              <a:rPr lang="en-US" altLang="zh-CN" dirty="0"/>
              <a:t>null</a:t>
            </a:r>
            <a:r>
              <a:rPr lang="zh-CN" altLang="en-US" dirty="0"/>
              <a:t>隔离。</a:t>
            </a:r>
            <a:endParaRPr lang="en-US" altLang="zh-CN" dirty="0"/>
          </a:p>
          <a:p>
            <a:r>
              <a:rPr lang="zh-CN" altLang="en-US" dirty="0"/>
              <a:t>缓存击穿过期</a:t>
            </a:r>
            <a:r>
              <a:rPr lang="en-US" altLang="zh-CN" dirty="0"/>
              <a:t>key</a:t>
            </a:r>
            <a:r>
              <a:rPr lang="zh-CN" altLang="en-US" dirty="0"/>
              <a:t>， 锁与非期解难题。</a:t>
            </a:r>
            <a:endParaRPr lang="en-US" altLang="zh-CN" dirty="0"/>
          </a:p>
          <a:p>
            <a:r>
              <a:rPr lang="zh-CN" altLang="en-US" dirty="0"/>
              <a:t>雪崩大量过期</a:t>
            </a:r>
            <a:r>
              <a:rPr lang="en-US" altLang="zh-CN" dirty="0"/>
              <a:t>key</a:t>
            </a:r>
            <a:r>
              <a:rPr lang="zh-CN" altLang="en-US" dirty="0"/>
              <a:t>，过期时间要随机。</a:t>
            </a:r>
            <a:endParaRPr lang="en-US" altLang="zh-CN" dirty="0"/>
          </a:p>
          <a:p>
            <a:r>
              <a:rPr lang="zh-CN" altLang="en-US" dirty="0"/>
              <a:t>面试必考三兄弟，可用限流来保底。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/>
          <p:cNvSpPr/>
          <p:nvPr/>
        </p:nvSpPr>
        <p:spPr>
          <a:xfrm>
            <a:off x="7156865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423719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/>
          <p:cNvSpPr txBox="1"/>
          <p:nvPr/>
        </p:nvSpPr>
        <p:spPr>
          <a:xfrm>
            <a:off x="888365" y="91945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000" dirty="0"/>
              <a:t>先删除缓存，还是先修改数据库</a:t>
            </a:r>
            <a:endParaRPr lang="en-US" altLang="zh-CN" sz="2000" dirty="0"/>
          </a:p>
        </p:txBody>
      </p:sp>
      <p:sp>
        <p:nvSpPr>
          <p:cNvPr id="25" name="文本占位符 1"/>
          <p:cNvSpPr txBox="1"/>
          <p:nvPr/>
        </p:nvSpPr>
        <p:spPr>
          <a:xfrm>
            <a:off x="1863304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dirty="0"/>
              <a:t>先删除缓存，再操作数据库</a:t>
            </a:r>
            <a:endParaRPr lang="en-US" altLang="zh-CN" sz="1400" dirty="0"/>
          </a:p>
        </p:txBody>
      </p:sp>
      <p:sp>
        <p:nvSpPr>
          <p:cNvPr id="27" name="文本占位符 1"/>
          <p:cNvSpPr txBox="1"/>
          <p:nvPr/>
        </p:nvSpPr>
        <p:spPr>
          <a:xfrm>
            <a:off x="7636288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/>
              <a:t>先操作数据库，再删除缓存</a:t>
            </a:r>
            <a:endParaRPr lang="en-US" altLang="zh-CN" sz="1400"/>
          </a:p>
        </p:txBody>
      </p:sp>
      <p:sp>
        <p:nvSpPr>
          <p:cNvPr id="23" name="矩形 22"/>
          <p:cNvSpPr/>
          <p:nvPr/>
        </p:nvSpPr>
        <p:spPr>
          <a:xfrm>
            <a:off x="1608844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28" name="直线连接符 8"/>
          <p:cNvCxnSpPr>
            <a:stCxn id="23" idx="2"/>
          </p:cNvCxnSpPr>
          <p:nvPr/>
        </p:nvCxnSpPr>
        <p:spPr>
          <a:xfrm>
            <a:off x="1926476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1863304" y="2917501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917303" y="308226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1" name="肘形连接符 25"/>
          <p:cNvCxnSpPr>
            <a:endCxn id="30" idx="3"/>
          </p:cNvCxnSpPr>
          <p:nvPr/>
        </p:nvCxnSpPr>
        <p:spPr>
          <a:xfrm rot="16200000" flipH="1">
            <a:off x="1841323" y="310070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304372" y="3015821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删除缓存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360949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>
                <a:solidFill>
                  <a:srgbClr val="4C5252"/>
                </a:solidFill>
              </a:rPr>
              <a:t>线程</a:t>
            </a:r>
            <a:r>
              <a:rPr kumimoji="1" lang="en-US" altLang="zh-CN" sz="110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34" name="直线连接符 8"/>
          <p:cNvCxnSpPr>
            <a:stCxn id="33" idx="2"/>
          </p:cNvCxnSpPr>
          <p:nvPr/>
        </p:nvCxnSpPr>
        <p:spPr>
          <a:xfrm>
            <a:off x="3678581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624582" y="4717039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678581" y="4881806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7" name="肘形连接符 25"/>
          <p:cNvCxnSpPr>
            <a:endCxn id="36" idx="3"/>
          </p:cNvCxnSpPr>
          <p:nvPr/>
        </p:nvCxnSpPr>
        <p:spPr>
          <a:xfrm rot="16200000" flipH="1">
            <a:off x="3602601" y="4900238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4065650" y="4815359"/>
            <a:ext cx="105690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查询缓存，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未命中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,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查询数据库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861327" y="383885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915326" y="400361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4" name="肘形连接符 25"/>
          <p:cNvCxnSpPr>
            <a:endCxn id="43" idx="3"/>
          </p:cNvCxnSpPr>
          <p:nvPr/>
        </p:nvCxnSpPr>
        <p:spPr>
          <a:xfrm rot="16200000" flipH="1">
            <a:off x="1839346" y="402204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2302395" y="3937170"/>
            <a:ext cx="10569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2.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更新数据库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  v = 20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624582" y="5625812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678581" y="5790579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8" name="肘形连接符 25"/>
          <p:cNvCxnSpPr>
            <a:endCxn id="47" idx="3"/>
          </p:cNvCxnSpPr>
          <p:nvPr/>
        </p:nvCxnSpPr>
        <p:spPr>
          <a:xfrm rot="16200000" flipH="1">
            <a:off x="3602601" y="5809011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4065650" y="5724132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 </a:t>
            </a:r>
            <a:r>
              <a:rPr lang="zh-CN" altLang="en-US" sz="1050">
                <a:solidFill>
                  <a:schemeClr val="tx1">
                    <a:lumMod val="65000"/>
                    <a:lumOff val="35000"/>
                  </a:schemeClr>
                </a:solidFill>
              </a:rPr>
              <a:t>写入缓存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434715" y="1460530"/>
            <a:ext cx="1322570" cy="277001"/>
            <a:chOff x="5307862" y="1460528"/>
            <a:chExt cx="1322570" cy="277001"/>
          </a:xfrm>
        </p:grpSpPr>
        <p:sp>
          <p:nvSpPr>
            <p:cNvPr id="17" name="矩形 16"/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缓存</a:t>
              </a:r>
              <a:endParaRPr lang="zh-CN" altLang="en-US" sz="1400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429148" y="2095502"/>
            <a:ext cx="1322570" cy="277001"/>
            <a:chOff x="5307862" y="1460528"/>
            <a:chExt cx="1322570" cy="277001"/>
          </a:xfrm>
        </p:grpSpPr>
        <p:sp>
          <p:nvSpPr>
            <p:cNvPr id="72" name="矩形 71"/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5307862" y="1460529"/>
              <a:ext cx="728229" cy="276999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数据库</a:t>
              </a:r>
              <a:endParaRPr lang="zh-CN" altLang="en-US" sz="1400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6281390" y="1429753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281389" y="2064726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278815" y="2070501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278815" y="1423467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9" grpId="0" animBg="1"/>
      <p:bldP spid="30" grpId="0" animBg="1"/>
      <p:bldP spid="15" grpId="0"/>
      <p:bldP spid="33" grpId="0" animBg="1"/>
      <p:bldP spid="35" grpId="0" animBg="1"/>
      <p:bldP spid="36" grpId="0" animBg="1"/>
      <p:bldP spid="38" grpId="0"/>
      <p:bldP spid="42" grpId="0" animBg="1"/>
      <p:bldP spid="43" grpId="0" animBg="1"/>
      <p:bldP spid="45" grpId="0"/>
      <p:bldP spid="46" grpId="0" animBg="1"/>
      <p:bldP spid="47" grpId="0" animBg="1"/>
      <p:bldP spid="49" grpId="0"/>
      <p:bldP spid="19" grpId="0"/>
      <p:bldP spid="19" grpId="1"/>
      <p:bldP spid="74" grpId="0"/>
      <p:bldP spid="74" grpId="1"/>
      <p:bldP spid="76" grpId="0"/>
      <p:bldP spid="7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/>
          <p:cNvSpPr/>
          <p:nvPr/>
        </p:nvSpPr>
        <p:spPr>
          <a:xfrm>
            <a:off x="7156865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423719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/>
          <p:cNvSpPr txBox="1"/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000" dirty="0"/>
              <a:t>先删除缓存，还是先修改数据库</a:t>
            </a:r>
            <a:endParaRPr lang="en-US" altLang="zh-CN" sz="2000" dirty="0"/>
          </a:p>
        </p:txBody>
      </p:sp>
      <p:sp>
        <p:nvSpPr>
          <p:cNvPr id="25" name="文本占位符 1"/>
          <p:cNvSpPr txBox="1"/>
          <p:nvPr/>
        </p:nvSpPr>
        <p:spPr>
          <a:xfrm>
            <a:off x="1863304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dirty="0"/>
              <a:t>先删除缓存，再操作数据库</a:t>
            </a:r>
            <a:endParaRPr lang="en-US" altLang="zh-CN" sz="1400" dirty="0"/>
          </a:p>
        </p:txBody>
      </p:sp>
      <p:sp>
        <p:nvSpPr>
          <p:cNvPr id="27" name="文本占位符 1"/>
          <p:cNvSpPr txBox="1"/>
          <p:nvPr/>
        </p:nvSpPr>
        <p:spPr>
          <a:xfrm>
            <a:off x="7636288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dirty="0"/>
              <a:t>先操作数据库，再删除缓存</a:t>
            </a:r>
            <a:endParaRPr lang="en-US" altLang="zh-CN" sz="1400" dirty="0"/>
          </a:p>
        </p:txBody>
      </p:sp>
      <p:sp>
        <p:nvSpPr>
          <p:cNvPr id="23" name="矩形 22"/>
          <p:cNvSpPr/>
          <p:nvPr/>
        </p:nvSpPr>
        <p:spPr>
          <a:xfrm>
            <a:off x="1608844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1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cxnSp>
        <p:nvCxnSpPr>
          <p:cNvPr id="28" name="直线连接符 8"/>
          <p:cNvCxnSpPr>
            <a:stCxn id="23" idx="2"/>
          </p:cNvCxnSpPr>
          <p:nvPr/>
        </p:nvCxnSpPr>
        <p:spPr>
          <a:xfrm>
            <a:off x="1926476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1863304" y="2917501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917303" y="308226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1" name="肘形连接符 25"/>
          <p:cNvCxnSpPr>
            <a:endCxn id="30" idx="3"/>
          </p:cNvCxnSpPr>
          <p:nvPr/>
        </p:nvCxnSpPr>
        <p:spPr>
          <a:xfrm rot="16200000" flipH="1">
            <a:off x="1841323" y="310070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304372" y="3015821"/>
            <a:ext cx="10569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1.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删除缓存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360949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2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cxnSp>
        <p:nvCxnSpPr>
          <p:cNvPr id="34" name="直线连接符 8"/>
          <p:cNvCxnSpPr>
            <a:stCxn id="33" idx="2"/>
          </p:cNvCxnSpPr>
          <p:nvPr/>
        </p:nvCxnSpPr>
        <p:spPr>
          <a:xfrm>
            <a:off x="3678581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624582" y="3651276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678581" y="3816043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7" name="肘形连接符 25"/>
          <p:cNvCxnSpPr>
            <a:endCxn id="36" idx="3"/>
          </p:cNvCxnSpPr>
          <p:nvPr/>
        </p:nvCxnSpPr>
        <p:spPr>
          <a:xfrm rot="16200000" flipH="1">
            <a:off x="3602601" y="3834475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4065650" y="3749596"/>
            <a:ext cx="10569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2.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查询缓存，</a:t>
            </a:r>
            <a:endParaRPr kumimoji="1" lang="en-US" altLang="zh-CN" sz="1100" dirty="0">
              <a:solidFill>
                <a:srgbClr val="4C5252"/>
              </a:solidFill>
              <a:ea typeface="Alibaba PuHuiTi R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  未命中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,</a:t>
            </a:r>
            <a:endParaRPr kumimoji="1" lang="en-US" altLang="zh-CN" sz="1100" dirty="0">
              <a:solidFill>
                <a:srgbClr val="4C5252"/>
              </a:solidFill>
              <a:ea typeface="Alibaba PuHuiTi R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  查询数据库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863304" y="552737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917303" y="569213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4" name="肘形连接符 25"/>
          <p:cNvCxnSpPr>
            <a:endCxn id="43" idx="3"/>
          </p:cNvCxnSpPr>
          <p:nvPr/>
        </p:nvCxnSpPr>
        <p:spPr>
          <a:xfrm rot="16200000" flipH="1">
            <a:off x="1841323" y="571056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2304372" y="5625690"/>
            <a:ext cx="10569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4.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更新数据库</a:t>
            </a:r>
            <a:endParaRPr kumimoji="1" lang="en-US" altLang="zh-CN" sz="1100" dirty="0">
              <a:solidFill>
                <a:srgbClr val="4C5252"/>
              </a:solidFill>
              <a:ea typeface="Alibaba PuHuiTi R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  v = 20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624582" y="4666924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678581" y="4831691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8" name="肘形连接符 25"/>
          <p:cNvCxnSpPr>
            <a:endCxn id="47" idx="3"/>
          </p:cNvCxnSpPr>
          <p:nvPr/>
        </p:nvCxnSpPr>
        <p:spPr>
          <a:xfrm rot="16200000" flipH="1">
            <a:off x="3602601" y="4850123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4065650" y="4765244"/>
            <a:ext cx="10569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3.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写入缓存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327829" y="242720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51" name="直线连接符 8"/>
          <p:cNvCxnSpPr>
            <a:stCxn id="50" idx="2"/>
          </p:cNvCxnSpPr>
          <p:nvPr/>
        </p:nvCxnSpPr>
        <p:spPr>
          <a:xfrm>
            <a:off x="7645461" y="280835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7591789" y="4686239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645788" y="4851006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4" name="肘形连接符 25"/>
          <p:cNvCxnSpPr>
            <a:endCxn id="53" idx="3"/>
          </p:cNvCxnSpPr>
          <p:nvPr/>
        </p:nvCxnSpPr>
        <p:spPr>
          <a:xfrm rot="16200000" flipH="1">
            <a:off x="7569808" y="4869438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8032857" y="4784559"/>
            <a:ext cx="10565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3.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查询缓存，</a:t>
            </a:r>
            <a:endParaRPr kumimoji="1" lang="en-US" altLang="zh-CN" sz="1100" dirty="0">
              <a:solidFill>
                <a:srgbClr val="4C5252"/>
              </a:solidFill>
              <a:ea typeface="Alibaba PuHuiTi R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未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命中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  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查询数据库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9079934" y="242720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</a:rPr>
              <a:t>2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57" name="直线连接符 8"/>
          <p:cNvCxnSpPr>
            <a:stCxn id="56" idx="2"/>
          </p:cNvCxnSpPr>
          <p:nvPr/>
        </p:nvCxnSpPr>
        <p:spPr>
          <a:xfrm>
            <a:off x="9397566" y="280835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9333483" y="293355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387482" y="309831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0" name="肘形连接符 25"/>
          <p:cNvCxnSpPr>
            <a:endCxn id="59" idx="3"/>
          </p:cNvCxnSpPr>
          <p:nvPr/>
        </p:nvCxnSpPr>
        <p:spPr>
          <a:xfrm rot="16200000" flipH="1">
            <a:off x="9311502" y="311674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9774551" y="3031870"/>
            <a:ext cx="10569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1.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更新数据库</a:t>
            </a:r>
            <a:endParaRPr kumimoji="1" lang="en-US" altLang="zh-CN" sz="1100" dirty="0">
              <a:solidFill>
                <a:srgbClr val="4C5252"/>
              </a:solidFill>
              <a:ea typeface="Alibaba PuHuiTi R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   v = 20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7591462" y="5525492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645461" y="5690259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4" name="肘形连接符 25"/>
          <p:cNvCxnSpPr>
            <a:endCxn id="63" idx="3"/>
          </p:cNvCxnSpPr>
          <p:nvPr/>
        </p:nvCxnSpPr>
        <p:spPr>
          <a:xfrm rot="16200000" flipH="1">
            <a:off x="7569481" y="5708691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8032530" y="5623812"/>
            <a:ext cx="10569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4.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 写入缓存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333483" y="3949198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9387482" y="4113965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8" name="肘形连接符 25"/>
          <p:cNvCxnSpPr>
            <a:endCxn id="67" idx="3"/>
          </p:cNvCxnSpPr>
          <p:nvPr/>
        </p:nvCxnSpPr>
        <p:spPr>
          <a:xfrm rot="16200000" flipH="1">
            <a:off x="9311502" y="4132397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9774551" y="4047518"/>
            <a:ext cx="10569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2.</a:t>
            </a:r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删除缓存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434715" y="1460530"/>
            <a:ext cx="1322570" cy="277001"/>
            <a:chOff x="5307862" y="1460528"/>
            <a:chExt cx="1322570" cy="277001"/>
          </a:xfrm>
        </p:grpSpPr>
        <p:sp>
          <p:nvSpPr>
            <p:cNvPr id="17" name="矩形 16"/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缓存</a:t>
              </a:r>
              <a:endParaRPr lang="zh-CN" altLang="en-US" sz="1400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429148" y="2095502"/>
            <a:ext cx="1322570" cy="277001"/>
            <a:chOff x="5307862" y="1460528"/>
            <a:chExt cx="1322570" cy="277001"/>
          </a:xfrm>
        </p:grpSpPr>
        <p:sp>
          <p:nvSpPr>
            <p:cNvPr id="72" name="矩形 71"/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5307862" y="1460529"/>
              <a:ext cx="728229" cy="276999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数据库</a:t>
              </a:r>
              <a:endParaRPr lang="zh-CN" altLang="en-US" sz="1400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6281390" y="1429753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281389" y="2064726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278815" y="2070501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293138" y="142759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mph" presetSubtype="0" repeatCount="3000" fill="remove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mph" presetSubtype="0" repeatCount="3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6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7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7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7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" dur="250" autoRev="1" fill="remove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2" dur="250" autoRev="1" fill="remove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3" dur="250" autoRev="1" fill="remove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250" autoRev="1" fill="remove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8" grpId="0"/>
      <p:bldP spid="45" grpId="0"/>
      <p:bldP spid="46" grpId="0" animBg="1"/>
      <p:bldP spid="47" grpId="0" animBg="1"/>
      <p:bldP spid="49" grpId="0"/>
      <p:bldP spid="50" grpId="0" animBg="1"/>
      <p:bldP spid="52" grpId="0" animBg="1"/>
      <p:bldP spid="53" grpId="0" animBg="1"/>
      <p:bldP spid="55" grpId="0"/>
      <p:bldP spid="56" grpId="0" animBg="1"/>
      <p:bldP spid="58" grpId="0" animBg="1"/>
      <p:bldP spid="59" grpId="0" animBg="1"/>
      <p:bldP spid="61" grpId="0"/>
      <p:bldP spid="62" grpId="0" animBg="1"/>
      <p:bldP spid="63" grpId="0" animBg="1"/>
      <p:bldP spid="65" grpId="0"/>
      <p:bldP spid="66" grpId="0" animBg="1"/>
      <p:bldP spid="67" grpId="0" animBg="1"/>
      <p:bldP spid="69" grpId="0"/>
      <p:bldP spid="19" grpId="0"/>
      <p:bldP spid="19" grpId="1"/>
      <p:bldP spid="19" grpId="2"/>
      <p:bldP spid="74" grpId="0"/>
      <p:bldP spid="74" grpId="1"/>
      <p:bldP spid="74" grpId="2"/>
      <p:bldP spid="74" grpId="3"/>
      <p:bldP spid="76" grpId="0" build="allAtOnce"/>
      <p:bldP spid="76" grpId="1" build="allAtOnce"/>
      <p:bldP spid="76" grpId="2" build="allAtOnce"/>
      <p:bldP spid="7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/>
          <p:cNvSpPr/>
          <p:nvPr/>
        </p:nvSpPr>
        <p:spPr>
          <a:xfrm>
            <a:off x="7156865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423719" y="1752741"/>
            <a:ext cx="3611418" cy="4766812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/>
          <p:cNvSpPr txBox="1"/>
          <p:nvPr/>
        </p:nvSpPr>
        <p:spPr>
          <a:xfrm>
            <a:off x="711200" y="1060420"/>
            <a:ext cx="10698163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dirty="0"/>
              <a:t>先删除缓存，还是先修改数据库</a:t>
            </a:r>
            <a:endParaRPr lang="en-US" altLang="zh-CN" dirty="0"/>
          </a:p>
        </p:txBody>
      </p:sp>
      <p:sp>
        <p:nvSpPr>
          <p:cNvPr id="25" name="文本占位符 1"/>
          <p:cNvSpPr txBox="1"/>
          <p:nvPr/>
        </p:nvSpPr>
        <p:spPr>
          <a:xfrm>
            <a:off x="1863304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/>
              <a:t>先删除缓存，再操作数据库</a:t>
            </a:r>
            <a:endParaRPr lang="en-US" altLang="zh-CN" sz="1400"/>
          </a:p>
        </p:txBody>
      </p:sp>
      <p:sp>
        <p:nvSpPr>
          <p:cNvPr id="27" name="文本占位符 1"/>
          <p:cNvSpPr txBox="1"/>
          <p:nvPr/>
        </p:nvSpPr>
        <p:spPr>
          <a:xfrm>
            <a:off x="7636288" y="1583928"/>
            <a:ext cx="2652573" cy="619760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 dirty="0"/>
              <a:t>先操作数据库，再删除缓存</a:t>
            </a:r>
            <a:endParaRPr lang="en-US" altLang="zh-CN" sz="1400" dirty="0"/>
          </a:p>
        </p:txBody>
      </p:sp>
      <p:sp>
        <p:nvSpPr>
          <p:cNvPr id="23" name="矩形 22"/>
          <p:cNvSpPr/>
          <p:nvPr/>
        </p:nvSpPr>
        <p:spPr>
          <a:xfrm>
            <a:off x="1608844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1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cxnSp>
        <p:nvCxnSpPr>
          <p:cNvPr id="28" name="直线连接符 8"/>
          <p:cNvCxnSpPr>
            <a:stCxn id="23" idx="2"/>
          </p:cNvCxnSpPr>
          <p:nvPr/>
        </p:nvCxnSpPr>
        <p:spPr>
          <a:xfrm>
            <a:off x="1926476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1863304" y="2917501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917303" y="3082268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1" name="肘形连接符 25"/>
          <p:cNvCxnSpPr>
            <a:endCxn id="30" idx="3"/>
          </p:cNvCxnSpPr>
          <p:nvPr/>
        </p:nvCxnSpPr>
        <p:spPr>
          <a:xfrm rot="16200000" flipH="1">
            <a:off x="1841323" y="3100700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304372" y="3015821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1.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删除缓存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360949" y="2372501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2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cxnSp>
        <p:nvCxnSpPr>
          <p:cNvPr id="34" name="直线连接符 8"/>
          <p:cNvCxnSpPr>
            <a:stCxn id="33" idx="2"/>
          </p:cNvCxnSpPr>
          <p:nvPr/>
        </p:nvCxnSpPr>
        <p:spPr>
          <a:xfrm>
            <a:off x="3678581" y="2753649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624582" y="3651276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678581" y="3816043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37" name="肘形连接符 25"/>
          <p:cNvCxnSpPr>
            <a:endCxn id="36" idx="3"/>
          </p:cNvCxnSpPr>
          <p:nvPr/>
        </p:nvCxnSpPr>
        <p:spPr>
          <a:xfrm rot="16200000" flipH="1">
            <a:off x="3602601" y="3834475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4065650" y="3749596"/>
            <a:ext cx="105690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2.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查询缓存，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  <a:p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 未命中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,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  <a:p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 查询数据库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863304" y="552737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917303" y="569213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4" name="肘形连接符 25"/>
          <p:cNvCxnSpPr>
            <a:endCxn id="43" idx="3"/>
          </p:cNvCxnSpPr>
          <p:nvPr/>
        </p:nvCxnSpPr>
        <p:spPr>
          <a:xfrm rot="16200000" flipH="1">
            <a:off x="1841323" y="571056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2304372" y="5625690"/>
            <a:ext cx="10569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4.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更新数据库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 v = 20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624582" y="4666924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678581" y="4831691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48" name="肘形连接符 25"/>
          <p:cNvCxnSpPr>
            <a:endCxn id="47" idx="3"/>
          </p:cNvCxnSpPr>
          <p:nvPr/>
        </p:nvCxnSpPr>
        <p:spPr>
          <a:xfrm rot="16200000" flipH="1">
            <a:off x="3602601" y="4850123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4065650" y="4765244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3.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写入缓存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327829" y="242720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</a:rPr>
              <a:t>1</a:t>
            </a:r>
            <a:endParaRPr kumimoji="1" lang="zh-CN" altLang="en-US" sz="1100" dirty="0">
              <a:solidFill>
                <a:srgbClr val="4C5252"/>
              </a:solidFill>
            </a:endParaRPr>
          </a:p>
        </p:txBody>
      </p:sp>
      <p:cxnSp>
        <p:nvCxnSpPr>
          <p:cNvPr id="51" name="直线连接符 8"/>
          <p:cNvCxnSpPr>
            <a:stCxn id="50" idx="2"/>
          </p:cNvCxnSpPr>
          <p:nvPr/>
        </p:nvCxnSpPr>
        <p:spPr>
          <a:xfrm>
            <a:off x="7645461" y="280835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7582289" y="2972205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636288" y="3136972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54" name="肘形连接符 25"/>
          <p:cNvCxnSpPr>
            <a:endCxn id="53" idx="3"/>
          </p:cNvCxnSpPr>
          <p:nvPr/>
        </p:nvCxnSpPr>
        <p:spPr>
          <a:xfrm rot="16200000" flipH="1">
            <a:off x="7560308" y="3155404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8023357" y="3070525"/>
            <a:ext cx="105657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1.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查询缓存，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未命中，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查询数据库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9079934" y="2427205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rgbClr val="4C5252"/>
                </a:solidFill>
                <a:ea typeface="Alibaba PuHuiTi R"/>
              </a:rPr>
              <a:t>线程</a:t>
            </a:r>
            <a:r>
              <a:rPr kumimoji="1" lang="en-US" altLang="zh-CN" sz="1100" dirty="0">
                <a:solidFill>
                  <a:srgbClr val="4C5252"/>
                </a:solidFill>
                <a:ea typeface="Alibaba PuHuiTi R"/>
              </a:rPr>
              <a:t>2</a:t>
            </a:r>
            <a:endParaRPr kumimoji="1" lang="zh-CN" altLang="en-US" sz="1100" dirty="0">
              <a:solidFill>
                <a:srgbClr val="4C5252"/>
              </a:solidFill>
              <a:ea typeface="Alibaba PuHuiTi R"/>
            </a:endParaRPr>
          </a:p>
        </p:txBody>
      </p:sp>
      <p:cxnSp>
        <p:nvCxnSpPr>
          <p:cNvPr id="57" name="直线连接符 8"/>
          <p:cNvCxnSpPr>
            <a:stCxn id="56" idx="2"/>
          </p:cNvCxnSpPr>
          <p:nvPr/>
        </p:nvCxnSpPr>
        <p:spPr>
          <a:xfrm>
            <a:off x="9397566" y="2808353"/>
            <a:ext cx="0" cy="359965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9343567" y="3705980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397566" y="3870747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0" name="肘形连接符 25"/>
          <p:cNvCxnSpPr>
            <a:endCxn id="59" idx="3"/>
          </p:cNvCxnSpPr>
          <p:nvPr/>
        </p:nvCxnSpPr>
        <p:spPr>
          <a:xfrm rot="16200000" flipH="1">
            <a:off x="9321586" y="3889179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9784635" y="3804300"/>
            <a:ext cx="10569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2.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更新数据库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v = 20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7582289" y="5582074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636288" y="5746841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4" name="肘形连接符 25"/>
          <p:cNvCxnSpPr>
            <a:endCxn id="63" idx="3"/>
          </p:cNvCxnSpPr>
          <p:nvPr/>
        </p:nvCxnSpPr>
        <p:spPr>
          <a:xfrm rot="16200000" flipH="1">
            <a:off x="7560308" y="5765273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8023357" y="5680394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4.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 写入缓存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343567" y="4721628"/>
            <a:ext cx="108000" cy="704473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9397566" y="4886395"/>
            <a:ext cx="108000" cy="404825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E4"/>
              </a:solidFill>
            </a:endParaRPr>
          </a:p>
        </p:txBody>
      </p:sp>
      <p:cxnSp>
        <p:nvCxnSpPr>
          <p:cNvPr id="68" name="肘形连接符 25"/>
          <p:cNvCxnSpPr>
            <a:endCxn id="67" idx="3"/>
          </p:cNvCxnSpPr>
          <p:nvPr/>
        </p:nvCxnSpPr>
        <p:spPr>
          <a:xfrm rot="16200000" flipH="1">
            <a:off x="9321586" y="4904827"/>
            <a:ext cx="316407" cy="51553"/>
          </a:xfrm>
          <a:prstGeom prst="bentConnector4">
            <a:avLst>
              <a:gd name="adj1" fmla="val 1959"/>
              <a:gd name="adj2" fmla="val 543427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9784635" y="4819948"/>
            <a:ext cx="1056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3.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ea typeface="Alibaba PuHuiTi R"/>
              </a:rPr>
              <a:t>删除缓存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ea typeface="Alibaba PuHuiTi R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434715" y="1460530"/>
            <a:ext cx="1322570" cy="277001"/>
            <a:chOff x="5307862" y="1460528"/>
            <a:chExt cx="1322570" cy="277001"/>
          </a:xfrm>
        </p:grpSpPr>
        <p:sp>
          <p:nvSpPr>
            <p:cNvPr id="17" name="矩形 16"/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缓存</a:t>
              </a:r>
              <a:endParaRPr lang="zh-CN" altLang="en-US" sz="1400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429148" y="2095502"/>
            <a:ext cx="1322570" cy="277001"/>
            <a:chOff x="5307862" y="1460528"/>
            <a:chExt cx="1322570" cy="277001"/>
          </a:xfrm>
        </p:grpSpPr>
        <p:sp>
          <p:nvSpPr>
            <p:cNvPr id="72" name="矩形 71"/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5307862" y="1460529"/>
              <a:ext cx="728229" cy="276999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4950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数据库</a:t>
              </a:r>
              <a:endParaRPr lang="zh-CN" altLang="en-US" sz="1400" dirty="0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6281390" y="1429753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281389" y="2064726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278815" y="2070501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283963" y="2085427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7" name="幻灯片缩放定位 6">
            <a:hlinkClick r:id="rId1" action="ppaction://hlinksldjump"/>
          </p:cNvPr>
          <p:cNvPicPr>
            <a:picLocks noGrp="1" noRot="1" noChangeAspect="1" noMove="1" noResize="1" noEditPoints="1" noAdjustHandles="1" noChangeArrowheads="1" noChangeShapeTyp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285" y="5501606"/>
            <a:ext cx="1532305" cy="861922"/>
          </a:xfrm>
          <a:prstGeom prst="rect">
            <a:avLst/>
          </a:prstGeom>
          <a:ln w="3175">
            <a:solidFill>
              <a:prstClr val="lightGray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3.7037E-7 L 0.17305 0.22014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" y="10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305 0.22014 L 0.00013 -0.095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46" y="-1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5" grpId="0"/>
      <p:bldP spid="62" grpId="0" animBg="1"/>
      <p:bldP spid="63" grpId="0" animBg="1"/>
      <p:bldP spid="65" grpId="0"/>
      <p:bldP spid="19" grpId="0"/>
      <p:bldP spid="19" grpId="1"/>
      <p:bldP spid="74" grpId="0"/>
      <p:bldP spid="76" grpId="0"/>
      <p:bldP spid="77" grpId="0"/>
      <p:bldP spid="77" grpId="1"/>
      <p:bldP spid="77" grpId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/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/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/>
            <p:cNvSpPr txBox="1"/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/>
          <p:cNvSpPr txBox="1"/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6" name="文本占位符 6"/>
          <p:cNvSpPr txBox="1"/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/>
          <p:cNvSpPr txBox="1"/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8" name="箭头: 下 17"/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  <a:endParaRPr lang="zh-CN" altLang="en-US" sz="14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0" name="图形 19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686" y="5037555"/>
            <a:ext cx="867323" cy="116706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1444232" y="4904298"/>
            <a:ext cx="7907155" cy="717988"/>
            <a:chOff x="1415952" y="1021955"/>
            <a:chExt cx="7907155" cy="717988"/>
          </a:xfrm>
        </p:grpSpPr>
        <p:sp>
          <p:nvSpPr>
            <p:cNvPr id="23" name="任意多边形: 形状 22"/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-1" fmla="*/ 803381 w 5319528"/>
                <a:gd name="connsiteY0-2" fmla="*/ 0 h 787065"/>
                <a:gd name="connsiteX1-3" fmla="*/ 5216541 w 5319528"/>
                <a:gd name="connsiteY1-4" fmla="*/ 0 h 787065"/>
                <a:gd name="connsiteX2-5" fmla="*/ 5319528 w 5319528"/>
                <a:gd name="connsiteY2-6" fmla="*/ 102987 h 787065"/>
                <a:gd name="connsiteX3-7" fmla="*/ 5319528 w 5319528"/>
                <a:gd name="connsiteY3-8" fmla="*/ 514924 h 787065"/>
                <a:gd name="connsiteX4-9" fmla="*/ 5216541 w 5319528"/>
                <a:gd name="connsiteY4-10" fmla="*/ 617911 h 787065"/>
                <a:gd name="connsiteX5-11" fmla="*/ 875800 w 5319528"/>
                <a:gd name="connsiteY5-12" fmla="*/ 617911 h 787065"/>
                <a:gd name="connsiteX6-13" fmla="*/ 0 w 5319528"/>
                <a:gd name="connsiteY6-14" fmla="*/ 787065 h 787065"/>
                <a:gd name="connsiteX7-15" fmla="*/ 700394 w 5319528"/>
                <a:gd name="connsiteY7-16" fmla="*/ 498849 h 787065"/>
                <a:gd name="connsiteX8-17" fmla="*/ 700394 w 5319528"/>
                <a:gd name="connsiteY8-18" fmla="*/ 102987 h 787065"/>
                <a:gd name="connsiteX9-19" fmla="*/ 803381 w 5319528"/>
                <a:gd name="connsiteY9-20" fmla="*/ 0 h 78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做为缓存，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的数据如何与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进行同步呢？（双写一致性）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425073" y="5665509"/>
            <a:ext cx="4898796" cy="593889"/>
            <a:chOff x="2266299" y="2633811"/>
            <a:chExt cx="8631088" cy="1880480"/>
          </a:xfrm>
        </p:grpSpPr>
        <p:sp>
          <p:nvSpPr>
            <p:cNvPr id="8" name="矩形: 圆角 7"/>
            <p:cNvSpPr/>
            <p:nvPr/>
          </p:nvSpPr>
          <p:spPr bwMode="auto">
            <a:xfrm>
              <a:off x="2266299" y="2633811"/>
              <a:ext cx="8631088" cy="188048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占位符 6"/>
            <p:cNvSpPr txBox="1"/>
            <p:nvPr/>
          </p:nvSpPr>
          <p:spPr>
            <a:xfrm>
              <a:off x="2379422" y="2777050"/>
              <a:ext cx="8301148" cy="1415580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rgbClr val="C00000"/>
                  </a:solidFill>
                </a:rPr>
                <a:t>一定、一定、一定</a:t>
              </a:r>
              <a:r>
                <a:rPr lang="zh-CN" altLang="en-US" sz="1400" dirty="0">
                  <a:solidFill>
                    <a:schemeClr val="tx1"/>
                  </a:solidFill>
                </a:rPr>
                <a:t>要设置前提，先介绍自己的</a:t>
              </a:r>
              <a:r>
                <a:rPr lang="zh-CN" altLang="en-US" sz="1400" dirty="0">
                  <a:solidFill>
                    <a:srgbClr val="C00000"/>
                  </a:solidFill>
                </a:rPr>
                <a:t>业务背景</a:t>
              </a:r>
              <a:endParaRPr lang="zh-CN" altLang="en-US" sz="1400" dirty="0">
                <a:solidFill>
                  <a:srgbClr val="C00000"/>
                </a:solidFill>
              </a:endParaRPr>
            </a:p>
          </p:txBody>
        </p:sp>
      </p:grpSp>
      <p:sp>
        <p:nvSpPr>
          <p:cNvPr id="28" name="矩形: 圆角 27"/>
          <p:cNvSpPr/>
          <p:nvPr/>
        </p:nvSpPr>
        <p:spPr bwMode="auto">
          <a:xfrm>
            <a:off x="8842343" y="5392131"/>
            <a:ext cx="1366886" cy="4713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一致性要求高</a:t>
            </a:r>
            <a:endParaRPr lang="zh-CN" altLang="en-US" sz="14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矩形: 圆角 29"/>
          <p:cNvSpPr/>
          <p:nvPr/>
        </p:nvSpPr>
        <p:spPr bwMode="auto">
          <a:xfrm>
            <a:off x="8842343" y="5962453"/>
            <a:ext cx="1366886" cy="4713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允许延迟一致</a:t>
            </a:r>
            <a:endParaRPr lang="zh-CN" altLang="en-US" sz="14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双写一致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558217"/>
            <a:ext cx="10698800" cy="468547"/>
          </a:xfrm>
        </p:spPr>
        <p:txBody>
          <a:bodyPr/>
          <a:lstStyle/>
          <a:p>
            <a:r>
              <a:rPr lang="zh-CN" altLang="en-US" dirty="0"/>
              <a:t>双写一致性：当修改了数据库的数据也要同时更新缓存的数据，缓存和数据库的数据要保持一致</a:t>
            </a:r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 bwMode="auto">
          <a:xfrm>
            <a:off x="1366887" y="2380850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请求数据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3271102" y="2594728"/>
            <a:ext cx="172510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053" y="2344337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7" name="直接箭头连接符 6"/>
          <p:cNvCxnSpPr/>
          <p:nvPr/>
        </p:nvCxnSpPr>
        <p:spPr>
          <a:xfrm flipH="1">
            <a:off x="3271102" y="2912302"/>
            <a:ext cx="1734531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流程图: 磁盘 7"/>
          <p:cNvSpPr/>
          <p:nvPr/>
        </p:nvSpPr>
        <p:spPr bwMode="auto">
          <a:xfrm>
            <a:off x="9445658" y="2380850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6372520" y="2733193"/>
            <a:ext cx="287517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9"/>
          <p:cNvCxnSpPr>
            <a:stCxn id="8" idx="3"/>
            <a:endCxn id="4" idx="2"/>
          </p:cNvCxnSpPr>
          <p:nvPr/>
        </p:nvCxnSpPr>
        <p:spPr>
          <a:xfrm rot="5400000">
            <a:off x="6106795" y="-850768"/>
            <a:ext cx="135526" cy="7824247"/>
          </a:xfrm>
          <a:prstGeom prst="bentConnector3">
            <a:avLst>
              <a:gd name="adj1" fmla="val 679062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2"/>
          <p:cNvSpPr txBox="1"/>
          <p:nvPr/>
        </p:nvSpPr>
        <p:spPr>
          <a:xfrm>
            <a:off x="3752597" y="2192567"/>
            <a:ext cx="96080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</a:t>
            </a:r>
            <a:r>
              <a:rPr lang="en-US" altLang="zh-CN" sz="1200" dirty="0" err="1"/>
              <a:t>redis</a:t>
            </a:r>
            <a:endParaRPr lang="zh-CN" altLang="en-US" sz="1200" dirty="0"/>
          </a:p>
        </p:txBody>
      </p:sp>
      <p:sp>
        <p:nvSpPr>
          <p:cNvPr id="12" name="文本占位符 2"/>
          <p:cNvSpPr txBox="1"/>
          <p:nvPr/>
        </p:nvSpPr>
        <p:spPr>
          <a:xfrm>
            <a:off x="3516926" y="2569639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  <a:endParaRPr lang="zh-CN" altLang="en-US" sz="1200" dirty="0"/>
          </a:p>
        </p:txBody>
      </p:sp>
      <p:sp>
        <p:nvSpPr>
          <p:cNvPr id="13" name="文本占位符 2"/>
          <p:cNvSpPr txBox="1"/>
          <p:nvPr/>
        </p:nvSpPr>
        <p:spPr>
          <a:xfrm>
            <a:off x="6602630" y="2345752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14" name="文本占位符 2"/>
          <p:cNvSpPr txBox="1"/>
          <p:nvPr/>
        </p:nvSpPr>
        <p:spPr>
          <a:xfrm>
            <a:off x="5011918" y="3533529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17" name="文本占位符 2"/>
          <p:cNvSpPr txBox="1"/>
          <p:nvPr/>
        </p:nvSpPr>
        <p:spPr>
          <a:xfrm>
            <a:off x="746600" y="4141162"/>
            <a:ext cx="10698800" cy="4685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读操作：缓存命中，直接返回；缓存未命中查询数据库，写入缓存，设定超时时间</a:t>
            </a:r>
            <a:endParaRPr lang="zh-CN" altLang="en-US" sz="1400" dirty="0"/>
          </a:p>
        </p:txBody>
      </p:sp>
      <p:sp>
        <p:nvSpPr>
          <p:cNvPr id="18" name="文本占位符 2"/>
          <p:cNvSpPr txBox="1"/>
          <p:nvPr/>
        </p:nvSpPr>
        <p:spPr>
          <a:xfrm>
            <a:off x="746600" y="4565366"/>
            <a:ext cx="10698800" cy="4685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写操作：</a:t>
            </a:r>
            <a:r>
              <a:rPr lang="zh-CN" altLang="en-US" sz="1400" dirty="0">
                <a:solidFill>
                  <a:srgbClr val="C00000"/>
                </a:solidFill>
              </a:rPr>
              <a:t>延迟双删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34" name="矩形: 圆角 33"/>
          <p:cNvSpPr/>
          <p:nvPr/>
        </p:nvSpPr>
        <p:spPr bwMode="auto">
          <a:xfrm>
            <a:off x="2064470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删除缓存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5" name="矩形: 圆角 34"/>
          <p:cNvSpPr/>
          <p:nvPr/>
        </p:nvSpPr>
        <p:spPr bwMode="auto">
          <a:xfrm>
            <a:off x="4568858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修改数据库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6" name="矩形: 圆角 35"/>
          <p:cNvSpPr/>
          <p:nvPr/>
        </p:nvSpPr>
        <p:spPr bwMode="auto">
          <a:xfrm>
            <a:off x="7937370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删除缓存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38" name="直接箭头连接符 37"/>
          <p:cNvCxnSpPr>
            <a:stCxn id="34" idx="3"/>
            <a:endCxn id="35" idx="1"/>
          </p:cNvCxnSpPr>
          <p:nvPr/>
        </p:nvCxnSpPr>
        <p:spPr>
          <a:xfrm>
            <a:off x="3591612" y="5321431"/>
            <a:ext cx="977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/>
          <p:cNvGrpSpPr/>
          <p:nvPr/>
        </p:nvGrpSpPr>
        <p:grpSpPr>
          <a:xfrm>
            <a:off x="6096000" y="4970718"/>
            <a:ext cx="1841370" cy="468547"/>
            <a:chOff x="6096000" y="4970718"/>
            <a:chExt cx="1841370" cy="468547"/>
          </a:xfrm>
        </p:grpSpPr>
        <p:cxnSp>
          <p:nvCxnSpPr>
            <p:cNvPr id="40" name="直接箭头连接符 39"/>
            <p:cNvCxnSpPr>
              <a:stCxn id="35" idx="3"/>
              <a:endCxn id="36" idx="1"/>
            </p:cNvCxnSpPr>
            <p:nvPr/>
          </p:nvCxnSpPr>
          <p:spPr>
            <a:xfrm>
              <a:off x="6096000" y="5321431"/>
              <a:ext cx="18413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占位符 2"/>
            <p:cNvSpPr txBox="1"/>
            <p:nvPr/>
          </p:nvSpPr>
          <p:spPr>
            <a:xfrm>
              <a:off x="6789181" y="4970718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rgbClr val="C00000"/>
                  </a:solidFill>
                </a:rPr>
                <a:t>延时</a:t>
              </a:r>
              <a:endParaRPr lang="zh-CN" altLang="en-US" sz="1400" dirty="0">
                <a:solidFill>
                  <a:srgbClr val="C00000"/>
                </a:solidFill>
              </a:endParaRPr>
            </a:p>
          </p:txBody>
        </p:sp>
      </p:grpSp>
      <p:cxnSp>
        <p:nvCxnSpPr>
          <p:cNvPr id="53" name="直接箭头连接符 52"/>
          <p:cNvCxnSpPr>
            <a:stCxn id="35" idx="2"/>
            <a:endCxn id="51" idx="1"/>
          </p:cNvCxnSpPr>
          <p:nvPr/>
        </p:nvCxnSpPr>
        <p:spPr>
          <a:xfrm>
            <a:off x="5332429" y="5571241"/>
            <a:ext cx="825" cy="289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51" idx="4"/>
            <a:endCxn id="50" idx="2"/>
          </p:cNvCxnSpPr>
          <p:nvPr/>
        </p:nvCxnSpPr>
        <p:spPr>
          <a:xfrm flipV="1">
            <a:off x="5868261" y="6116816"/>
            <a:ext cx="205026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组合 64"/>
          <p:cNvGrpSpPr/>
          <p:nvPr/>
        </p:nvGrpSpPr>
        <p:grpSpPr>
          <a:xfrm>
            <a:off x="4798246" y="5861115"/>
            <a:ext cx="1204824" cy="893190"/>
            <a:chOff x="4798246" y="5861115"/>
            <a:chExt cx="1204824" cy="893190"/>
          </a:xfrm>
        </p:grpSpPr>
        <p:sp>
          <p:nvSpPr>
            <p:cNvPr id="51" name="流程图: 磁盘 50"/>
            <p:cNvSpPr/>
            <p:nvPr/>
          </p:nvSpPr>
          <p:spPr bwMode="auto">
            <a:xfrm>
              <a:off x="4798246" y="5861115"/>
              <a:ext cx="1070015" cy="511404"/>
            </a:xfrm>
            <a:prstGeom prst="flowChartMagneticDisk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文本占位符 2"/>
            <p:cNvSpPr txBox="1"/>
            <p:nvPr/>
          </p:nvSpPr>
          <p:spPr>
            <a:xfrm>
              <a:off x="5111211" y="6285758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主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918521" y="5861114"/>
            <a:ext cx="1233102" cy="921472"/>
            <a:chOff x="7918521" y="5861114"/>
            <a:chExt cx="1233102" cy="921472"/>
          </a:xfrm>
        </p:grpSpPr>
        <p:sp>
          <p:nvSpPr>
            <p:cNvPr id="50" name="流程图: 磁盘 49"/>
            <p:cNvSpPr/>
            <p:nvPr/>
          </p:nvSpPr>
          <p:spPr bwMode="auto">
            <a:xfrm>
              <a:off x="7918521" y="5861114"/>
              <a:ext cx="1070015" cy="511404"/>
            </a:xfrm>
            <a:prstGeom prst="flowChartMagneticDisk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文本占位符 2"/>
            <p:cNvSpPr txBox="1"/>
            <p:nvPr/>
          </p:nvSpPr>
          <p:spPr>
            <a:xfrm>
              <a:off x="8259764" y="6314039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从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62" name="椭圆 61"/>
          <p:cNvSpPr/>
          <p:nvPr/>
        </p:nvSpPr>
        <p:spPr bwMode="auto">
          <a:xfrm>
            <a:off x="10294070" y="4883084"/>
            <a:ext cx="1442302" cy="1442302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代码耦合性高</a:t>
            </a:r>
            <a:endParaRPr lang="zh-CN" altLang="en-US" sz="2000" b="1" dirty="0">
              <a:solidFill>
                <a:srgbClr val="C00000"/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67" name="椭圆 66"/>
          <p:cNvSpPr/>
          <p:nvPr/>
        </p:nvSpPr>
        <p:spPr bwMode="auto">
          <a:xfrm>
            <a:off x="10305067" y="3329232"/>
            <a:ext cx="1442302" cy="1442302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有脏数据风险</a:t>
            </a:r>
            <a:endParaRPr lang="zh-CN" altLang="en-US" sz="2000" b="1" dirty="0">
              <a:solidFill>
                <a:srgbClr val="C00000"/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68" name="文本占位符 2"/>
          <p:cNvSpPr txBox="1"/>
          <p:nvPr/>
        </p:nvSpPr>
        <p:spPr>
          <a:xfrm>
            <a:off x="746600" y="5671788"/>
            <a:ext cx="10698800" cy="10172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1.</a:t>
            </a:r>
            <a:r>
              <a:rPr lang="zh-CN" altLang="en-US" sz="1200" dirty="0"/>
              <a:t>先删除缓存，还是先修改数据库</a:t>
            </a:r>
            <a:endParaRPr lang="en-US" altLang="zh-CN" sz="1200" dirty="0"/>
          </a:p>
          <a:p>
            <a:r>
              <a:rPr lang="en-US" altLang="zh-CN" sz="1200" dirty="0"/>
              <a:t>2.</a:t>
            </a:r>
            <a:r>
              <a:rPr lang="zh-CN" altLang="en-US" sz="1200" dirty="0"/>
              <a:t>为什么要删除两次缓存？</a:t>
            </a:r>
            <a:endParaRPr lang="en-US" altLang="zh-CN" sz="1200" dirty="0"/>
          </a:p>
          <a:p>
            <a:r>
              <a:rPr lang="en-US" altLang="zh-CN" sz="1200" dirty="0"/>
              <a:t>3.</a:t>
            </a:r>
            <a:r>
              <a:rPr lang="zh-CN" altLang="en-US" sz="1200" dirty="0"/>
              <a:t>为什么要延迟删除？</a:t>
            </a:r>
            <a:endParaRPr lang="zh-CN" altLang="en-US" sz="1200" dirty="0"/>
          </a:p>
        </p:txBody>
      </p:sp>
      <p:pic>
        <p:nvPicPr>
          <p:cNvPr id="70" name="幻灯片缩放定位 69">
            <a:hlinkClick r:id="rId2" action="ppaction://hlinksldjump"/>
          </p:cNvPr>
          <p:cNvPicPr>
            <a:picLocks noGrp="1" noRot="1" noChangeAspect="1" noMove="1" noResize="1" noEditPoints="1" noAdjustHandles="1" noChangeArrowheads="1" noChangeShapeType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852" y="5758995"/>
            <a:ext cx="1145403" cy="644289"/>
          </a:xfrm>
          <a:prstGeom prst="rect">
            <a:avLst/>
          </a:prstGeom>
          <a:ln w="3175">
            <a:solidFill>
              <a:prstClr val="lightGray"/>
            </a:solidFill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1" grpId="0"/>
      <p:bldP spid="12" grpId="0"/>
      <p:bldP spid="13" grpId="0"/>
      <p:bldP spid="14" grpId="0"/>
      <p:bldP spid="34" grpId="0" animBg="1"/>
      <p:bldP spid="35" grpId="0" animBg="1"/>
      <p:bldP spid="36" grpId="0" animBg="1"/>
      <p:bldP spid="62" grpId="0" animBg="1"/>
      <p:bldP spid="6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双写一致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558217"/>
            <a:ext cx="10698800" cy="468547"/>
          </a:xfrm>
        </p:spPr>
        <p:txBody>
          <a:bodyPr/>
          <a:lstStyle/>
          <a:p>
            <a:r>
              <a:rPr lang="zh-CN" altLang="en-US" dirty="0"/>
              <a:t>双写一致性：当修改了数据库的数据也要同时更新缓存的数据，缓存和数据库的数据要保持一致</a:t>
            </a:r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 bwMode="auto">
          <a:xfrm>
            <a:off x="1366887" y="2380850"/>
            <a:ext cx="1791093" cy="7482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请求数据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3271102" y="2594728"/>
            <a:ext cx="172510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053" y="2344337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7" name="直接箭头连接符 6"/>
          <p:cNvCxnSpPr/>
          <p:nvPr/>
        </p:nvCxnSpPr>
        <p:spPr>
          <a:xfrm flipH="1">
            <a:off x="3271102" y="2912302"/>
            <a:ext cx="1734531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流程图: 磁盘 7"/>
          <p:cNvSpPr/>
          <p:nvPr/>
        </p:nvSpPr>
        <p:spPr bwMode="auto">
          <a:xfrm>
            <a:off x="9445658" y="2380850"/>
            <a:ext cx="1282045" cy="612742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6372520" y="2733193"/>
            <a:ext cx="287517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9"/>
          <p:cNvCxnSpPr>
            <a:stCxn id="8" idx="3"/>
            <a:endCxn id="4" idx="2"/>
          </p:cNvCxnSpPr>
          <p:nvPr/>
        </p:nvCxnSpPr>
        <p:spPr>
          <a:xfrm rot="5400000">
            <a:off x="6106795" y="-850768"/>
            <a:ext cx="135526" cy="7824247"/>
          </a:xfrm>
          <a:prstGeom prst="bentConnector3">
            <a:avLst>
              <a:gd name="adj1" fmla="val 679062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2"/>
          <p:cNvSpPr txBox="1"/>
          <p:nvPr/>
        </p:nvSpPr>
        <p:spPr>
          <a:xfrm>
            <a:off x="3752597" y="2192567"/>
            <a:ext cx="960806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查</a:t>
            </a:r>
            <a:r>
              <a:rPr lang="en-US" altLang="zh-CN" sz="1200" dirty="0" err="1"/>
              <a:t>redis</a:t>
            </a:r>
            <a:endParaRPr lang="zh-CN" altLang="en-US" sz="1200" dirty="0"/>
          </a:p>
        </p:txBody>
      </p:sp>
      <p:sp>
        <p:nvSpPr>
          <p:cNvPr id="12" name="文本占位符 2"/>
          <p:cNvSpPr txBox="1"/>
          <p:nvPr/>
        </p:nvSpPr>
        <p:spPr>
          <a:xfrm>
            <a:off x="3516926" y="2569639"/>
            <a:ext cx="1422720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命中，返回结果</a:t>
            </a:r>
            <a:endParaRPr lang="zh-CN" altLang="en-US" sz="1200" dirty="0"/>
          </a:p>
        </p:txBody>
      </p:sp>
      <p:sp>
        <p:nvSpPr>
          <p:cNvPr id="13" name="文本占位符 2"/>
          <p:cNvSpPr txBox="1"/>
          <p:nvPr/>
        </p:nvSpPr>
        <p:spPr>
          <a:xfrm>
            <a:off x="6602630" y="2345752"/>
            <a:ext cx="223028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 err="1"/>
              <a:t>redis</a:t>
            </a:r>
            <a:r>
              <a:rPr lang="zh-CN" altLang="en-US" sz="1200" dirty="0"/>
              <a:t>查不到，查</a:t>
            </a:r>
            <a:r>
              <a:rPr lang="en-US" altLang="zh-CN" sz="1200" dirty="0"/>
              <a:t>DB</a:t>
            </a:r>
            <a:endParaRPr lang="zh-CN" altLang="en-US" sz="1200" dirty="0"/>
          </a:p>
        </p:txBody>
      </p:sp>
      <p:sp>
        <p:nvSpPr>
          <p:cNvPr id="14" name="文本占位符 2"/>
          <p:cNvSpPr txBox="1"/>
          <p:nvPr/>
        </p:nvSpPr>
        <p:spPr>
          <a:xfrm>
            <a:off x="5011918" y="3533529"/>
            <a:ext cx="3892543" cy="49113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DB</a:t>
            </a:r>
            <a:r>
              <a:rPr lang="zh-CN" altLang="en-US" sz="1200" dirty="0"/>
              <a:t>查询到结果，返回</a:t>
            </a:r>
            <a:r>
              <a:rPr lang="en-US" altLang="zh-CN" sz="1200" dirty="0"/>
              <a:t>(</a:t>
            </a:r>
            <a:r>
              <a:rPr lang="zh-CN" altLang="en-US" sz="1200" dirty="0"/>
              <a:t>返回之前数据存储到</a:t>
            </a:r>
            <a:r>
              <a:rPr lang="en-US" altLang="zh-CN" sz="1200" dirty="0" err="1"/>
              <a:t>redis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17" name="文本占位符 2"/>
          <p:cNvSpPr txBox="1"/>
          <p:nvPr/>
        </p:nvSpPr>
        <p:spPr>
          <a:xfrm>
            <a:off x="746600" y="4141162"/>
            <a:ext cx="10698800" cy="4685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读操作：缓存命中，直接返回；缓存未命中查询数据库，写入缓存，设定超时时间</a:t>
            </a:r>
            <a:endParaRPr lang="zh-CN" altLang="en-US" sz="1400" dirty="0"/>
          </a:p>
        </p:txBody>
      </p:sp>
      <p:sp>
        <p:nvSpPr>
          <p:cNvPr id="18" name="文本占位符 2"/>
          <p:cNvSpPr txBox="1"/>
          <p:nvPr/>
        </p:nvSpPr>
        <p:spPr>
          <a:xfrm>
            <a:off x="746600" y="4565366"/>
            <a:ext cx="10698800" cy="4685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写操作：</a:t>
            </a:r>
            <a:r>
              <a:rPr lang="zh-CN" altLang="en-US" sz="1400" dirty="0">
                <a:solidFill>
                  <a:srgbClr val="C00000"/>
                </a:solidFill>
              </a:rPr>
              <a:t>延迟双删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34" name="矩形: 圆角 33"/>
          <p:cNvSpPr/>
          <p:nvPr/>
        </p:nvSpPr>
        <p:spPr bwMode="auto">
          <a:xfrm>
            <a:off x="2064470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删除缓存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5" name="矩形: 圆角 34"/>
          <p:cNvSpPr/>
          <p:nvPr/>
        </p:nvSpPr>
        <p:spPr bwMode="auto">
          <a:xfrm>
            <a:off x="4568858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修改数据库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6" name="矩形: 圆角 35"/>
          <p:cNvSpPr/>
          <p:nvPr/>
        </p:nvSpPr>
        <p:spPr bwMode="auto">
          <a:xfrm>
            <a:off x="7937370" y="5071621"/>
            <a:ext cx="1527142" cy="499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删除缓存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38" name="直接箭头连接符 37"/>
          <p:cNvCxnSpPr>
            <a:stCxn id="34" idx="3"/>
            <a:endCxn id="35" idx="1"/>
          </p:cNvCxnSpPr>
          <p:nvPr/>
        </p:nvCxnSpPr>
        <p:spPr>
          <a:xfrm>
            <a:off x="3591612" y="5321431"/>
            <a:ext cx="977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/>
          <p:cNvGrpSpPr/>
          <p:nvPr/>
        </p:nvGrpSpPr>
        <p:grpSpPr>
          <a:xfrm>
            <a:off x="6096000" y="4970718"/>
            <a:ext cx="1841370" cy="468547"/>
            <a:chOff x="6096000" y="4970718"/>
            <a:chExt cx="1841370" cy="468547"/>
          </a:xfrm>
        </p:grpSpPr>
        <p:cxnSp>
          <p:nvCxnSpPr>
            <p:cNvPr id="40" name="直接箭头连接符 39"/>
            <p:cNvCxnSpPr>
              <a:stCxn id="35" idx="3"/>
              <a:endCxn id="36" idx="1"/>
            </p:cNvCxnSpPr>
            <p:nvPr/>
          </p:nvCxnSpPr>
          <p:spPr>
            <a:xfrm>
              <a:off x="6096000" y="5321431"/>
              <a:ext cx="18413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占位符 2"/>
            <p:cNvSpPr txBox="1"/>
            <p:nvPr/>
          </p:nvSpPr>
          <p:spPr>
            <a:xfrm>
              <a:off x="6789181" y="4970718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rgbClr val="C00000"/>
                  </a:solidFill>
                </a:rPr>
                <a:t>延时</a:t>
              </a:r>
              <a:endParaRPr lang="zh-CN" altLang="en-US" sz="1400" dirty="0">
                <a:solidFill>
                  <a:srgbClr val="C00000"/>
                </a:solidFill>
              </a:endParaRPr>
            </a:p>
          </p:txBody>
        </p:sp>
      </p:grpSp>
      <p:cxnSp>
        <p:nvCxnSpPr>
          <p:cNvPr id="53" name="直接箭头连接符 52"/>
          <p:cNvCxnSpPr>
            <a:stCxn id="35" idx="2"/>
            <a:endCxn id="51" idx="1"/>
          </p:cNvCxnSpPr>
          <p:nvPr/>
        </p:nvCxnSpPr>
        <p:spPr>
          <a:xfrm>
            <a:off x="5332429" y="5571241"/>
            <a:ext cx="825" cy="289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51" idx="4"/>
            <a:endCxn id="50" idx="2"/>
          </p:cNvCxnSpPr>
          <p:nvPr/>
        </p:nvCxnSpPr>
        <p:spPr>
          <a:xfrm flipV="1">
            <a:off x="5868261" y="6116816"/>
            <a:ext cx="205026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组合 64"/>
          <p:cNvGrpSpPr/>
          <p:nvPr/>
        </p:nvGrpSpPr>
        <p:grpSpPr>
          <a:xfrm>
            <a:off x="4798246" y="5861115"/>
            <a:ext cx="1204824" cy="893190"/>
            <a:chOff x="4798246" y="5861115"/>
            <a:chExt cx="1204824" cy="893190"/>
          </a:xfrm>
        </p:grpSpPr>
        <p:sp>
          <p:nvSpPr>
            <p:cNvPr id="51" name="流程图: 磁盘 50"/>
            <p:cNvSpPr/>
            <p:nvPr/>
          </p:nvSpPr>
          <p:spPr bwMode="auto">
            <a:xfrm>
              <a:off x="4798246" y="5861115"/>
              <a:ext cx="1070015" cy="511404"/>
            </a:xfrm>
            <a:prstGeom prst="flowChartMagneticDisk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文本占位符 2"/>
            <p:cNvSpPr txBox="1"/>
            <p:nvPr/>
          </p:nvSpPr>
          <p:spPr>
            <a:xfrm>
              <a:off x="5111211" y="6285758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主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918521" y="5861114"/>
            <a:ext cx="1233102" cy="921472"/>
            <a:chOff x="7918521" y="5861114"/>
            <a:chExt cx="1233102" cy="921472"/>
          </a:xfrm>
        </p:grpSpPr>
        <p:sp>
          <p:nvSpPr>
            <p:cNvPr id="50" name="流程图: 磁盘 49"/>
            <p:cNvSpPr/>
            <p:nvPr/>
          </p:nvSpPr>
          <p:spPr bwMode="auto">
            <a:xfrm>
              <a:off x="7918521" y="5861114"/>
              <a:ext cx="1070015" cy="511404"/>
            </a:xfrm>
            <a:prstGeom prst="flowChartMagneticDisk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文本占位符 2"/>
            <p:cNvSpPr txBox="1"/>
            <p:nvPr/>
          </p:nvSpPr>
          <p:spPr>
            <a:xfrm>
              <a:off x="8259764" y="6314039"/>
              <a:ext cx="891859" cy="46854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从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67" name="椭圆 66"/>
          <p:cNvSpPr/>
          <p:nvPr/>
        </p:nvSpPr>
        <p:spPr bwMode="auto">
          <a:xfrm>
            <a:off x="10185797" y="4511989"/>
            <a:ext cx="1442302" cy="1442302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有脏数据风险</a:t>
            </a:r>
            <a:endParaRPr lang="zh-CN" altLang="en-US" sz="2000" b="1" dirty="0">
              <a:solidFill>
                <a:srgbClr val="C00000"/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68" name="文本占位符 2"/>
          <p:cNvSpPr txBox="1"/>
          <p:nvPr/>
        </p:nvSpPr>
        <p:spPr>
          <a:xfrm>
            <a:off x="746600" y="5671788"/>
            <a:ext cx="10698800" cy="10172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1.</a:t>
            </a:r>
            <a:r>
              <a:rPr lang="zh-CN" altLang="en-US" sz="1200" dirty="0"/>
              <a:t>先删除缓存，还是先修改数据库</a:t>
            </a:r>
            <a:endParaRPr lang="en-US" altLang="zh-CN" sz="1200" dirty="0"/>
          </a:p>
          <a:p>
            <a:r>
              <a:rPr lang="en-US" altLang="zh-CN" sz="1200" dirty="0"/>
              <a:t>2.</a:t>
            </a:r>
            <a:r>
              <a:rPr lang="zh-CN" altLang="en-US" sz="1200" dirty="0"/>
              <a:t>为什么要删除两次缓存？</a:t>
            </a:r>
            <a:endParaRPr lang="en-US" altLang="zh-CN" sz="1200" dirty="0"/>
          </a:p>
          <a:p>
            <a:r>
              <a:rPr lang="en-US" altLang="zh-CN" sz="1200" dirty="0"/>
              <a:t>3.</a:t>
            </a:r>
            <a:r>
              <a:rPr lang="zh-CN" altLang="en-US" sz="1200" dirty="0"/>
              <a:t>为什么要延时删除？</a:t>
            </a:r>
            <a:endParaRPr lang="zh-CN" altLang="en-US" sz="1200" dirty="0"/>
          </a:p>
        </p:txBody>
      </p:sp>
      <p:pic>
        <p:nvPicPr>
          <p:cNvPr id="70" name="幻灯片缩放定位 69">
            <a:hlinkClick r:id="rId2" action="ppaction://hlinksldjump"/>
          </p:cNvPr>
          <p:cNvPicPr>
            <a:picLocks noGrp="1" noRot="1" noChangeAspect="1" noMove="1" noResize="1" noEditPoints="1" noAdjustHandles="1" noChangeArrowheads="1" noChangeShapeType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852" y="5758995"/>
            <a:ext cx="1145403" cy="644289"/>
          </a:xfrm>
          <a:prstGeom prst="rect">
            <a:avLst/>
          </a:prstGeom>
          <a:ln w="3175">
            <a:solidFill>
              <a:prstClr val="lightGray"/>
            </a:solidFill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双写一致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993964" y="1353513"/>
            <a:ext cx="3948427" cy="5228727"/>
            <a:chOff x="993964" y="1353513"/>
            <a:chExt cx="3948427" cy="5228727"/>
          </a:xfrm>
        </p:grpSpPr>
        <p:cxnSp>
          <p:nvCxnSpPr>
            <p:cNvPr id="48" name="直线连接符 8"/>
            <p:cNvCxnSpPr/>
            <p:nvPr/>
          </p:nvCxnSpPr>
          <p:spPr>
            <a:xfrm>
              <a:off x="3274212" y="4307079"/>
              <a:ext cx="0" cy="22129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5" name="组合 124"/>
            <p:cNvGrpSpPr/>
            <p:nvPr/>
          </p:nvGrpSpPr>
          <p:grpSpPr>
            <a:xfrm>
              <a:off x="993964" y="1353513"/>
              <a:ext cx="3948427" cy="5228727"/>
              <a:chOff x="993964" y="1353513"/>
              <a:chExt cx="3948427" cy="5228727"/>
            </a:xfrm>
          </p:grpSpPr>
          <p:sp>
            <p:nvSpPr>
              <p:cNvPr id="4" name="矩形: 圆角 3"/>
              <p:cNvSpPr/>
              <p:nvPr/>
            </p:nvSpPr>
            <p:spPr>
              <a:xfrm>
                <a:off x="1001284" y="1468418"/>
                <a:ext cx="3917957" cy="5011577"/>
              </a:xfrm>
              <a:prstGeom prst="roundRect">
                <a:avLst>
                  <a:gd name="adj" fmla="val 5475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1241598" y="2014179"/>
                <a:ext cx="635264" cy="381148"/>
              </a:xfrm>
              <a:prstGeom prst="rect">
                <a:avLst/>
              </a:prstGeom>
              <a:noFill/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线程</a:t>
                </a: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1</a:t>
                </a:r>
                <a:endPara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endParaRPr>
              </a:p>
            </p:txBody>
          </p:sp>
          <p:cxnSp>
            <p:nvCxnSpPr>
              <p:cNvPr id="6" name="直线连接符 8"/>
              <p:cNvCxnSpPr>
                <a:stCxn id="5" idx="2"/>
              </p:cNvCxnSpPr>
              <p:nvPr/>
            </p:nvCxnSpPr>
            <p:spPr>
              <a:xfrm>
                <a:off x="1559230" y="2395327"/>
                <a:ext cx="7077" cy="4186913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矩形 6"/>
              <p:cNvSpPr/>
              <p:nvPr/>
            </p:nvSpPr>
            <p:spPr>
              <a:xfrm>
                <a:off x="1496058" y="2456644"/>
                <a:ext cx="114027" cy="1860123"/>
              </a:xfrm>
              <a:prstGeom prst="rect">
                <a:avLst/>
              </a:prstGeom>
              <a:solidFill>
                <a:srgbClr val="FFFFE4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1550057" y="2614154"/>
                <a:ext cx="123200" cy="22215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9" name="肘形连接符 25"/>
              <p:cNvCxnSpPr>
                <a:endCxn id="8" idx="3"/>
              </p:cNvCxnSpPr>
              <p:nvPr/>
            </p:nvCxnSpPr>
            <p:spPr>
              <a:xfrm rot="16200000" flipH="1">
                <a:off x="1525677" y="2577650"/>
                <a:ext cx="228407" cy="66754"/>
              </a:xfrm>
              <a:prstGeom prst="bentConnector4">
                <a:avLst>
                  <a:gd name="adj1" fmla="val 25684"/>
                  <a:gd name="adj2" fmla="val 442451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文本框 9"/>
              <p:cNvSpPr txBox="1"/>
              <p:nvPr/>
            </p:nvSpPr>
            <p:spPr>
              <a:xfrm>
                <a:off x="1688000" y="2537878"/>
                <a:ext cx="99598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1.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加锁</a:t>
                </a:r>
                <a:endPara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1558306" y="3367542"/>
                <a:ext cx="103587" cy="3546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1825344" y="3330508"/>
                <a:ext cx="95985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3.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删除缓存</a:t>
                </a:r>
                <a:endPara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548519" y="3020097"/>
                <a:ext cx="135592" cy="2366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15" name="肘形连接符 25"/>
              <p:cNvCxnSpPr>
                <a:endCxn id="14" idx="3"/>
              </p:cNvCxnSpPr>
              <p:nvPr/>
            </p:nvCxnSpPr>
            <p:spPr>
              <a:xfrm rot="16200000" flipH="1">
                <a:off x="1527232" y="2981550"/>
                <a:ext cx="234612" cy="79146"/>
              </a:xfrm>
              <a:prstGeom prst="bentConnector4">
                <a:avLst>
                  <a:gd name="adj1" fmla="val 24781"/>
                  <a:gd name="adj2" fmla="val 388833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/>
              <p:cNvSpPr txBox="1"/>
              <p:nvPr/>
            </p:nvSpPr>
            <p:spPr>
              <a:xfrm>
                <a:off x="1809010" y="2952414"/>
                <a:ext cx="88831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2.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写数据</a:t>
                </a:r>
                <a:endPara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1560692" y="3815384"/>
                <a:ext cx="114446" cy="30822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21" name="肘形连接符 25"/>
              <p:cNvCxnSpPr>
                <a:endCxn id="20" idx="3"/>
              </p:cNvCxnSpPr>
              <p:nvPr/>
            </p:nvCxnSpPr>
            <p:spPr>
              <a:xfrm rot="16200000" flipH="1">
                <a:off x="1547064" y="3841421"/>
                <a:ext cx="198148" cy="57999"/>
              </a:xfrm>
              <a:prstGeom prst="bentConnector4">
                <a:avLst>
                  <a:gd name="adj1" fmla="val 11112"/>
                  <a:gd name="adj2" fmla="val 494145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本框 21"/>
              <p:cNvSpPr txBox="1"/>
              <p:nvPr/>
            </p:nvSpPr>
            <p:spPr>
              <a:xfrm>
                <a:off x="1730342" y="3750779"/>
                <a:ext cx="99598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4.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释放锁</a:t>
                </a:r>
                <a:endPara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2926897" y="2014179"/>
                <a:ext cx="635264" cy="381148"/>
              </a:xfrm>
              <a:prstGeom prst="rect">
                <a:avLst/>
              </a:prstGeom>
              <a:noFill/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线程</a:t>
                </a: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2</a:t>
                </a:r>
                <a:endPara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endParaRPr>
              </a:p>
            </p:txBody>
          </p:sp>
          <p:cxnSp>
            <p:nvCxnSpPr>
              <p:cNvPr id="24" name="直线连接符 8"/>
              <p:cNvCxnSpPr>
                <a:stCxn id="23" idx="2"/>
              </p:cNvCxnSpPr>
              <p:nvPr/>
            </p:nvCxnSpPr>
            <p:spPr>
              <a:xfrm>
                <a:off x="3244529" y="2395327"/>
                <a:ext cx="12926" cy="406239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矩形 24"/>
              <p:cNvSpPr/>
              <p:nvPr/>
            </p:nvSpPr>
            <p:spPr>
              <a:xfrm>
                <a:off x="3181357" y="4171674"/>
                <a:ext cx="124808" cy="2324829"/>
              </a:xfrm>
              <a:prstGeom prst="rect">
                <a:avLst/>
              </a:prstGeom>
              <a:solidFill>
                <a:srgbClr val="FFFFE4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41" name="直接连接符 40"/>
              <p:cNvCxnSpPr/>
              <p:nvPr/>
            </p:nvCxnSpPr>
            <p:spPr>
              <a:xfrm>
                <a:off x="993964" y="4181798"/>
                <a:ext cx="3860789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44" name="文本占位符 1"/>
              <p:cNvSpPr txBox="1"/>
              <p:nvPr/>
            </p:nvSpPr>
            <p:spPr>
              <a:xfrm>
                <a:off x="2415332" y="1353513"/>
                <a:ext cx="950335" cy="490923"/>
              </a:xfrm>
              <a:prstGeom prst="rect">
                <a:avLst/>
              </a:prstGeom>
            </p:spPr>
            <p:txBody>
              <a:bodyPr lIns="91440" tIns="45720" rIns="0" bIns="45720" anchor="ctr"/>
              <a:lstStyle>
                <a:lvl1pPr marL="457200" marR="0" indent="-457200" algn="l" defTabSz="914400" rtl="0" eaLnBrk="0" fontAlgn="base" latinLnBrk="0" hangingPunct="0">
                  <a:lnSpc>
                    <a:spcPct val="2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u"/>
                  <a:defRPr sz="18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defRPr>
                </a:lvl1pPr>
                <a:lvl2pPr marL="609600" indent="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2pPr>
                <a:lvl3pPr marL="15240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65" b="1" kern="12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defRPr>
                </a:lvl3pPr>
                <a:lvl4pPr marL="21336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indent="-3048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8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4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20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600" indent="-304800" algn="l" defTabSz="1219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66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zh-CN" altLang="en-US" sz="1400" b="1" dirty="0"/>
                  <a:t>分布式锁</a:t>
                </a:r>
                <a:endParaRPr lang="en-US" altLang="zh-CN" sz="1400" b="1" dirty="0"/>
              </a:p>
            </p:txBody>
          </p:sp>
          <p:cxnSp>
            <p:nvCxnSpPr>
              <p:cNvPr id="47" name="肘形连接符 25"/>
              <p:cNvCxnSpPr/>
              <p:nvPr/>
            </p:nvCxnSpPr>
            <p:spPr>
              <a:xfrm rot="16200000" flipH="1">
                <a:off x="1528802" y="3369621"/>
                <a:ext cx="234610" cy="79146"/>
              </a:xfrm>
              <a:prstGeom prst="bentConnector4">
                <a:avLst>
                  <a:gd name="adj1" fmla="val 9385"/>
                  <a:gd name="adj2" fmla="val 388833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矩形 49"/>
              <p:cNvSpPr/>
              <p:nvPr/>
            </p:nvSpPr>
            <p:spPr>
              <a:xfrm>
                <a:off x="3253464" y="4375435"/>
                <a:ext cx="123200" cy="22215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51" name="肘形连接符 25"/>
              <p:cNvCxnSpPr>
                <a:endCxn id="50" idx="3"/>
              </p:cNvCxnSpPr>
              <p:nvPr/>
            </p:nvCxnSpPr>
            <p:spPr>
              <a:xfrm rot="16200000" flipH="1">
                <a:off x="3229084" y="4338931"/>
                <a:ext cx="228407" cy="66754"/>
              </a:xfrm>
              <a:prstGeom prst="bentConnector4">
                <a:avLst>
                  <a:gd name="adj1" fmla="val 25684"/>
                  <a:gd name="adj2" fmla="val 442451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文本框 51"/>
              <p:cNvSpPr txBox="1"/>
              <p:nvPr/>
            </p:nvSpPr>
            <p:spPr>
              <a:xfrm>
                <a:off x="3391407" y="4299159"/>
                <a:ext cx="99598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1.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加锁</a:t>
                </a:r>
                <a:endPara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endParaRPr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261713" y="5128823"/>
                <a:ext cx="103587" cy="3546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3528751" y="5091789"/>
                <a:ext cx="95985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3.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读数据库</a:t>
                </a:r>
                <a:endPara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endParaRPr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251926" y="4781378"/>
                <a:ext cx="135592" cy="2366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56" name="肘形连接符 25"/>
              <p:cNvCxnSpPr>
                <a:endCxn id="55" idx="3"/>
              </p:cNvCxnSpPr>
              <p:nvPr/>
            </p:nvCxnSpPr>
            <p:spPr>
              <a:xfrm rot="16200000" flipH="1">
                <a:off x="3230639" y="4742831"/>
                <a:ext cx="234612" cy="79146"/>
              </a:xfrm>
              <a:prstGeom prst="bentConnector4">
                <a:avLst>
                  <a:gd name="adj1" fmla="val 24781"/>
                  <a:gd name="adj2" fmla="val 388833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文本框 56"/>
              <p:cNvSpPr txBox="1"/>
              <p:nvPr/>
            </p:nvSpPr>
            <p:spPr>
              <a:xfrm>
                <a:off x="3512417" y="4713695"/>
                <a:ext cx="1429974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2.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读缓存，未命中</a:t>
                </a:r>
                <a:endPara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endParaRPr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3264099" y="5576665"/>
                <a:ext cx="114446" cy="30822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59" name="肘形连接符 25"/>
              <p:cNvCxnSpPr>
                <a:endCxn id="58" idx="3"/>
              </p:cNvCxnSpPr>
              <p:nvPr/>
            </p:nvCxnSpPr>
            <p:spPr>
              <a:xfrm rot="16200000" flipH="1">
                <a:off x="3250471" y="5602702"/>
                <a:ext cx="198148" cy="57999"/>
              </a:xfrm>
              <a:prstGeom prst="bentConnector4">
                <a:avLst>
                  <a:gd name="adj1" fmla="val 11112"/>
                  <a:gd name="adj2" fmla="val 494145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文本框 59"/>
              <p:cNvSpPr txBox="1"/>
              <p:nvPr/>
            </p:nvSpPr>
            <p:spPr>
              <a:xfrm>
                <a:off x="3526349" y="5512060"/>
                <a:ext cx="99598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4.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更新缓存</a:t>
                </a:r>
                <a:endPara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endParaRPr>
              </a:p>
            </p:txBody>
          </p:sp>
          <p:cxnSp>
            <p:nvCxnSpPr>
              <p:cNvPr id="61" name="肘形连接符 25"/>
              <p:cNvCxnSpPr/>
              <p:nvPr/>
            </p:nvCxnSpPr>
            <p:spPr>
              <a:xfrm rot="16200000" flipH="1">
                <a:off x="3232209" y="5130902"/>
                <a:ext cx="234610" cy="79146"/>
              </a:xfrm>
              <a:prstGeom prst="bentConnector4">
                <a:avLst>
                  <a:gd name="adj1" fmla="val 9385"/>
                  <a:gd name="adj2" fmla="val 388833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矩形 61"/>
              <p:cNvSpPr/>
              <p:nvPr/>
            </p:nvSpPr>
            <p:spPr>
              <a:xfrm>
                <a:off x="3266029" y="6064733"/>
                <a:ext cx="114446" cy="30822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50">
                  <a:solidFill>
                    <a:srgbClr val="FFFFE4"/>
                  </a:solidFill>
                </a:endParaRPr>
              </a:p>
            </p:txBody>
          </p:sp>
          <p:cxnSp>
            <p:nvCxnSpPr>
              <p:cNvPr id="63" name="肘形连接符 25"/>
              <p:cNvCxnSpPr>
                <a:endCxn id="62" idx="3"/>
              </p:cNvCxnSpPr>
              <p:nvPr/>
            </p:nvCxnSpPr>
            <p:spPr>
              <a:xfrm rot="16200000" flipH="1">
                <a:off x="3252401" y="6090770"/>
                <a:ext cx="198148" cy="57999"/>
              </a:xfrm>
              <a:prstGeom prst="bentConnector4">
                <a:avLst>
                  <a:gd name="adj1" fmla="val 11112"/>
                  <a:gd name="adj2" fmla="val 494145"/>
                </a:avLst>
              </a:prstGeom>
              <a:ln w="12700">
                <a:solidFill>
                  <a:srgbClr val="4C52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文本框 63"/>
              <p:cNvSpPr txBox="1"/>
              <p:nvPr/>
            </p:nvSpPr>
            <p:spPr>
              <a:xfrm>
                <a:off x="3424104" y="6000128"/>
                <a:ext cx="99598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5.</a:t>
                </a:r>
                <a:r>
                  <a:rPr lang="zh-CN" alt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 R" pitchFamily="18" charset="-122"/>
                    <a:ea typeface="Alibaba PuHuiTi R" pitchFamily="18" charset="-122"/>
                    <a:cs typeface="Alibaba PuHuiTi R" pitchFamily="18" charset="-122"/>
                  </a:rPr>
                  <a:t> 解锁</a:t>
                </a:r>
                <a:endPara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endParaRPr>
              </a:p>
            </p:txBody>
          </p:sp>
        </p:grpSp>
      </p:grpSp>
      <p:sp>
        <p:nvSpPr>
          <p:cNvPr id="101" name="文本占位符 1"/>
          <p:cNvSpPr txBox="1"/>
          <p:nvPr/>
        </p:nvSpPr>
        <p:spPr>
          <a:xfrm>
            <a:off x="5289699" y="1762813"/>
            <a:ext cx="6324123" cy="1317985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400" b="1" dirty="0"/>
              <a:t>共享锁：</a:t>
            </a:r>
            <a:r>
              <a:rPr lang="zh-CN" altLang="en-US" sz="1400" dirty="0"/>
              <a:t>读锁</a:t>
            </a:r>
            <a:r>
              <a:rPr lang="en-US" altLang="zh-CN" sz="1400" dirty="0" err="1"/>
              <a:t>readLock</a:t>
            </a:r>
            <a:r>
              <a:rPr lang="zh-CN" altLang="en-US" sz="1400" dirty="0"/>
              <a:t>，加锁之后，其他线程可以共享读操作      </a:t>
            </a:r>
            <a:endParaRPr lang="en-US" altLang="zh-CN" sz="14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b="1" dirty="0"/>
              <a:t>排他锁：</a:t>
            </a:r>
            <a:r>
              <a:rPr lang="zh-CN" altLang="en-US" sz="1400" dirty="0"/>
              <a:t>独占锁</a:t>
            </a:r>
            <a:r>
              <a:rPr lang="en-US" altLang="zh-CN" sz="1400" dirty="0" err="1"/>
              <a:t>writeLock</a:t>
            </a:r>
            <a:r>
              <a:rPr lang="zh-CN" altLang="en-US" sz="1400" dirty="0"/>
              <a:t>也叫，加锁之后，阻塞其他线程读写操作</a:t>
            </a:r>
            <a:endParaRPr lang="en-US" altLang="zh-CN" sz="1400" dirty="0"/>
          </a:p>
        </p:txBody>
      </p:sp>
      <p:sp>
        <p:nvSpPr>
          <p:cNvPr id="102" name="矩形: 圆角 101"/>
          <p:cNvSpPr/>
          <p:nvPr/>
        </p:nvSpPr>
        <p:spPr bwMode="auto">
          <a:xfrm>
            <a:off x="5363852" y="1457603"/>
            <a:ext cx="2017336" cy="465464"/>
          </a:xfrm>
          <a:prstGeom prst="roundRect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ea typeface="阿里巴巴普惠体" panose="00020600040101010101" pitchFamily="18" charset="-122"/>
              </a:rPr>
              <a:t>读多写少</a:t>
            </a:r>
            <a:endParaRPr lang="zh-CN" altLang="en-US" sz="1600" b="1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104" name="矩形: 圆角 103"/>
          <p:cNvSpPr/>
          <p:nvPr/>
        </p:nvSpPr>
        <p:spPr bwMode="auto">
          <a:xfrm>
            <a:off x="6004876" y="4104120"/>
            <a:ext cx="1706251" cy="5844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读数据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: 圆角 104"/>
          <p:cNvSpPr/>
          <p:nvPr/>
        </p:nvSpPr>
        <p:spPr bwMode="auto">
          <a:xfrm>
            <a:off x="8418138" y="4059401"/>
            <a:ext cx="1706251" cy="58446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写数据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5722070" y="3334572"/>
            <a:ext cx="2318994" cy="1562903"/>
            <a:chOff x="5175315" y="2735721"/>
            <a:chExt cx="2318994" cy="1562903"/>
          </a:xfrm>
        </p:grpSpPr>
        <p:grpSp>
          <p:nvGrpSpPr>
            <p:cNvPr id="108" name="组合 107"/>
            <p:cNvGrpSpPr/>
            <p:nvPr/>
          </p:nvGrpSpPr>
          <p:grpSpPr>
            <a:xfrm>
              <a:off x="5175315" y="2735721"/>
              <a:ext cx="2318994" cy="1562903"/>
              <a:chOff x="5118754" y="2764001"/>
              <a:chExt cx="2318994" cy="1562903"/>
            </a:xfrm>
          </p:grpSpPr>
          <p:sp>
            <p:nvSpPr>
              <p:cNvPr id="107" name="椭圆 106"/>
              <p:cNvSpPr/>
              <p:nvPr/>
            </p:nvSpPr>
            <p:spPr bwMode="auto">
              <a:xfrm>
                <a:off x="5118754" y="3148553"/>
                <a:ext cx="2318994" cy="117835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6" name="图片 10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096000" y="2764001"/>
                <a:ext cx="435163" cy="55567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112" name="文本框 111"/>
            <p:cNvSpPr txBox="1"/>
            <p:nvPr/>
          </p:nvSpPr>
          <p:spPr>
            <a:xfrm>
              <a:off x="6277580" y="2830149"/>
              <a:ext cx="99598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rPr>
                <a:t>共享锁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5354425" y="2873330"/>
            <a:ext cx="5514680" cy="2499948"/>
            <a:chOff x="5354425" y="2873330"/>
            <a:chExt cx="5514680" cy="2499948"/>
          </a:xfrm>
        </p:grpSpPr>
        <p:grpSp>
          <p:nvGrpSpPr>
            <p:cNvPr id="118" name="组合 117"/>
            <p:cNvGrpSpPr/>
            <p:nvPr/>
          </p:nvGrpSpPr>
          <p:grpSpPr>
            <a:xfrm>
              <a:off x="5354425" y="2873330"/>
              <a:ext cx="5514680" cy="2499948"/>
              <a:chOff x="5354425" y="2873330"/>
              <a:chExt cx="5514680" cy="2499948"/>
            </a:xfrm>
          </p:grpSpPr>
          <p:sp>
            <p:nvSpPr>
              <p:cNvPr id="116" name="椭圆 115"/>
              <p:cNvSpPr/>
              <p:nvPr/>
            </p:nvSpPr>
            <p:spPr bwMode="auto">
              <a:xfrm>
                <a:off x="5354425" y="3148553"/>
                <a:ext cx="5514680" cy="222472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17" name="图片 116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7945225" y="2873330"/>
                <a:ext cx="435163" cy="55567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119" name="文本框 118"/>
            <p:cNvSpPr txBox="1"/>
            <p:nvPr/>
          </p:nvSpPr>
          <p:spPr>
            <a:xfrm>
              <a:off x="8079671" y="2893243"/>
              <a:ext cx="99598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rPr>
                <a:t>排他锁</a:t>
              </a:r>
              <a:endPara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endParaRPr>
            </a:p>
          </p:txBody>
        </p:sp>
      </p:grpSp>
      <p:sp>
        <p:nvSpPr>
          <p:cNvPr id="19" name="椭圆 18"/>
          <p:cNvSpPr/>
          <p:nvPr/>
        </p:nvSpPr>
        <p:spPr bwMode="auto">
          <a:xfrm>
            <a:off x="10108539" y="831232"/>
            <a:ext cx="1442302" cy="1442302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性能低</a:t>
            </a:r>
            <a:endParaRPr lang="zh-CN" altLang="en-US" sz="2000" b="1" dirty="0">
              <a:solidFill>
                <a:srgbClr val="C00000"/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6" name="文本占位符 1"/>
          <p:cNvSpPr txBox="1"/>
          <p:nvPr/>
        </p:nvSpPr>
        <p:spPr>
          <a:xfrm>
            <a:off x="6096000" y="3756990"/>
            <a:ext cx="1985743" cy="417443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C00000"/>
                </a:solidFill>
              </a:rPr>
              <a:t>读读不互斥，写互斥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sp>
        <p:nvSpPr>
          <p:cNvPr id="29" name="文本占位符 1"/>
          <p:cNvSpPr txBox="1"/>
          <p:nvPr/>
        </p:nvSpPr>
        <p:spPr>
          <a:xfrm>
            <a:off x="7808844" y="3352799"/>
            <a:ext cx="838199" cy="417443"/>
          </a:xfrm>
          <a:prstGeom prst="rect">
            <a:avLst/>
          </a:prstGeom>
        </p:spPr>
        <p:txBody>
          <a:bodyPr lIns="91440" tIns="45720" rIns="0" bIns="45720"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C00000"/>
                </a:solidFill>
              </a:rPr>
              <a:t>读写互斥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23280" y="4104005"/>
            <a:ext cx="6234694" cy="36014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19444" y="434393"/>
            <a:ext cx="6130564" cy="33809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8" name="椭圆 17"/>
          <p:cNvSpPr/>
          <p:nvPr/>
        </p:nvSpPr>
        <p:spPr bwMode="auto">
          <a:xfrm>
            <a:off x="8346000" y="831232"/>
            <a:ext cx="1442302" cy="1442302"/>
          </a:xfrm>
          <a:prstGeom prst="ellipse">
            <a:avLst/>
          </a:prstGeom>
          <a:noFill/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00B050"/>
                </a:solidFill>
                <a:ea typeface="阿里巴巴普惠体" panose="00020600040101010101" pitchFamily="18" charset="-122"/>
              </a:rPr>
              <a:t>强一致</a:t>
            </a:r>
            <a:endParaRPr lang="zh-CN" altLang="en-US" sz="2000" b="1" dirty="0">
              <a:solidFill>
                <a:srgbClr val="00B050"/>
              </a:solidFill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animBg="1"/>
      <p:bldP spid="104" grpId="0" animBg="1"/>
      <p:bldP spid="105" grpId="0" animBg="1"/>
      <p:bldP spid="19" grpId="0" animBg="1"/>
      <p:bldP spid="26" grpId="0"/>
      <p:bldP spid="29" grpId="0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双写一致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506254"/>
          </a:xfrm>
        </p:spPr>
        <p:txBody>
          <a:bodyPr/>
          <a:lstStyle/>
          <a:p>
            <a:r>
              <a:rPr lang="zh-CN" altLang="en-US" dirty="0"/>
              <a:t>异步通知保证数据的最终一致性</a:t>
            </a:r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>
          <a:xfrm>
            <a:off x="3041025" y="2954303"/>
            <a:ext cx="1734853" cy="1150804"/>
          </a:xfrm>
          <a:prstGeom prst="roundRect">
            <a:avLst>
              <a:gd name="adj" fmla="val 987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item-service</a:t>
            </a:r>
            <a:endParaRPr lang="en-US" altLang="zh-CN" sz="1600"/>
          </a:p>
        </p:txBody>
      </p:sp>
      <p:sp>
        <p:nvSpPr>
          <p:cNvPr id="5" name="矩形: 圆角 4"/>
          <p:cNvSpPr/>
          <p:nvPr/>
        </p:nvSpPr>
        <p:spPr>
          <a:xfrm>
            <a:off x="8450185" y="2954303"/>
            <a:ext cx="1853382" cy="1150805"/>
          </a:xfrm>
          <a:prstGeom prst="roundRect">
            <a:avLst>
              <a:gd name="adj" fmla="val 987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cache-service</a:t>
            </a:r>
            <a:endParaRPr lang="en-US" altLang="zh-CN" sz="1600"/>
          </a:p>
        </p:txBody>
      </p:sp>
      <p:sp>
        <p:nvSpPr>
          <p:cNvPr id="6" name="圆柱体 5"/>
          <p:cNvSpPr/>
          <p:nvPr/>
        </p:nvSpPr>
        <p:spPr>
          <a:xfrm>
            <a:off x="3173220" y="5329742"/>
            <a:ext cx="1524000" cy="1052052"/>
          </a:xfrm>
          <a:prstGeom prst="ca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MySQL</a:t>
            </a:r>
            <a:endParaRPr lang="zh-CN" altLang="en-US"/>
          </a:p>
        </p:txBody>
      </p:sp>
      <p:cxnSp>
        <p:nvCxnSpPr>
          <p:cNvPr id="7" name="直接箭头连接符 6"/>
          <p:cNvCxnSpPr>
            <a:stCxn id="8" idx="6"/>
            <a:endCxn id="4" idx="1"/>
          </p:cNvCxnSpPr>
          <p:nvPr/>
        </p:nvCxnSpPr>
        <p:spPr>
          <a:xfrm>
            <a:off x="1451747" y="3529705"/>
            <a:ext cx="1589278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1068299" y="3337981"/>
            <a:ext cx="383448" cy="383448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835195" y="3216306"/>
            <a:ext cx="855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修改数据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70014" y="4578925"/>
            <a:ext cx="1365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1.1.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写入数据库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11" name="直接箭头连接符 10"/>
          <p:cNvCxnSpPr>
            <a:stCxn id="4" idx="2"/>
            <a:endCxn id="6" idx="1"/>
          </p:cNvCxnSpPr>
          <p:nvPr/>
        </p:nvCxnSpPr>
        <p:spPr>
          <a:xfrm>
            <a:off x="3908452" y="4105107"/>
            <a:ext cx="26768" cy="122463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4" idx="3"/>
            <a:endCxn id="17" idx="3"/>
          </p:cNvCxnSpPr>
          <p:nvPr/>
        </p:nvCxnSpPr>
        <p:spPr>
          <a:xfrm flipV="1">
            <a:off x="4775878" y="2490115"/>
            <a:ext cx="1176672" cy="103959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380552" y="2420606"/>
            <a:ext cx="1238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1.2.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发布消息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14" name="直接箭头连接符 13"/>
          <p:cNvCxnSpPr>
            <a:stCxn id="5" idx="2"/>
            <a:endCxn id="21" idx="0"/>
          </p:cNvCxnSpPr>
          <p:nvPr/>
        </p:nvCxnSpPr>
        <p:spPr>
          <a:xfrm>
            <a:off x="9376876" y="4105108"/>
            <a:ext cx="0" cy="121656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9430657" y="4578925"/>
            <a:ext cx="1203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2.1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更新缓存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952550" y="2150902"/>
            <a:ext cx="1280950" cy="678426"/>
            <a:chOff x="5981550" y="1080597"/>
            <a:chExt cx="1280950" cy="678426"/>
          </a:xfrm>
        </p:grpSpPr>
        <p:sp>
          <p:nvSpPr>
            <p:cNvPr id="17" name="圆柱体 16"/>
            <p:cNvSpPr/>
            <p:nvPr/>
          </p:nvSpPr>
          <p:spPr>
            <a:xfrm rot="5400000">
              <a:off x="6282812" y="779335"/>
              <a:ext cx="678426" cy="1280950"/>
            </a:xfrm>
            <a:prstGeom prst="can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331973" y="1238815"/>
              <a:ext cx="58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>
                  <a:solidFill>
                    <a:schemeClr val="bg1"/>
                  </a:solidFill>
                  <a:latin typeface="+mn-lt"/>
                  <a:ea typeface="+mn-ea"/>
                </a:rPr>
                <a:t>MQ</a:t>
              </a:r>
              <a:endParaRPr lang="zh-CN" altLang="en-US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19" name="直接箭头连接符 18"/>
          <p:cNvCxnSpPr>
            <a:stCxn id="17" idx="1"/>
            <a:endCxn id="5" idx="1"/>
          </p:cNvCxnSpPr>
          <p:nvPr/>
        </p:nvCxnSpPr>
        <p:spPr>
          <a:xfrm>
            <a:off x="7233500" y="2490115"/>
            <a:ext cx="1216685" cy="103959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7566644" y="2392255"/>
            <a:ext cx="1238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监听消息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2769" y="5321674"/>
            <a:ext cx="1168213" cy="1134187"/>
          </a:xfrm>
          <a:prstGeom prst="rect">
            <a:avLst/>
          </a:prstGeom>
        </p:spPr>
      </p:pic>
      <p:sp>
        <p:nvSpPr>
          <p:cNvPr id="33" name="文本占位符 2"/>
          <p:cNvSpPr txBox="1"/>
          <p:nvPr/>
        </p:nvSpPr>
        <p:spPr>
          <a:xfrm>
            <a:off x="5526841" y="2959259"/>
            <a:ext cx="2442986" cy="50625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需要保证</a:t>
            </a:r>
            <a:r>
              <a:rPr lang="en-US" altLang="zh-CN" dirty="0">
                <a:solidFill>
                  <a:srgbClr val="C00000"/>
                </a:solidFill>
              </a:rPr>
              <a:t>MQ</a:t>
            </a:r>
            <a:r>
              <a:rPr lang="zh-CN" altLang="en-US" dirty="0">
                <a:solidFill>
                  <a:srgbClr val="C00000"/>
                </a:solidFill>
              </a:rPr>
              <a:t>的可靠性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双写一致</a:t>
            </a:r>
            <a:endParaRPr lang="zh-CN" altLang="en-US" dirty="0"/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1200" y="1624013"/>
            <a:ext cx="10698163" cy="610140"/>
          </a:xfrm>
        </p:spPr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Canal</a:t>
            </a:r>
            <a:r>
              <a:rPr lang="zh-CN" altLang="en-US" dirty="0"/>
              <a:t>的异步通知：</a:t>
            </a:r>
            <a:endParaRPr lang="en-US" altLang="zh-CN" dirty="0"/>
          </a:p>
        </p:txBody>
      </p:sp>
      <p:sp>
        <p:nvSpPr>
          <p:cNvPr id="6" name="矩形: 圆角 5"/>
          <p:cNvSpPr/>
          <p:nvPr/>
        </p:nvSpPr>
        <p:spPr>
          <a:xfrm>
            <a:off x="3094561" y="2296732"/>
            <a:ext cx="1753885" cy="1150804"/>
          </a:xfrm>
          <a:prstGeom prst="roundRect">
            <a:avLst>
              <a:gd name="adj" fmla="val 987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item-service</a:t>
            </a:r>
            <a:endParaRPr lang="en-US" altLang="zh-CN" sz="1600"/>
          </a:p>
        </p:txBody>
      </p:sp>
      <p:sp>
        <p:nvSpPr>
          <p:cNvPr id="7" name="矩形: 圆角 6"/>
          <p:cNvSpPr/>
          <p:nvPr/>
        </p:nvSpPr>
        <p:spPr>
          <a:xfrm>
            <a:off x="8450185" y="2296732"/>
            <a:ext cx="1906620" cy="1150805"/>
          </a:xfrm>
          <a:prstGeom prst="roundRect">
            <a:avLst>
              <a:gd name="adj" fmla="val 987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cache-service</a:t>
            </a:r>
            <a:endParaRPr lang="zh-CN" altLang="en-US" sz="1600"/>
          </a:p>
        </p:txBody>
      </p:sp>
      <p:sp>
        <p:nvSpPr>
          <p:cNvPr id="8" name="圆柱体 7"/>
          <p:cNvSpPr/>
          <p:nvPr/>
        </p:nvSpPr>
        <p:spPr>
          <a:xfrm>
            <a:off x="3209503" y="4704877"/>
            <a:ext cx="1524000" cy="1052052"/>
          </a:xfrm>
          <a:prstGeom prst="ca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MySQL</a:t>
            </a:r>
            <a:endParaRPr lang="zh-CN" altLang="en-US"/>
          </a:p>
        </p:txBody>
      </p:sp>
      <p:cxnSp>
        <p:nvCxnSpPr>
          <p:cNvPr id="9" name="直接箭头连接符 8"/>
          <p:cNvCxnSpPr>
            <a:stCxn id="10" idx="6"/>
            <a:endCxn id="6" idx="1"/>
          </p:cNvCxnSpPr>
          <p:nvPr/>
        </p:nvCxnSpPr>
        <p:spPr>
          <a:xfrm>
            <a:off x="1451747" y="2872134"/>
            <a:ext cx="1642814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1068299" y="2680410"/>
            <a:ext cx="383448" cy="383448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835195" y="2558735"/>
            <a:ext cx="855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修改数据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54222" y="4089516"/>
            <a:ext cx="1365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写入数据库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13" name="直接箭头连接符 12"/>
          <p:cNvCxnSpPr>
            <a:stCxn id="6" idx="2"/>
            <a:endCxn id="8" idx="1"/>
          </p:cNvCxnSpPr>
          <p:nvPr/>
        </p:nvCxnSpPr>
        <p:spPr>
          <a:xfrm flipH="1">
            <a:off x="3971503" y="3447536"/>
            <a:ext cx="1" cy="125734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8" idx="4"/>
            <a:endCxn id="19" idx="3"/>
          </p:cNvCxnSpPr>
          <p:nvPr/>
        </p:nvCxnSpPr>
        <p:spPr>
          <a:xfrm flipV="1">
            <a:off x="4733503" y="3938703"/>
            <a:ext cx="1239054" cy="129220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705367" y="4382698"/>
            <a:ext cx="2215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监听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mysql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的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binlog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16" name="直接箭头连接符 15"/>
          <p:cNvCxnSpPr>
            <a:stCxn id="7" idx="2"/>
            <a:endCxn id="23" idx="0"/>
          </p:cNvCxnSpPr>
          <p:nvPr/>
        </p:nvCxnSpPr>
        <p:spPr>
          <a:xfrm>
            <a:off x="9403495" y="3447537"/>
            <a:ext cx="0" cy="117022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9610579" y="3938703"/>
            <a:ext cx="1244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2.3.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更新缓存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972557" y="3599490"/>
            <a:ext cx="1280950" cy="678426"/>
            <a:chOff x="5972557" y="3854014"/>
            <a:chExt cx="1280950" cy="678426"/>
          </a:xfrm>
        </p:grpSpPr>
        <p:sp>
          <p:nvSpPr>
            <p:cNvPr id="19" name="圆柱体 18"/>
            <p:cNvSpPr/>
            <p:nvPr/>
          </p:nvSpPr>
          <p:spPr>
            <a:xfrm rot="5400000">
              <a:off x="6273819" y="3552752"/>
              <a:ext cx="678426" cy="1280950"/>
            </a:xfrm>
            <a:prstGeom prst="can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161629" y="4008561"/>
              <a:ext cx="9028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>
                  <a:solidFill>
                    <a:schemeClr val="bg1"/>
                  </a:solidFill>
                </a:rPr>
                <a:t>canal</a:t>
              </a:r>
              <a:endParaRPr lang="zh-CN" altLang="en-US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21" name="直接箭头连接符 20"/>
          <p:cNvCxnSpPr>
            <a:stCxn id="19" idx="1"/>
            <a:endCxn id="7" idx="1"/>
          </p:cNvCxnSpPr>
          <p:nvPr/>
        </p:nvCxnSpPr>
        <p:spPr>
          <a:xfrm flipV="1">
            <a:off x="7253507" y="2872135"/>
            <a:ext cx="1196678" cy="106656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6990099" y="2813844"/>
            <a:ext cx="1238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2.2.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通知数据变更情况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388" y="4617762"/>
            <a:ext cx="1168213" cy="1134187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5168654" y="5704603"/>
            <a:ext cx="3309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canal</a:t>
            </a:r>
            <a:r>
              <a:rPr lang="zh-CN" altLang="en-US" sz="12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是基于</a:t>
            </a:r>
            <a:r>
              <a:rPr lang="en-US" altLang="zh-CN" sz="1200" b="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mysql</a:t>
            </a:r>
            <a:r>
              <a:rPr lang="zh-CN" altLang="en-US" sz="1200" b="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的主从同步来实现的</a:t>
            </a:r>
            <a:endParaRPr lang="en-US" altLang="zh-CN" sz="1200" b="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200" dirty="0">
              <a:solidFill>
                <a:srgbClr val="C00000"/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7" name="文本占位符 2"/>
          <p:cNvSpPr txBox="1"/>
          <p:nvPr/>
        </p:nvSpPr>
        <p:spPr>
          <a:xfrm>
            <a:off x="1034491" y="6062180"/>
            <a:ext cx="10265894" cy="4429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二进制日志（</a:t>
            </a:r>
            <a:r>
              <a:rPr lang="en-US" altLang="zh-CN" sz="1200" dirty="0"/>
              <a:t>BINLOG</a:t>
            </a:r>
            <a:r>
              <a:rPr lang="zh-CN" altLang="en-US" sz="1200" dirty="0"/>
              <a:t>）记录了所有的 </a:t>
            </a:r>
            <a:r>
              <a:rPr lang="en-US" altLang="zh-CN" sz="1200" dirty="0"/>
              <a:t>DDL</a:t>
            </a:r>
            <a:r>
              <a:rPr lang="zh-CN" altLang="en-US" sz="1200" dirty="0"/>
              <a:t>（数据定义语言）语句和 </a:t>
            </a:r>
            <a:r>
              <a:rPr lang="en-US" altLang="zh-CN" sz="1200" dirty="0"/>
              <a:t>DML</a:t>
            </a:r>
            <a:r>
              <a:rPr lang="zh-CN" altLang="en-US" sz="1200" dirty="0"/>
              <a:t>（数据操纵语言）语句，但不包括数据查询（</a:t>
            </a:r>
            <a:r>
              <a:rPr lang="en-US" altLang="zh-CN" sz="1200" dirty="0"/>
              <a:t>SELECT</a:t>
            </a:r>
            <a:r>
              <a:rPr lang="zh-CN" altLang="en-US" sz="1200" dirty="0"/>
              <a:t>、</a:t>
            </a:r>
            <a:r>
              <a:rPr lang="en-US" altLang="zh-CN" sz="1200" dirty="0"/>
              <a:t>SHOW</a:t>
            </a:r>
            <a:r>
              <a:rPr lang="zh-CN" altLang="en-US" sz="1200" dirty="0"/>
              <a:t>）语句。</a:t>
            </a:r>
            <a:endParaRPr lang="zh-CN" altLang="en-US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967" y="1238553"/>
            <a:ext cx="867323" cy="116706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472513" y="1105296"/>
            <a:ext cx="7907155" cy="717988"/>
            <a:chOff x="1415952" y="1021955"/>
            <a:chExt cx="7907155" cy="717988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-1" fmla="*/ 803381 w 5319528"/>
                <a:gd name="connsiteY0-2" fmla="*/ 0 h 787065"/>
                <a:gd name="connsiteX1-3" fmla="*/ 5216541 w 5319528"/>
                <a:gd name="connsiteY1-4" fmla="*/ 0 h 787065"/>
                <a:gd name="connsiteX2-5" fmla="*/ 5319528 w 5319528"/>
                <a:gd name="connsiteY2-6" fmla="*/ 102987 h 787065"/>
                <a:gd name="connsiteX3-7" fmla="*/ 5319528 w 5319528"/>
                <a:gd name="connsiteY3-8" fmla="*/ 514924 h 787065"/>
                <a:gd name="connsiteX4-9" fmla="*/ 5216541 w 5319528"/>
                <a:gd name="connsiteY4-10" fmla="*/ 617911 h 787065"/>
                <a:gd name="connsiteX5-11" fmla="*/ 875800 w 5319528"/>
                <a:gd name="connsiteY5-12" fmla="*/ 617911 h 787065"/>
                <a:gd name="connsiteX6-13" fmla="*/ 0 w 5319528"/>
                <a:gd name="connsiteY6-14" fmla="*/ 787065 h 787065"/>
                <a:gd name="connsiteX7-15" fmla="*/ 700394 w 5319528"/>
                <a:gd name="connsiteY7-16" fmla="*/ 498849 h 787065"/>
                <a:gd name="connsiteX8-17" fmla="*/ 700394 w 5319528"/>
                <a:gd name="connsiteY8-18" fmla="*/ 102987 h 787065"/>
                <a:gd name="connsiteX9-19" fmla="*/ 803381 w 5319528"/>
                <a:gd name="connsiteY9-20" fmla="*/ 0 h 78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做为缓存，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的数据如何与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进行同步呢？（双写一致性）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文本占位符 2"/>
          <p:cNvSpPr txBox="1"/>
          <p:nvPr/>
        </p:nvSpPr>
        <p:spPr>
          <a:xfrm>
            <a:off x="2723821" y="1762620"/>
            <a:ext cx="8522356" cy="147784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zh-CN" altLang="en-US" sz="1400" dirty="0"/>
              <a:t>介绍自己简历上的业务，我们当时是把文章的热点数据存入到了缓存中，虽然是热点数据，但是实时要求性并没有那么高，所以，我们当时采用的是异步的方案同步的数据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zh-CN" altLang="en-US" sz="1400" dirty="0"/>
              <a:t>我们当时是把抢券的库存存入到了缓存中，这个需要实时的进行数据同步，为了保证数据的强一致，我们当时采用的是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提供的读写锁来保证数据的同步</a:t>
            </a:r>
            <a:endParaRPr lang="en-US" altLang="zh-CN" sz="1400" dirty="0"/>
          </a:p>
          <a:p>
            <a:pPr marL="342900" indent="-342900">
              <a:buAutoNum type="arabicPeriod"/>
            </a:pPr>
            <a:endParaRPr lang="en-US" altLang="zh-CN" sz="1400" dirty="0"/>
          </a:p>
          <a:p>
            <a:pPr marL="342900" indent="-342900">
              <a:buAutoNum type="arabicPeriod"/>
            </a:pPr>
            <a:endParaRPr lang="zh-CN" altLang="en-US" sz="1400" dirty="0"/>
          </a:p>
        </p:txBody>
      </p:sp>
      <p:pic>
        <p:nvPicPr>
          <p:cNvPr id="10" name="图形 9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5407" y="3390218"/>
            <a:ext cx="867323" cy="116706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1415953" y="3256961"/>
            <a:ext cx="7907155" cy="717988"/>
            <a:chOff x="1415952" y="1021955"/>
            <a:chExt cx="7907155" cy="717988"/>
          </a:xfrm>
        </p:grpSpPr>
        <p:sp>
          <p:nvSpPr>
            <p:cNvPr id="12" name="任意多边形: 形状 11"/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-1" fmla="*/ 803381 w 5319528"/>
                <a:gd name="connsiteY0-2" fmla="*/ 0 h 787065"/>
                <a:gd name="connsiteX1-3" fmla="*/ 5216541 w 5319528"/>
                <a:gd name="connsiteY1-4" fmla="*/ 0 h 787065"/>
                <a:gd name="connsiteX2-5" fmla="*/ 5319528 w 5319528"/>
                <a:gd name="connsiteY2-6" fmla="*/ 102987 h 787065"/>
                <a:gd name="connsiteX3-7" fmla="*/ 5319528 w 5319528"/>
                <a:gd name="connsiteY3-8" fmla="*/ 514924 h 787065"/>
                <a:gd name="connsiteX4-9" fmla="*/ 5216541 w 5319528"/>
                <a:gd name="connsiteY4-10" fmla="*/ 617911 h 787065"/>
                <a:gd name="connsiteX5-11" fmla="*/ 875800 w 5319528"/>
                <a:gd name="connsiteY5-12" fmla="*/ 617911 h 787065"/>
                <a:gd name="connsiteX6-13" fmla="*/ 0 w 5319528"/>
                <a:gd name="connsiteY6-14" fmla="*/ 787065 h 787065"/>
                <a:gd name="connsiteX7-15" fmla="*/ 700394 w 5319528"/>
                <a:gd name="connsiteY7-16" fmla="*/ 498849 h 787065"/>
                <a:gd name="connsiteX8-17" fmla="*/ 700394 w 5319528"/>
                <a:gd name="connsiteY8-18" fmla="*/ 102987 h 787065"/>
                <a:gd name="connsiteX9-19" fmla="*/ 803381 w 5319528"/>
                <a:gd name="connsiteY9-20" fmla="*/ 0 h 78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那你来介绍一下异步的方案（你来介绍一下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redisson</a:t>
              </a:r>
              <a:r>
                <a:rPr lang="zh-CN" altLang="en-US" sz="1400" dirty="0">
                  <a:solidFill>
                    <a:schemeClr val="tx1"/>
                  </a:solidFill>
                </a:rPr>
                <a:t>读写锁的这种方案）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8" name="文本占位符 2"/>
          <p:cNvSpPr txBox="1"/>
          <p:nvPr/>
        </p:nvSpPr>
        <p:spPr>
          <a:xfrm>
            <a:off x="2662237" y="3888161"/>
            <a:ext cx="9328658" cy="156176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C00000"/>
                </a:solidFill>
              </a:rPr>
              <a:t>允许延时一致的业务</a:t>
            </a:r>
            <a:r>
              <a:rPr lang="zh-CN" altLang="en-US" sz="1400" dirty="0"/>
              <a:t>，采用异步通知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使用</a:t>
            </a:r>
            <a:r>
              <a:rPr lang="en-US" altLang="zh-CN" sz="1400" dirty="0"/>
              <a:t>MQ</a:t>
            </a:r>
            <a:r>
              <a:rPr lang="zh-CN" altLang="en-US" sz="1400" dirty="0"/>
              <a:t>中间中间件，更新数据之后，通知缓存删除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利用</a:t>
            </a:r>
            <a:r>
              <a:rPr lang="en-US" altLang="zh-CN" sz="1400" dirty="0"/>
              <a:t>canal</a:t>
            </a:r>
            <a:r>
              <a:rPr lang="zh-CN" altLang="en-US" sz="1400" dirty="0"/>
              <a:t>中间件，不需要修改业务代码，伪装为</a:t>
            </a:r>
            <a:r>
              <a:rPr lang="en-US" altLang="zh-CN" sz="1400" dirty="0" err="1"/>
              <a:t>mysql</a:t>
            </a:r>
            <a:r>
              <a:rPr lang="zh-CN" altLang="en-US" sz="1400" dirty="0"/>
              <a:t>的一个从节点，</a:t>
            </a:r>
            <a:r>
              <a:rPr lang="en-US" altLang="zh-CN" sz="1400" dirty="0"/>
              <a:t>canal</a:t>
            </a:r>
            <a:r>
              <a:rPr lang="zh-CN" altLang="en-US" sz="1400" dirty="0"/>
              <a:t>通过读取</a:t>
            </a:r>
            <a:r>
              <a:rPr lang="en-US" altLang="zh-CN" sz="1400" dirty="0" err="1"/>
              <a:t>binlog</a:t>
            </a:r>
            <a:r>
              <a:rPr lang="zh-CN" altLang="en-US" sz="1400" dirty="0"/>
              <a:t>数据更新缓存</a:t>
            </a:r>
            <a:endParaRPr lang="zh-CN" altLang="en-US" sz="1400" dirty="0"/>
          </a:p>
          <a:p>
            <a:endParaRPr lang="en-US" altLang="zh-CN" sz="1400" dirty="0"/>
          </a:p>
        </p:txBody>
      </p:sp>
      <p:sp>
        <p:nvSpPr>
          <p:cNvPr id="19" name="文本占位符 2"/>
          <p:cNvSpPr txBox="1"/>
          <p:nvPr/>
        </p:nvSpPr>
        <p:spPr>
          <a:xfrm>
            <a:off x="2657834" y="5043341"/>
            <a:ext cx="7434964" cy="123491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C00000"/>
                </a:solidFill>
              </a:rPr>
              <a:t>强一致性的</a:t>
            </a:r>
            <a:r>
              <a:rPr lang="zh-CN" altLang="en-US" sz="1400" dirty="0"/>
              <a:t>，采用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提供的读写锁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共享锁：读锁</a:t>
            </a:r>
            <a:r>
              <a:rPr lang="en-US" altLang="zh-CN" sz="1400" dirty="0" err="1"/>
              <a:t>readLock</a:t>
            </a:r>
            <a:r>
              <a:rPr lang="zh-CN" altLang="en-US" sz="1400" dirty="0"/>
              <a:t>，加锁之后，其他线程可以共享读操作      </a:t>
            </a:r>
            <a:endParaRPr lang="zh-CN" altLang="en-US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排他锁：独占锁</a:t>
            </a:r>
            <a:r>
              <a:rPr lang="en-US" altLang="zh-CN" sz="1400" dirty="0" err="1"/>
              <a:t>writeLock</a:t>
            </a:r>
            <a:r>
              <a:rPr lang="zh-CN" altLang="en-US" sz="1400" dirty="0"/>
              <a:t>也叫，加锁之后，阻塞其他线程读写操作</a:t>
            </a:r>
            <a:endParaRPr lang="zh-CN" altLang="en-US" sz="1400" dirty="0"/>
          </a:p>
          <a:p>
            <a:pPr marL="342900" indent="-342900">
              <a:buAutoNum type="arabicPeriod"/>
            </a:pPr>
            <a:endParaRPr lang="zh-CN" altLang="en-US" sz="14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0828" y="2983276"/>
            <a:ext cx="6046118" cy="157130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3318" y="-1524764"/>
            <a:ext cx="6180482" cy="334776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/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/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/>
            <p:cNvSpPr txBox="1"/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/>
          <p:cNvSpPr txBox="1"/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6" name="文本占位符 6"/>
          <p:cNvSpPr txBox="1"/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/>
          <p:cNvSpPr txBox="1"/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8" name="箭头: 下 17"/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  <a:endParaRPr lang="zh-CN" altLang="en-US" sz="14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0" name="图形 19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686" y="5348639"/>
            <a:ext cx="867323" cy="116706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1481941" y="5196529"/>
            <a:ext cx="5512748" cy="717988"/>
            <a:chOff x="1415952" y="1021955"/>
            <a:chExt cx="7907155" cy="717988"/>
          </a:xfrm>
        </p:grpSpPr>
        <p:sp>
          <p:nvSpPr>
            <p:cNvPr id="23" name="任意多边形: 形状 22"/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-1" fmla="*/ 803381 w 5319528"/>
                <a:gd name="connsiteY0-2" fmla="*/ 0 h 787065"/>
                <a:gd name="connsiteX1-3" fmla="*/ 5216541 w 5319528"/>
                <a:gd name="connsiteY1-4" fmla="*/ 0 h 787065"/>
                <a:gd name="connsiteX2-5" fmla="*/ 5319528 w 5319528"/>
                <a:gd name="connsiteY2-6" fmla="*/ 102987 h 787065"/>
                <a:gd name="connsiteX3-7" fmla="*/ 5319528 w 5319528"/>
                <a:gd name="connsiteY3-8" fmla="*/ 514924 h 787065"/>
                <a:gd name="connsiteX4-9" fmla="*/ 5216541 w 5319528"/>
                <a:gd name="connsiteY4-10" fmla="*/ 617911 h 787065"/>
                <a:gd name="connsiteX5-11" fmla="*/ 875800 w 5319528"/>
                <a:gd name="connsiteY5-12" fmla="*/ 617911 h 787065"/>
                <a:gd name="connsiteX6-13" fmla="*/ 0 w 5319528"/>
                <a:gd name="connsiteY6-14" fmla="*/ 787065 h 787065"/>
                <a:gd name="connsiteX7-15" fmla="*/ 700394 w 5319528"/>
                <a:gd name="connsiteY7-16" fmla="*/ 498849 h 787065"/>
                <a:gd name="connsiteX8-17" fmla="*/ 700394 w 5319528"/>
                <a:gd name="connsiteY8-18" fmla="*/ 102987 h 787065"/>
                <a:gd name="connsiteX9-19" fmla="*/ 803381 w 5319528"/>
                <a:gd name="connsiteY9-20" fmla="*/ 0 h 78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做为缓存，数据的持久化是怎么做的？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279553" y="5913783"/>
            <a:ext cx="8514343" cy="556591"/>
            <a:chOff x="2266299" y="2633811"/>
            <a:chExt cx="8631088" cy="2694775"/>
          </a:xfrm>
        </p:grpSpPr>
        <p:sp>
          <p:nvSpPr>
            <p:cNvPr id="8" name="矩形: 圆角 7"/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占位符 6"/>
            <p:cNvSpPr txBox="1"/>
            <p:nvPr/>
          </p:nvSpPr>
          <p:spPr>
            <a:xfrm>
              <a:off x="2379422" y="2990920"/>
              <a:ext cx="8301148" cy="2058899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在</a:t>
              </a:r>
              <a:r>
                <a:rPr lang="en-US" altLang="zh-CN" sz="1400" dirty="0"/>
                <a:t>Redis</a:t>
              </a:r>
              <a:r>
                <a:rPr lang="zh-CN" altLang="en-US" sz="1400" dirty="0"/>
                <a:t>中提供了两种数据持久化的方式：</a:t>
              </a:r>
              <a:r>
                <a:rPr lang="en-US" altLang="zh-CN" sz="1400" dirty="0"/>
                <a:t>1</a:t>
              </a:r>
              <a:r>
                <a:rPr lang="zh-CN" altLang="en-US" sz="1400" dirty="0"/>
                <a:t>、</a:t>
              </a:r>
              <a:r>
                <a:rPr lang="en-US" altLang="zh-CN" sz="1400" dirty="0"/>
                <a:t>RDB   2</a:t>
              </a:r>
              <a:r>
                <a:rPr lang="zh-CN" altLang="en-US" sz="1400" dirty="0"/>
                <a:t>、</a:t>
              </a:r>
              <a:r>
                <a:rPr lang="en-US" altLang="zh-CN" sz="1400" dirty="0"/>
                <a:t>AOF</a:t>
              </a:r>
              <a:endParaRPr lang="zh-CN" altLang="en-US" sz="1400" dirty="0"/>
            </a:p>
            <a:p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持久化</a:t>
            </a:r>
            <a:endParaRPr lang="zh-CN" altLang="en-US" dirty="0"/>
          </a:p>
        </p:txBody>
      </p:sp>
      <p:sp>
        <p:nvSpPr>
          <p:cNvPr id="4" name="文本占位符 2"/>
          <p:cNvSpPr txBox="1"/>
          <p:nvPr/>
        </p:nvSpPr>
        <p:spPr>
          <a:xfrm>
            <a:off x="746600" y="1753412"/>
            <a:ext cx="10698800" cy="100642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RDB</a:t>
            </a:r>
            <a:r>
              <a:rPr lang="zh-CN" altLang="en-US" dirty="0"/>
              <a:t>全称</a:t>
            </a:r>
            <a:r>
              <a:rPr lang="en-US" altLang="zh-CN" dirty="0"/>
              <a:t>Redis Database Backup file</a:t>
            </a:r>
            <a:r>
              <a:rPr lang="zh-CN" altLang="en-US" dirty="0"/>
              <a:t>（</a:t>
            </a:r>
            <a:r>
              <a:rPr lang="en-US" altLang="zh-CN" dirty="0"/>
              <a:t>Redis</a:t>
            </a:r>
            <a:r>
              <a:rPr lang="zh-CN" altLang="en-US" dirty="0"/>
              <a:t>数据备份文件），也被叫做</a:t>
            </a:r>
            <a:r>
              <a:rPr lang="en-US" altLang="zh-CN" dirty="0"/>
              <a:t>Redis</a:t>
            </a:r>
            <a:r>
              <a:rPr lang="zh-CN" altLang="en-US" dirty="0"/>
              <a:t>数据快照。简单来说就是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把内存中的所有数据都记录到磁盘中</a:t>
            </a:r>
            <a:r>
              <a:rPr lang="zh-CN" altLang="en-US" dirty="0"/>
              <a:t>。当</a:t>
            </a:r>
            <a:r>
              <a:rPr lang="en-US" altLang="zh-CN" dirty="0"/>
              <a:t>Redis</a:t>
            </a:r>
            <a:r>
              <a:rPr lang="zh-CN" altLang="en-US" dirty="0"/>
              <a:t>实例故障重启后，从磁盘读取快照文件，恢复数据</a:t>
            </a:r>
            <a:endParaRPr lang="zh-CN" alt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886277" y="2849945"/>
            <a:ext cx="8621381" cy="1922719"/>
            <a:chOff x="866398" y="3287267"/>
            <a:chExt cx="8621381" cy="1922719"/>
          </a:xfrm>
        </p:grpSpPr>
        <p:sp>
          <p:nvSpPr>
            <p:cNvPr id="7" name="文本框 6"/>
            <p:cNvSpPr txBox="1"/>
            <p:nvPr/>
          </p:nvSpPr>
          <p:spPr>
            <a:xfrm>
              <a:off x="3745882" y="3609785"/>
              <a:ext cx="6335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bg1"/>
                  </a:solidFill>
                  <a:latin typeface="Consolas" panose="020B0609020204030204" pitchFamily="49" charset="0"/>
                </a:rPr>
                <a:t>save</a:t>
              </a:r>
              <a:endParaRPr lang="zh-CN" altLang="en-US" sz="16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66401" y="3287267"/>
              <a:ext cx="8621378" cy="1922719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文本框 8"/>
            <p:cNvSpPr txBox="1"/>
            <p:nvPr/>
          </p:nvSpPr>
          <p:spPr>
            <a:xfrm>
              <a:off x="3078013" y="3658908"/>
              <a:ext cx="8606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bg1"/>
                  </a:solidFill>
                  <a:latin typeface="Consolas" panose="020B0609020204030204" pitchFamily="49" charset="0"/>
                  <a:ea typeface="Source Code Pro Medium" panose="020B0509030403020204" pitchFamily="49" charset="0"/>
                </a:rPr>
                <a:t>save</a:t>
              </a:r>
              <a:endParaRPr lang="zh-CN" altLang="en-US" sz="20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66398" y="3984740"/>
              <a:ext cx="17212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bg1"/>
                  </a:solidFill>
                  <a:latin typeface="Consolas" panose="020B0609020204030204" pitchFamily="49" charset="0"/>
                  <a:ea typeface="Source Code Pro Medium" panose="020B0509030403020204" pitchFamily="49" charset="0"/>
                </a:rPr>
                <a:t>ok</a:t>
              </a:r>
              <a:endParaRPr lang="zh-CN" altLang="en-US" sz="20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938624" y="3709450"/>
              <a:ext cx="50426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#</a:t>
              </a:r>
              <a:r>
                <a:rPr lang="zh-CN" altLang="en-US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由</a:t>
              </a:r>
              <a:r>
                <a:rPr lang="en-US" altLang="zh-CN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Redis</a:t>
              </a:r>
              <a:r>
                <a:rPr lang="zh-CN" altLang="en-US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主进程来执行</a:t>
              </a:r>
              <a:r>
                <a:rPr lang="en-US" altLang="zh-CN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RDB</a:t>
              </a:r>
              <a:r>
                <a:rPr lang="zh-CN" altLang="en-US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，会阻塞所有命令</a:t>
              </a:r>
              <a:endParaRPr lang="zh-CN" altLang="en-US" sz="1600" dirty="0">
                <a:solidFill>
                  <a:schemeClr val="accent3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66398" y="4340634"/>
              <a:ext cx="23006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bg1"/>
                  </a:solidFill>
                  <a:latin typeface="Consolas" panose="020B0609020204030204" pitchFamily="49" charset="0"/>
                </a:rPr>
                <a:t>127.0.0.1:6379&gt;</a:t>
              </a:r>
              <a:endParaRPr lang="zh-CN" altLang="en-US" sz="20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078014" y="4340634"/>
              <a:ext cx="13013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bg1"/>
                  </a:solidFill>
                  <a:latin typeface="Consolas" panose="020B0609020204030204" pitchFamily="49" charset="0"/>
                  <a:ea typeface="Source Code Pro Medium" panose="020B0509030403020204" pitchFamily="49" charset="0"/>
                </a:rPr>
                <a:t>bgsave</a:t>
              </a:r>
              <a:endParaRPr lang="zh-CN" altLang="en-US" sz="20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66398" y="4696527"/>
              <a:ext cx="52103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chemeClr val="bg1"/>
                  </a:solidFill>
                  <a:latin typeface="Consolas" panose="020B0609020204030204" pitchFamily="49" charset="0"/>
                  <a:ea typeface="Source Code Pro Medium" panose="020B0509030403020204" pitchFamily="49" charset="0"/>
                </a:rPr>
                <a:t>Background saving started</a:t>
              </a:r>
              <a:endParaRPr lang="zh-CN" altLang="en-US" sz="20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194119" y="4402190"/>
              <a:ext cx="50426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#</a:t>
              </a:r>
              <a:r>
                <a:rPr lang="zh-CN" altLang="en-US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开启子进程执行</a:t>
              </a:r>
              <a:r>
                <a:rPr lang="en-US" altLang="zh-CN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RDB</a:t>
              </a:r>
              <a:r>
                <a:rPr lang="zh-CN" altLang="en-US" sz="1600" dirty="0">
                  <a:solidFill>
                    <a:schemeClr val="accent3">
                      <a:lumMod val="7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，避免主进程受到影响</a:t>
              </a:r>
              <a:endParaRPr lang="zh-CN" altLang="en-US" sz="1600" dirty="0">
                <a:solidFill>
                  <a:schemeClr val="accent3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9" name="文本占位符 2"/>
          <p:cNvSpPr txBox="1"/>
          <p:nvPr/>
        </p:nvSpPr>
        <p:spPr>
          <a:xfrm>
            <a:off x="9624107" y="2962302"/>
            <a:ext cx="374658" cy="100642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主动备份</a:t>
            </a:r>
            <a:endParaRPr lang="zh-CN" altLang="en-US" dirty="0"/>
          </a:p>
        </p:txBody>
      </p:sp>
      <p:sp>
        <p:nvSpPr>
          <p:cNvPr id="20" name="文本占位符 2"/>
          <p:cNvSpPr txBox="1"/>
          <p:nvPr/>
        </p:nvSpPr>
        <p:spPr>
          <a:xfrm>
            <a:off x="766478" y="4844483"/>
            <a:ext cx="8536548" cy="50277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Redis</a:t>
            </a:r>
            <a:r>
              <a:rPr lang="zh-CN" altLang="en-US" dirty="0"/>
              <a:t>内部有触发</a:t>
            </a:r>
            <a:r>
              <a:rPr lang="en-US" altLang="zh-CN" dirty="0"/>
              <a:t>RDB</a:t>
            </a:r>
            <a:r>
              <a:rPr lang="zh-CN" altLang="en-US" dirty="0"/>
              <a:t>的机制，可以在</a:t>
            </a:r>
            <a:r>
              <a:rPr lang="en-US" altLang="zh-CN" dirty="0" err="1"/>
              <a:t>redis.conf</a:t>
            </a:r>
            <a:r>
              <a:rPr lang="zh-CN" altLang="en-US" dirty="0"/>
              <a:t>文件中找到，格式如下：</a:t>
            </a:r>
            <a:endParaRPr lang="en-US" altLang="zh-CN" dirty="0"/>
          </a:p>
        </p:txBody>
      </p:sp>
      <p:sp>
        <p:nvSpPr>
          <p:cNvPr id="21" name="文本框 20"/>
          <p:cNvSpPr txBox="1"/>
          <p:nvPr/>
        </p:nvSpPr>
        <p:spPr>
          <a:xfrm>
            <a:off x="860610" y="5480629"/>
            <a:ext cx="8661077" cy="1077218"/>
          </a:xfrm>
          <a:prstGeom prst="rect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92D050"/>
                </a:solidFill>
                <a:latin typeface="+mn-lt"/>
                <a:ea typeface="+mn-ea"/>
              </a:rPr>
              <a:t># </a:t>
            </a:r>
            <a:r>
              <a:rPr lang="en-US" altLang="zh-CN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900</a:t>
            </a:r>
            <a:r>
              <a:rPr lang="zh-CN" altLang="en-US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秒内，如果至少有</a:t>
            </a:r>
            <a:r>
              <a:rPr lang="en-US" altLang="zh-CN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1</a:t>
            </a:r>
            <a:r>
              <a:rPr lang="zh-CN" altLang="en-US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个</a:t>
            </a:r>
            <a:r>
              <a:rPr lang="en-US" altLang="zh-CN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key</a:t>
            </a:r>
            <a:r>
              <a:rPr lang="zh-CN" altLang="en-US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被修改，则执行</a:t>
            </a:r>
            <a:r>
              <a:rPr lang="en-US" altLang="zh-CN" sz="1600" dirty="0" err="1">
                <a:solidFill>
                  <a:srgbClr val="92D050"/>
                </a:solidFill>
                <a:latin typeface="Alibaba PuHuiTi B"/>
                <a:ea typeface="Alibaba PuHuiTi Medium"/>
              </a:rPr>
              <a:t>bgsave</a:t>
            </a:r>
            <a:r>
              <a:rPr lang="en-US" altLang="zh-CN" sz="1600" dirty="0">
                <a:solidFill>
                  <a:srgbClr val="92D050"/>
                </a:solidFill>
                <a:latin typeface="Alibaba PuHuiTi B"/>
                <a:ea typeface="Alibaba PuHuiTi Medium"/>
              </a:rPr>
              <a:t> </a:t>
            </a:r>
            <a:endParaRPr lang="en-US" altLang="zh-CN" sz="1600" dirty="0">
              <a:solidFill>
                <a:srgbClr val="92D050"/>
              </a:solidFill>
              <a:latin typeface="Alibaba PuHuiTi B"/>
              <a:ea typeface="Alibaba PuHuiTi Medium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save 900 1  </a:t>
            </a:r>
            <a:endParaRPr lang="en-US" altLang="zh-CN" sz="1600" dirty="0">
              <a:solidFill>
                <a:schemeClr val="bg1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save 300 10  </a:t>
            </a:r>
            <a:endParaRPr lang="en-US" altLang="zh-CN" sz="1600" dirty="0">
              <a:solidFill>
                <a:schemeClr val="bg1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save 60 10000 </a:t>
            </a:r>
            <a:endParaRPr lang="zh-CN" altLang="en-US" sz="16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22" name="文本占位符 2"/>
          <p:cNvSpPr txBox="1"/>
          <p:nvPr/>
        </p:nvSpPr>
        <p:spPr>
          <a:xfrm>
            <a:off x="9663864" y="4900433"/>
            <a:ext cx="1974858" cy="46669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RDB</a:t>
            </a:r>
            <a:r>
              <a:rPr lang="zh-CN" altLang="en-US" dirty="0">
                <a:solidFill>
                  <a:srgbClr val="C00000"/>
                </a:solidFill>
              </a:rPr>
              <a:t>的执行原理？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: 圆角 95"/>
          <p:cNvSpPr/>
          <p:nvPr/>
        </p:nvSpPr>
        <p:spPr>
          <a:xfrm>
            <a:off x="3217569" y="4027989"/>
            <a:ext cx="658905" cy="74700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accent6">
                    <a:lumMod val="50000"/>
                  </a:schemeClr>
                </a:solidFill>
              </a:rPr>
              <a:t>页表</a:t>
            </a:r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3783740" y="5168258"/>
            <a:ext cx="4424082" cy="154182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48504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物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理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存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5366656" y="5204013"/>
            <a:ext cx="1303085" cy="10619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400">
                <a:solidFill>
                  <a:srgbClr val="AD2A26"/>
                </a:solidFill>
              </a:rPr>
              <a:t>read-only</a:t>
            </a:r>
            <a:endParaRPr lang="zh-CN" altLang="en-US" sz="1400">
              <a:solidFill>
                <a:srgbClr val="AD2A26"/>
              </a:solidFill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7878450" y="3148775"/>
            <a:ext cx="2395314" cy="1766719"/>
          </a:xfrm>
          <a:prstGeom prst="roundRect">
            <a:avLst>
              <a:gd name="adj" fmla="val 12100"/>
            </a:avLst>
          </a:prstGeom>
          <a:solidFill>
            <a:schemeClr val="accent2">
              <a:lumMod val="20000"/>
              <a:lumOff val="80000"/>
              <a:alpha val="35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: 圆角 58"/>
          <p:cNvSpPr/>
          <p:nvPr/>
        </p:nvSpPr>
        <p:spPr>
          <a:xfrm>
            <a:off x="1642492" y="3254188"/>
            <a:ext cx="2395314" cy="1766719"/>
          </a:xfrm>
          <a:prstGeom prst="roundRect">
            <a:avLst>
              <a:gd name="adj" fmla="val 12100"/>
            </a:avLst>
          </a:prstGeom>
          <a:solidFill>
            <a:schemeClr val="accent2">
              <a:lumMod val="20000"/>
              <a:lumOff val="80000"/>
              <a:alpha val="35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RDB</a:t>
            </a:r>
            <a:r>
              <a:rPr lang="zh-CN" altLang="en-US" dirty="0"/>
              <a:t>的执行原理？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570417"/>
            <a:ext cx="10893516" cy="1804796"/>
          </a:xfrm>
        </p:spPr>
        <p:txBody>
          <a:bodyPr/>
          <a:lstStyle/>
          <a:p>
            <a:r>
              <a:rPr lang="en-US" altLang="zh-CN" dirty="0" err="1"/>
              <a:t>bgsave</a:t>
            </a:r>
            <a:r>
              <a:rPr lang="zh-CN" altLang="en-US" dirty="0"/>
              <a:t>开始时会</a:t>
            </a:r>
            <a:r>
              <a:rPr lang="en-US" altLang="zh-CN" dirty="0"/>
              <a:t>fork</a:t>
            </a:r>
            <a:r>
              <a:rPr lang="zh-CN" altLang="en-US" dirty="0"/>
              <a:t>主进程得到子进程，子进程</a:t>
            </a:r>
            <a:r>
              <a:rPr lang="zh-CN" altLang="en-US" dirty="0">
                <a:solidFill>
                  <a:srgbClr val="AD2A26"/>
                </a:solidFill>
              </a:rPr>
              <a:t>共享</a:t>
            </a:r>
            <a:r>
              <a:rPr lang="zh-CN" altLang="en-US" dirty="0"/>
              <a:t>主进程的内存数据。完成</a:t>
            </a:r>
            <a:r>
              <a:rPr lang="en-US" altLang="zh-CN" dirty="0"/>
              <a:t>fork</a:t>
            </a:r>
            <a:r>
              <a:rPr lang="zh-CN" altLang="en-US" dirty="0"/>
              <a:t>后读取内存数据并写入 </a:t>
            </a:r>
            <a:r>
              <a:rPr lang="en-US" altLang="zh-CN" dirty="0"/>
              <a:t>RDB </a:t>
            </a:r>
            <a:r>
              <a:rPr lang="zh-CN" altLang="en-US" dirty="0"/>
              <a:t>文件。</a:t>
            </a:r>
            <a:endParaRPr lang="en-US" altLang="zh-CN" dirty="0"/>
          </a:p>
          <a:p>
            <a:r>
              <a:rPr lang="en-US" altLang="zh-CN" dirty="0"/>
              <a:t>fork</a:t>
            </a:r>
            <a:r>
              <a:rPr lang="zh-CN" altLang="en-US" dirty="0"/>
              <a:t>采用的是</a:t>
            </a:r>
            <a:r>
              <a:rPr lang="en-US" altLang="zh-CN" dirty="0"/>
              <a:t>copy-on-write</a:t>
            </a:r>
            <a:r>
              <a:rPr lang="zh-CN" altLang="en-US" dirty="0"/>
              <a:t>技术：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当主进程执行读操作时，访问共享内存；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当主进程执行写操作时，则会拷贝一份数据，执行写操作。</a:t>
            </a:r>
            <a:endParaRPr lang="en-US" altLang="zh-CN" dirty="0"/>
          </a:p>
        </p:txBody>
      </p:sp>
      <p:sp>
        <p:nvSpPr>
          <p:cNvPr id="5" name="矩形: 圆角 4"/>
          <p:cNvSpPr/>
          <p:nvPr/>
        </p:nvSpPr>
        <p:spPr>
          <a:xfrm>
            <a:off x="2013889" y="3351174"/>
            <a:ext cx="552893" cy="887819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: 形状 21"/>
          <p:cNvSpPr/>
          <p:nvPr/>
        </p:nvSpPr>
        <p:spPr>
          <a:xfrm>
            <a:off x="2140499" y="3368452"/>
            <a:ext cx="320938" cy="853262"/>
          </a:xfrm>
          <a:custGeom>
            <a:avLst/>
            <a:gdLst>
              <a:gd name="connsiteX0" fmla="*/ 555540 w 757562"/>
              <a:gd name="connsiteY0" fmla="*/ 0 h 2679404"/>
              <a:gd name="connsiteX1" fmla="*/ 2647 w 757562"/>
              <a:gd name="connsiteY1" fmla="*/ 946297 h 2679404"/>
              <a:gd name="connsiteX2" fmla="*/ 757559 w 757562"/>
              <a:gd name="connsiteY2" fmla="*/ 1073888 h 2679404"/>
              <a:gd name="connsiteX3" fmla="*/ 13280 w 757562"/>
              <a:gd name="connsiteY3" fmla="*/ 1765004 h 2679404"/>
              <a:gd name="connsiteX4" fmla="*/ 746926 w 757562"/>
              <a:gd name="connsiteY4" fmla="*/ 1850065 h 2679404"/>
              <a:gd name="connsiteX5" fmla="*/ 130238 w 757562"/>
              <a:gd name="connsiteY5" fmla="*/ 2679404 h 2679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7562" h="2679404">
                <a:moveTo>
                  <a:pt x="555540" y="0"/>
                </a:moveTo>
                <a:cubicBezTo>
                  <a:pt x="262258" y="383658"/>
                  <a:pt x="-31023" y="767316"/>
                  <a:pt x="2647" y="946297"/>
                </a:cubicBezTo>
                <a:cubicBezTo>
                  <a:pt x="36317" y="1125278"/>
                  <a:pt x="755787" y="937437"/>
                  <a:pt x="757559" y="1073888"/>
                </a:cubicBezTo>
                <a:cubicBezTo>
                  <a:pt x="759331" y="1210339"/>
                  <a:pt x="15052" y="1635641"/>
                  <a:pt x="13280" y="1765004"/>
                </a:cubicBezTo>
                <a:cubicBezTo>
                  <a:pt x="11508" y="1894367"/>
                  <a:pt x="727433" y="1697665"/>
                  <a:pt x="746926" y="1850065"/>
                </a:cubicBezTo>
                <a:cubicBezTo>
                  <a:pt x="766419" y="2002465"/>
                  <a:pt x="448328" y="2340934"/>
                  <a:pt x="130238" y="267940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2614836" y="328968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主进程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9424782" y="3351174"/>
            <a:ext cx="552893" cy="887819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: 形状 24"/>
          <p:cNvSpPr/>
          <p:nvPr/>
        </p:nvSpPr>
        <p:spPr>
          <a:xfrm>
            <a:off x="9551392" y="3368452"/>
            <a:ext cx="320938" cy="853262"/>
          </a:xfrm>
          <a:custGeom>
            <a:avLst/>
            <a:gdLst>
              <a:gd name="connsiteX0" fmla="*/ 555540 w 757562"/>
              <a:gd name="connsiteY0" fmla="*/ 0 h 2679404"/>
              <a:gd name="connsiteX1" fmla="*/ 2647 w 757562"/>
              <a:gd name="connsiteY1" fmla="*/ 946297 h 2679404"/>
              <a:gd name="connsiteX2" fmla="*/ 757559 w 757562"/>
              <a:gd name="connsiteY2" fmla="*/ 1073888 h 2679404"/>
              <a:gd name="connsiteX3" fmla="*/ 13280 w 757562"/>
              <a:gd name="connsiteY3" fmla="*/ 1765004 h 2679404"/>
              <a:gd name="connsiteX4" fmla="*/ 746926 w 757562"/>
              <a:gd name="connsiteY4" fmla="*/ 1850065 h 2679404"/>
              <a:gd name="connsiteX5" fmla="*/ 130238 w 757562"/>
              <a:gd name="connsiteY5" fmla="*/ 2679404 h 2679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7562" h="2679404">
                <a:moveTo>
                  <a:pt x="555540" y="0"/>
                </a:moveTo>
                <a:cubicBezTo>
                  <a:pt x="262258" y="383658"/>
                  <a:pt x="-31023" y="767316"/>
                  <a:pt x="2647" y="946297"/>
                </a:cubicBezTo>
                <a:cubicBezTo>
                  <a:pt x="36317" y="1125278"/>
                  <a:pt x="755787" y="937437"/>
                  <a:pt x="757559" y="1073888"/>
                </a:cubicBezTo>
                <a:cubicBezTo>
                  <a:pt x="759331" y="1210339"/>
                  <a:pt x="15052" y="1635641"/>
                  <a:pt x="13280" y="1765004"/>
                </a:cubicBezTo>
                <a:cubicBezTo>
                  <a:pt x="11508" y="1894367"/>
                  <a:pt x="727433" y="1697665"/>
                  <a:pt x="746926" y="1850065"/>
                </a:cubicBezTo>
                <a:cubicBezTo>
                  <a:pt x="766419" y="2002465"/>
                  <a:pt x="448328" y="2340934"/>
                  <a:pt x="130238" y="2679404"/>
                </a:cubicBezTo>
              </a:path>
            </a:pathLst>
          </a:cu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5688646" y="3458154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fork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3210886" y="4034118"/>
            <a:ext cx="658905" cy="74700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accent6">
                    <a:lumMod val="50000"/>
                  </a:schemeClr>
                </a:solidFill>
              </a:rPr>
              <a:t>页表</a:t>
            </a:r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3" name="连接符: 肘形 32"/>
          <p:cNvCxnSpPr>
            <a:stCxn id="5" idx="2"/>
            <a:endCxn id="31" idx="1"/>
          </p:cNvCxnSpPr>
          <p:nvPr/>
        </p:nvCxnSpPr>
        <p:spPr>
          <a:xfrm rot="16200000" flipH="1">
            <a:off x="2666297" y="3863032"/>
            <a:ext cx="168629" cy="920550"/>
          </a:xfrm>
          <a:prstGeom prst="bentConnector2">
            <a:avLst/>
          </a:prstGeom>
          <a:ln>
            <a:solidFill>
              <a:srgbClr val="48504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/>
          <p:cNvSpPr/>
          <p:nvPr/>
        </p:nvSpPr>
        <p:spPr>
          <a:xfrm>
            <a:off x="5517437" y="5529629"/>
            <a:ext cx="956689" cy="266209"/>
          </a:xfrm>
          <a:prstGeom prst="roundRect">
            <a:avLst/>
          </a:prstGeom>
          <a:solidFill>
            <a:srgbClr val="48504F"/>
          </a:solidFill>
          <a:ln>
            <a:solidFill>
              <a:srgbClr val="48504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r>
              <a:rPr lang="en-US" altLang="zh-CN" sz="1200" dirty="0">
                <a:solidFill>
                  <a:schemeClr val="bg1"/>
                </a:solidFill>
              </a:rPr>
              <a:t>A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5515706" y="5907591"/>
            <a:ext cx="960151" cy="266209"/>
          </a:xfrm>
          <a:prstGeom prst="roundRect">
            <a:avLst/>
          </a:prstGeom>
          <a:solidFill>
            <a:srgbClr val="48504F"/>
          </a:solidFill>
          <a:ln>
            <a:solidFill>
              <a:srgbClr val="48504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r>
              <a:rPr lang="en-US" altLang="zh-CN" sz="1200" dirty="0">
                <a:solidFill>
                  <a:schemeClr val="bg1"/>
                </a:solidFill>
              </a:rPr>
              <a:t>B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cxnSp>
        <p:nvCxnSpPr>
          <p:cNvPr id="39" name="连接符: 肘形 38"/>
          <p:cNvCxnSpPr>
            <a:stCxn id="31" idx="3"/>
            <a:endCxn id="34" idx="1"/>
          </p:cNvCxnSpPr>
          <p:nvPr/>
        </p:nvCxnSpPr>
        <p:spPr>
          <a:xfrm>
            <a:off x="3869791" y="4407622"/>
            <a:ext cx="1647646" cy="125511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连接符: 肘形 39"/>
          <p:cNvCxnSpPr>
            <a:stCxn id="31" idx="3"/>
            <a:endCxn id="37" idx="1"/>
          </p:cNvCxnSpPr>
          <p:nvPr/>
        </p:nvCxnSpPr>
        <p:spPr>
          <a:xfrm>
            <a:off x="3869791" y="4407622"/>
            <a:ext cx="1645915" cy="1633074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4829942" y="478219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读操作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8121773" y="4034117"/>
            <a:ext cx="658905" cy="74700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accent6">
                    <a:lumMod val="50000"/>
                  </a:schemeClr>
                </a:solidFill>
              </a:rPr>
              <a:t>页表</a:t>
            </a:r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7" name="箭头: 右 56"/>
          <p:cNvSpPr/>
          <p:nvPr/>
        </p:nvSpPr>
        <p:spPr>
          <a:xfrm>
            <a:off x="4758652" y="3627977"/>
            <a:ext cx="2474259" cy="514001"/>
          </a:xfrm>
          <a:prstGeom prst="rightArrow">
            <a:avLst>
              <a:gd name="adj1" fmla="val 39536"/>
              <a:gd name="adj2" fmla="val 50000"/>
            </a:avLst>
          </a:prstGeom>
          <a:gradFill flip="none" rotWithShape="1">
            <a:gsLst>
              <a:gs pos="0">
                <a:srgbClr val="51726F"/>
              </a:gs>
              <a:gs pos="70000">
                <a:srgbClr val="48504F"/>
              </a:gs>
            </a:gsLst>
            <a:lin ang="5400000" scaled="1"/>
            <a:tileRect/>
          </a:gradFill>
          <a:ln>
            <a:solidFill>
              <a:srgbClr val="48504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550788" y="403213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复制页表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711125" y="318840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子进程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62" name="连接符: 肘形 61"/>
          <p:cNvCxnSpPr>
            <a:stCxn id="24" idx="2"/>
            <a:endCxn id="56" idx="3"/>
          </p:cNvCxnSpPr>
          <p:nvPr/>
        </p:nvCxnSpPr>
        <p:spPr>
          <a:xfrm rot="5400000">
            <a:off x="9156640" y="3863032"/>
            <a:ext cx="168628" cy="920551"/>
          </a:xfrm>
          <a:prstGeom prst="bentConnector2">
            <a:avLst/>
          </a:prstGeom>
          <a:ln>
            <a:solidFill>
              <a:srgbClr val="48504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肘形 38"/>
          <p:cNvCxnSpPr>
            <a:stCxn id="56" idx="1"/>
            <a:endCxn id="37" idx="3"/>
          </p:cNvCxnSpPr>
          <p:nvPr/>
        </p:nvCxnSpPr>
        <p:spPr>
          <a:xfrm flipH="1">
            <a:off x="6475857" y="4407621"/>
            <a:ext cx="1645916" cy="1633075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连接符: 肘形 39"/>
          <p:cNvCxnSpPr>
            <a:stCxn id="56" idx="1"/>
            <a:endCxn id="34" idx="3"/>
          </p:cNvCxnSpPr>
          <p:nvPr/>
        </p:nvCxnSpPr>
        <p:spPr>
          <a:xfrm flipH="1">
            <a:off x="6474126" y="4407621"/>
            <a:ext cx="1647647" cy="1255113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圆柱体 73"/>
          <p:cNvSpPr/>
          <p:nvPr/>
        </p:nvSpPr>
        <p:spPr>
          <a:xfrm>
            <a:off x="10209953" y="5733319"/>
            <a:ext cx="1293357" cy="300306"/>
          </a:xfrm>
          <a:prstGeom prst="can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磁盘</a:t>
            </a:r>
            <a:endParaRPr lang="zh-CN" altLang="en-US" sz="1400"/>
          </a:p>
        </p:txBody>
      </p:sp>
      <p:cxnSp>
        <p:nvCxnSpPr>
          <p:cNvPr id="75" name="连接符: 肘形 74"/>
          <p:cNvCxnSpPr>
            <a:stCxn id="24" idx="3"/>
            <a:endCxn id="74" idx="1"/>
          </p:cNvCxnSpPr>
          <p:nvPr/>
        </p:nvCxnSpPr>
        <p:spPr>
          <a:xfrm>
            <a:off x="9977675" y="3795084"/>
            <a:ext cx="878957" cy="19382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9711861" y="5204013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写新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替换旧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3935295" y="5935024"/>
            <a:ext cx="960151" cy="266209"/>
          </a:xfrm>
          <a:prstGeom prst="roundRect">
            <a:avLst/>
          </a:prstGeom>
          <a:ln>
            <a:solidFill>
              <a:srgbClr val="48504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数据副本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87" name="连接符: 肘形 86"/>
          <p:cNvCxnSpPr>
            <a:stCxn id="31" idx="2"/>
            <a:endCxn id="81" idx="1"/>
          </p:cNvCxnSpPr>
          <p:nvPr/>
        </p:nvCxnSpPr>
        <p:spPr>
          <a:xfrm rot="16200000" flipH="1">
            <a:off x="3094315" y="5227149"/>
            <a:ext cx="1287004" cy="3949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2979386" y="535930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写操作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9" name="箭头: 下弧形 88"/>
          <p:cNvSpPr/>
          <p:nvPr/>
        </p:nvSpPr>
        <p:spPr>
          <a:xfrm flipH="1">
            <a:off x="4208924" y="6194450"/>
            <a:ext cx="1762803" cy="433457"/>
          </a:xfrm>
          <a:prstGeom prst="curvedUpArrow">
            <a:avLst>
              <a:gd name="adj1" fmla="val 18892"/>
              <a:gd name="adj2" fmla="val 87605"/>
              <a:gd name="adj3" fmla="val 31204"/>
            </a:avLst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数据拷贝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6606419" y="478219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读操作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8" name="连接符: 肘形 39"/>
          <p:cNvCxnSpPr>
            <a:stCxn id="31" idx="3"/>
            <a:endCxn id="81" idx="0"/>
          </p:cNvCxnSpPr>
          <p:nvPr/>
        </p:nvCxnSpPr>
        <p:spPr>
          <a:xfrm>
            <a:off x="3869791" y="4407622"/>
            <a:ext cx="545580" cy="152740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4022059" y="547127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读操作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502157" y="5874024"/>
            <a:ext cx="2688303" cy="61622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页表：</a:t>
            </a:r>
            <a:endParaRPr lang="en-US" altLang="zh-CN" sz="1200" dirty="0"/>
          </a:p>
          <a:p>
            <a:r>
              <a:rPr lang="zh-CN" altLang="en-US" sz="1200" dirty="0"/>
              <a:t>记录虚拟地址与物理地址的映射关系</a:t>
            </a:r>
            <a:endParaRPr lang="en-US" altLang="zh-CN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3.33333E-6 L 0.40182 -0.00047 " pathEditMode="relative" rAng="0" ptsTypes="AA">
                                      <p:cBhvr>
                                        <p:cTn id="8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91" y="-23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xit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5125 -0.007704 E" pathEditMode="relative" ptsTypes="">
                                      <p:cBhvr>
                                        <p:cTn id="16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5125 0.007704 L 0 0 E" pathEditMode="relative" ptsTypes="">
                                      <p:cBhvr>
                                        <p:cTn id="1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2" dur="1000" fill="hold"/>
                                        <p:tgtEl>
                                          <p:spTgt spid="4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33148" y="93529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4" dur="1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50000" y="150000"/>
                                      <p:from x="301682" y="106918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6" grpId="1" animBg="1"/>
      <p:bldP spid="96" grpId="2" animBg="1"/>
      <p:bldP spid="30" grpId="0" animBg="1"/>
      <p:bldP spid="95" grpId="0" animBg="1"/>
      <p:bldP spid="60" grpId="0" animBg="1"/>
      <p:bldP spid="59" grpId="0" animBg="1"/>
      <p:bldP spid="5" grpId="0" animBg="1"/>
      <p:bldP spid="22" grpId="0" animBg="1"/>
      <p:bldP spid="23" grpId="0"/>
      <p:bldP spid="24" grpId="0" animBg="1"/>
      <p:bldP spid="25" grpId="0" animBg="1"/>
      <p:bldP spid="29" grpId="0"/>
      <p:bldP spid="31" grpId="0" animBg="1"/>
      <p:bldP spid="34" grpId="0" animBg="1"/>
      <p:bldP spid="37" grpId="0" animBg="1"/>
      <p:bldP spid="52" grpId="0"/>
      <p:bldP spid="56" grpId="0" animBg="1"/>
      <p:bldP spid="57" grpId="0" animBg="1"/>
      <p:bldP spid="58" grpId="0"/>
      <p:bldP spid="61" grpId="0"/>
      <p:bldP spid="74" grpId="0" animBg="1"/>
      <p:bldP spid="78" grpId="0"/>
      <p:bldP spid="81" grpId="0" animBg="1"/>
      <p:bldP spid="88" grpId="0"/>
      <p:bldP spid="89" grpId="0" animBg="1"/>
      <p:bldP spid="94" grpId="0"/>
      <p:bldP spid="41" grpId="0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AOF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3465955"/>
          </a:xfrm>
        </p:spPr>
        <p:txBody>
          <a:bodyPr/>
          <a:lstStyle/>
          <a:p>
            <a:r>
              <a:rPr lang="en-US" altLang="zh-CN" dirty="0"/>
              <a:t>AOF</a:t>
            </a:r>
            <a:r>
              <a:rPr lang="zh-CN" altLang="en-US" dirty="0"/>
              <a:t>全称为</a:t>
            </a:r>
            <a:r>
              <a:rPr lang="en-US" altLang="zh-CN" dirty="0"/>
              <a:t>Append Only File</a:t>
            </a:r>
            <a:r>
              <a:rPr lang="zh-CN" altLang="en-US" dirty="0"/>
              <a:t>（追加文件）。</a:t>
            </a:r>
            <a:r>
              <a:rPr lang="en-US" altLang="zh-CN" dirty="0"/>
              <a:t>Redis</a:t>
            </a:r>
            <a:r>
              <a:rPr lang="zh-CN" altLang="en-US" dirty="0"/>
              <a:t>处理的每一个写命令都会记录在</a:t>
            </a:r>
            <a:r>
              <a:rPr lang="en-US" altLang="zh-CN" dirty="0"/>
              <a:t>AOF</a:t>
            </a:r>
            <a:r>
              <a:rPr lang="zh-CN" altLang="en-US" dirty="0"/>
              <a:t>文件，可以看做是命令日志文件。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2480" y="2528239"/>
            <a:ext cx="3924640" cy="7239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725" y="4089194"/>
            <a:ext cx="1962150" cy="1905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组合 23"/>
          <p:cNvGrpSpPr/>
          <p:nvPr/>
        </p:nvGrpSpPr>
        <p:grpSpPr>
          <a:xfrm>
            <a:off x="7694408" y="3820308"/>
            <a:ext cx="1636041" cy="2111660"/>
            <a:chOff x="6414248" y="3713628"/>
            <a:chExt cx="1636041" cy="2111660"/>
          </a:xfrm>
        </p:grpSpPr>
        <p:sp>
          <p:nvSpPr>
            <p:cNvPr id="18" name="任意多边形: 形状 17"/>
            <p:cNvSpPr/>
            <p:nvPr/>
          </p:nvSpPr>
          <p:spPr>
            <a:xfrm>
              <a:off x="6414248" y="3721249"/>
              <a:ext cx="1622312" cy="2104039"/>
            </a:xfrm>
            <a:custGeom>
              <a:avLst/>
              <a:gdLst>
                <a:gd name="connsiteX0" fmla="*/ 0 w 1622312"/>
                <a:gd name="connsiteY0" fmla="*/ 0 h 2104039"/>
                <a:gd name="connsiteX1" fmla="*/ 1091906 w 1622312"/>
                <a:gd name="connsiteY1" fmla="*/ 0 h 2104039"/>
                <a:gd name="connsiteX2" fmla="*/ 1622312 w 1622312"/>
                <a:gd name="connsiteY2" fmla="*/ 558369 h 2104039"/>
                <a:gd name="connsiteX3" fmla="*/ 1622312 w 1622312"/>
                <a:gd name="connsiteY3" fmla="*/ 2104039 h 2104039"/>
                <a:gd name="connsiteX4" fmla="*/ 0 w 1622312"/>
                <a:gd name="connsiteY4" fmla="*/ 2104039 h 2104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2312" h="2104039">
                  <a:moveTo>
                    <a:pt x="0" y="0"/>
                  </a:moveTo>
                  <a:lnTo>
                    <a:pt x="1091906" y="0"/>
                  </a:lnTo>
                  <a:lnTo>
                    <a:pt x="1622312" y="558369"/>
                  </a:lnTo>
                  <a:lnTo>
                    <a:pt x="1622312" y="2104039"/>
                  </a:lnTo>
                  <a:lnTo>
                    <a:pt x="0" y="2104039"/>
                  </a:lnTo>
                  <a:close/>
                </a:path>
              </a:pathLst>
            </a:custGeom>
            <a:solidFill>
              <a:srgbClr val="F5FAF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sz="1600">
                <a:solidFill>
                  <a:srgbClr val="48504F"/>
                </a:solidFill>
              </a:endParaRPr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7520638" y="3713628"/>
              <a:ext cx="529651" cy="566271"/>
            </a:xfrm>
            <a:custGeom>
              <a:avLst/>
              <a:gdLst>
                <a:gd name="connsiteX0" fmla="*/ 0 w 708461"/>
                <a:gd name="connsiteY0" fmla="*/ 0 h 753970"/>
                <a:gd name="connsiteX1" fmla="*/ 708461 w 708461"/>
                <a:gd name="connsiteY1" fmla="*/ 753970 h 753970"/>
                <a:gd name="connsiteX2" fmla="*/ 0 w 708461"/>
                <a:gd name="connsiteY2" fmla="*/ 753970 h 75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8461" h="753970">
                  <a:moveTo>
                    <a:pt x="0" y="0"/>
                  </a:moveTo>
                  <a:lnTo>
                    <a:pt x="708461" y="753970"/>
                  </a:lnTo>
                  <a:lnTo>
                    <a:pt x="0" y="75397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451464" y="4004383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rgbClr val="AD2A26"/>
                  </a:solidFill>
                  <a:latin typeface="+mn-lt"/>
                  <a:ea typeface="+mn-ea"/>
                </a:rPr>
                <a:t>AOF</a:t>
              </a:r>
              <a:endParaRPr lang="zh-CN" altLang="en-US" sz="1400" dirty="0">
                <a:solidFill>
                  <a:srgbClr val="AD2A26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20" name="直接箭头连接符 19"/>
          <p:cNvCxnSpPr>
            <a:stCxn id="6" idx="2"/>
          </p:cNvCxnSpPr>
          <p:nvPr/>
        </p:nvCxnSpPr>
        <p:spPr>
          <a:xfrm>
            <a:off x="4024800" y="3252202"/>
            <a:ext cx="0" cy="1043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9" idx="3"/>
          </p:cNvCxnSpPr>
          <p:nvPr/>
        </p:nvCxnSpPr>
        <p:spPr>
          <a:xfrm>
            <a:off x="5005875" y="5041694"/>
            <a:ext cx="26748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7699769" y="3972007"/>
            <a:ext cx="17332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$3</a:t>
            </a:r>
            <a:endParaRPr lang="da-DK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set</a:t>
            </a:r>
            <a:endParaRPr lang="da-DK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$3</a:t>
            </a:r>
            <a:endParaRPr lang="da-DK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num</a:t>
            </a:r>
            <a:endParaRPr lang="da-DK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$3</a:t>
            </a:r>
            <a:endParaRPr lang="da-DK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a-DK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123</a:t>
            </a:r>
            <a:endParaRPr lang="da-DK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AOF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346595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AOF</a:t>
            </a:r>
            <a:r>
              <a:rPr lang="zh-CN" altLang="en-US" dirty="0"/>
              <a:t>默认是关闭的，需要修改</a:t>
            </a:r>
            <a:r>
              <a:rPr lang="en-US" altLang="zh-CN" dirty="0" err="1"/>
              <a:t>redis.conf</a:t>
            </a:r>
            <a:r>
              <a:rPr lang="zh-CN" altLang="en-US" dirty="0"/>
              <a:t>配置文件来开启</a:t>
            </a:r>
            <a:r>
              <a:rPr lang="en-US" altLang="zh-CN" dirty="0"/>
              <a:t>AOF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AOF</a:t>
            </a:r>
            <a:r>
              <a:rPr lang="zh-CN" altLang="en-US" dirty="0"/>
              <a:t>的命令记录的频率也可以通过</a:t>
            </a:r>
            <a:r>
              <a:rPr lang="en-US" altLang="zh-CN" dirty="0" err="1"/>
              <a:t>redis.conf</a:t>
            </a:r>
            <a:r>
              <a:rPr lang="zh-CN" altLang="en-US" dirty="0"/>
              <a:t>文件来配：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782319" y="2006965"/>
            <a:ext cx="9545021" cy="954107"/>
          </a:xfrm>
          <a:prstGeom prst="rect">
            <a:avLst/>
          </a:prstGeom>
          <a:solidFill>
            <a:srgbClr val="002945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92D050"/>
                </a:solidFill>
              </a:rPr>
              <a:t># 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是否开启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功能，默认是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no</a:t>
            </a:r>
            <a:endParaRPr lang="en-US" altLang="zh-CN" sz="1400" dirty="0">
              <a:solidFill>
                <a:srgbClr val="92D050"/>
              </a:solidFill>
              <a:ea typeface="Alibaba PuHuiTi Medium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 err="1">
                <a:solidFill>
                  <a:schemeClr val="bg1"/>
                </a:solidFill>
                <a:latin typeface="+mn-lt"/>
                <a:ea typeface="+mn-ea"/>
              </a:rPr>
              <a:t>appendonly</a:t>
            </a: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 yes</a:t>
            </a:r>
            <a:endParaRPr lang="en-US" altLang="zh-CN" sz="1400" dirty="0">
              <a:solidFill>
                <a:schemeClr val="bg1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# 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文件的名称</a:t>
            </a:r>
            <a:endParaRPr lang="en-US" altLang="zh-CN" sz="1400" dirty="0">
              <a:solidFill>
                <a:srgbClr val="92D050"/>
              </a:solidFill>
              <a:ea typeface="Alibaba PuHuiTi Medium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 err="1">
                <a:solidFill>
                  <a:schemeClr val="bg1"/>
                </a:solidFill>
                <a:latin typeface="+mn-lt"/>
                <a:ea typeface="+mn-ea"/>
              </a:rPr>
              <a:t>appendfilename</a:t>
            </a: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 "</a:t>
            </a:r>
            <a:r>
              <a:rPr lang="en-US" altLang="zh-CN" sz="1400" dirty="0" err="1">
                <a:solidFill>
                  <a:schemeClr val="bg1"/>
                </a:solidFill>
                <a:latin typeface="+mn-lt"/>
                <a:ea typeface="+mn-ea"/>
              </a:rPr>
              <a:t>appendonly.aof</a:t>
            </a: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"</a:t>
            </a:r>
            <a:endParaRPr lang="en-US" altLang="zh-CN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82319" y="3460865"/>
            <a:ext cx="9545020" cy="1384995"/>
          </a:xfrm>
          <a:prstGeom prst="rect">
            <a:avLst/>
          </a:prstGeom>
          <a:solidFill>
            <a:srgbClr val="002945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# 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表示每执行一次写命令，立即记录到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文件</a:t>
            </a:r>
            <a:endParaRPr lang="en-US" altLang="zh-CN" sz="1400" dirty="0">
              <a:solidFill>
                <a:srgbClr val="92D050"/>
              </a:solidFill>
              <a:ea typeface="Alibaba PuHuiTi Medium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 err="1">
                <a:solidFill>
                  <a:schemeClr val="bg1"/>
                </a:solidFill>
              </a:rPr>
              <a:t>appendfsync</a:t>
            </a:r>
            <a:r>
              <a:rPr lang="en-US" altLang="zh-CN" sz="1400" dirty="0">
                <a:solidFill>
                  <a:schemeClr val="bg1"/>
                </a:solidFill>
              </a:rPr>
              <a:t> always 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# 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写命令执行完先放入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缓冲区，然后表示每隔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1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秒将缓冲区数据写到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文件，是默认方案</a:t>
            </a:r>
            <a:endParaRPr lang="en-US" altLang="zh-CN" sz="1400" dirty="0">
              <a:solidFill>
                <a:srgbClr val="92D050"/>
              </a:solidFill>
              <a:ea typeface="Alibaba PuHuiTi Medium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 err="1">
                <a:solidFill>
                  <a:schemeClr val="bg1"/>
                </a:solidFill>
              </a:rPr>
              <a:t>appendfsync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</a:rPr>
              <a:t>everysec</a:t>
            </a:r>
            <a:r>
              <a:rPr lang="en-US" altLang="zh-CN" sz="1400" dirty="0">
                <a:solidFill>
                  <a:schemeClr val="bg1"/>
                </a:solidFill>
              </a:rPr>
              <a:t> 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# 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写命令执行完先放入</a:t>
            </a:r>
            <a:r>
              <a:rPr lang="en-US" altLang="zh-CN" sz="1400" dirty="0">
                <a:solidFill>
                  <a:srgbClr val="92D050"/>
                </a:solidFill>
                <a:ea typeface="Alibaba PuHuiTi Medium"/>
              </a:rPr>
              <a:t>AOF</a:t>
            </a:r>
            <a:r>
              <a:rPr lang="zh-CN" altLang="en-US" sz="1400" dirty="0">
                <a:solidFill>
                  <a:srgbClr val="92D050"/>
                </a:solidFill>
                <a:ea typeface="Alibaba PuHuiTi Medium"/>
              </a:rPr>
              <a:t>缓冲区，由操作系统决定何时将缓冲区内容写回磁盘</a:t>
            </a:r>
            <a:endParaRPr lang="en-US" altLang="zh-CN" sz="1400" dirty="0">
              <a:solidFill>
                <a:srgbClr val="92D050"/>
              </a:solidFill>
              <a:ea typeface="Alibaba PuHuiTi Medium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 err="1">
                <a:solidFill>
                  <a:schemeClr val="bg1"/>
                </a:solidFill>
              </a:rPr>
              <a:t>appendfsync</a:t>
            </a:r>
            <a:r>
              <a:rPr lang="en-US" altLang="zh-CN" sz="1400" dirty="0">
                <a:solidFill>
                  <a:schemeClr val="bg1"/>
                </a:solidFill>
              </a:rPr>
              <a:t> no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graphicFrame>
        <p:nvGraphicFramePr>
          <p:cNvPr id="8" name="表格 9"/>
          <p:cNvGraphicFramePr>
            <a:graphicFrameLocks noGrp="1"/>
          </p:cNvGraphicFramePr>
          <p:nvPr/>
        </p:nvGraphicFramePr>
        <p:xfrm>
          <a:off x="782318" y="5049819"/>
          <a:ext cx="8939904" cy="1483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476788"/>
                <a:gridCol w="1734670"/>
                <a:gridCol w="2608730"/>
                <a:gridCol w="311971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+mn-cs"/>
                        </a:rPr>
                        <a:t>配置项</a:t>
                      </a:r>
                      <a:endParaRPr lang="zh-CN" altLang="en-US" sz="1600" kern="1200" dirty="0">
                        <a:solidFill>
                          <a:schemeClr val="bg1"/>
                        </a:solidFill>
                        <a:latin typeface="+mn-lt"/>
                        <a:ea typeface="阿里巴巴普惠体" panose="00020600040101010101" pitchFamily="18" charset="-122"/>
                        <a:cs typeface="+mn-cs"/>
                      </a:endParaRPr>
                    </a:p>
                  </a:txBody>
                  <a:tcPr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+mn-cs"/>
                        </a:rPr>
                        <a:t>刷盘时机</a:t>
                      </a:r>
                      <a:endParaRPr lang="zh-CN" altLang="en-US" sz="1600" kern="1200" dirty="0">
                        <a:solidFill>
                          <a:schemeClr val="bg1"/>
                        </a:solidFill>
                        <a:latin typeface="+mn-lt"/>
                        <a:ea typeface="阿里巴巴普惠体" panose="00020600040101010101" pitchFamily="18" charset="-122"/>
                        <a:cs typeface="+mn-cs"/>
                      </a:endParaRPr>
                    </a:p>
                  </a:txBody>
                  <a:tcPr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+mn-cs"/>
                        </a:rPr>
                        <a:t>优点</a:t>
                      </a:r>
                      <a:endParaRPr lang="zh-CN" altLang="en-US" sz="1600" kern="1200" dirty="0">
                        <a:solidFill>
                          <a:schemeClr val="bg1"/>
                        </a:solidFill>
                        <a:latin typeface="+mn-lt"/>
                        <a:ea typeface="阿里巴巴普惠体" panose="00020600040101010101" pitchFamily="18" charset="-122"/>
                        <a:cs typeface="+mn-cs"/>
                      </a:endParaRPr>
                    </a:p>
                  </a:txBody>
                  <a:tcPr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+mn-cs"/>
                        </a:rPr>
                        <a:t>缺点</a:t>
                      </a:r>
                      <a:endParaRPr lang="zh-CN" altLang="en-US" sz="1600" kern="1200" dirty="0">
                        <a:solidFill>
                          <a:schemeClr val="bg1"/>
                        </a:solidFill>
                        <a:latin typeface="+mn-lt"/>
                        <a:ea typeface="阿里巴巴普惠体" panose="00020600040101010101" pitchFamily="18" charset="-122"/>
                        <a:cs typeface="+mn-cs"/>
                      </a:endParaRPr>
                    </a:p>
                  </a:txBody>
                  <a:tcPr>
                    <a:solidFill>
                      <a:srgbClr val="AD2A2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Always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同步刷盘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可靠性高，几乎不丢数据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性能影响大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everysec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每秒刷盘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性能适中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最多丢失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秒数据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no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操作系统控制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性能最好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可靠性较差，可能丢失大量数据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AOF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350947"/>
          </a:xfrm>
        </p:spPr>
        <p:txBody>
          <a:bodyPr/>
          <a:lstStyle/>
          <a:p>
            <a:r>
              <a:rPr lang="zh-CN" altLang="en-US" dirty="0"/>
              <a:t>因为是记录命令，</a:t>
            </a:r>
            <a:r>
              <a:rPr lang="en-US" altLang="zh-CN" dirty="0"/>
              <a:t>AOF</a:t>
            </a:r>
            <a:r>
              <a:rPr lang="zh-CN" altLang="en-US" dirty="0"/>
              <a:t>文件会比</a:t>
            </a:r>
            <a:r>
              <a:rPr lang="en-US" altLang="zh-CN" dirty="0"/>
              <a:t>RDB</a:t>
            </a:r>
            <a:r>
              <a:rPr lang="zh-CN" altLang="en-US" dirty="0"/>
              <a:t>文件大的多。而且</a:t>
            </a:r>
            <a:r>
              <a:rPr lang="en-US" altLang="zh-CN" dirty="0"/>
              <a:t>AOF</a:t>
            </a:r>
            <a:r>
              <a:rPr lang="zh-CN" altLang="en-US" dirty="0"/>
              <a:t>会记录对同一个</a:t>
            </a:r>
            <a:r>
              <a:rPr lang="en-US" altLang="zh-CN" dirty="0"/>
              <a:t>key</a:t>
            </a:r>
            <a:r>
              <a:rPr lang="zh-CN" altLang="en-US" dirty="0"/>
              <a:t>的多次写操作，但只有最后一次写操作才有意义。通过执行</a:t>
            </a:r>
            <a:r>
              <a:rPr lang="en-US" altLang="zh-CN" dirty="0" err="1">
                <a:solidFill>
                  <a:srgbClr val="AD2A26"/>
                </a:solidFill>
              </a:rPr>
              <a:t>bgrewriteaof</a:t>
            </a:r>
            <a:r>
              <a:rPr lang="zh-CN" altLang="en-US" dirty="0"/>
              <a:t>命令，可以让</a:t>
            </a:r>
            <a:r>
              <a:rPr lang="en-US" altLang="zh-CN" dirty="0"/>
              <a:t>AOF</a:t>
            </a:r>
            <a:r>
              <a:rPr lang="zh-CN" altLang="en-US" dirty="0"/>
              <a:t>文件执行重写功能，用最少的命令达到相同效果。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Redis</a:t>
            </a:r>
            <a:r>
              <a:rPr lang="zh-CN" altLang="en-US" dirty="0"/>
              <a:t>也会在触发阈值时自动去重写</a:t>
            </a:r>
            <a:r>
              <a:rPr lang="en-US" altLang="zh-CN" dirty="0"/>
              <a:t>AOF</a:t>
            </a:r>
            <a:r>
              <a:rPr lang="zh-CN" altLang="en-US" dirty="0"/>
              <a:t>文件。阈值也可以在</a:t>
            </a:r>
            <a:r>
              <a:rPr lang="en-US" altLang="zh-CN" dirty="0" err="1"/>
              <a:t>redis.conf</a:t>
            </a:r>
            <a:r>
              <a:rPr lang="zh-CN" altLang="en-US" dirty="0"/>
              <a:t>中配置：</a:t>
            </a:r>
            <a:endParaRPr lang="en-US" altLang="zh-CN" dirty="0"/>
          </a:p>
        </p:txBody>
      </p:sp>
      <p:grpSp>
        <p:nvGrpSpPr>
          <p:cNvPr id="23" name="组合 22"/>
          <p:cNvGrpSpPr/>
          <p:nvPr/>
        </p:nvGrpSpPr>
        <p:grpSpPr>
          <a:xfrm>
            <a:off x="1967991" y="2574428"/>
            <a:ext cx="1796791" cy="985283"/>
            <a:chOff x="1749421" y="2580071"/>
            <a:chExt cx="2066986" cy="985283"/>
          </a:xfrm>
        </p:grpSpPr>
        <p:grpSp>
          <p:nvGrpSpPr>
            <p:cNvPr id="13" name="组合 12"/>
            <p:cNvGrpSpPr/>
            <p:nvPr/>
          </p:nvGrpSpPr>
          <p:grpSpPr>
            <a:xfrm>
              <a:off x="1749422" y="2580071"/>
              <a:ext cx="2066985" cy="985283"/>
              <a:chOff x="960120" y="2443717"/>
              <a:chExt cx="2066985" cy="985283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4" name="任意多边形: 形状 13"/>
              <p:cNvSpPr/>
              <p:nvPr/>
            </p:nvSpPr>
            <p:spPr>
              <a:xfrm>
                <a:off x="960120" y="2521354"/>
                <a:ext cx="2057400" cy="907646"/>
              </a:xfrm>
              <a:custGeom>
                <a:avLst/>
                <a:gdLst>
                  <a:gd name="connsiteX0" fmla="*/ 0 w 2057400"/>
                  <a:gd name="connsiteY0" fmla="*/ 0 h 3986126"/>
                  <a:gd name="connsiteX1" fmla="*/ 1535602 w 2057400"/>
                  <a:gd name="connsiteY1" fmla="*/ 0 h 3986126"/>
                  <a:gd name="connsiteX2" fmla="*/ 2057400 w 2057400"/>
                  <a:gd name="connsiteY2" fmla="*/ 542768 h 3986126"/>
                  <a:gd name="connsiteX3" fmla="*/ 2057400 w 2057400"/>
                  <a:gd name="connsiteY3" fmla="*/ 3986126 h 3986126"/>
                  <a:gd name="connsiteX4" fmla="*/ 0 w 2057400"/>
                  <a:gd name="connsiteY4" fmla="*/ 3986126 h 398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7400" h="3986126">
                    <a:moveTo>
                      <a:pt x="0" y="0"/>
                    </a:moveTo>
                    <a:lnTo>
                      <a:pt x="1535602" y="0"/>
                    </a:lnTo>
                    <a:lnTo>
                      <a:pt x="2057400" y="542768"/>
                    </a:lnTo>
                    <a:lnTo>
                      <a:pt x="2057400" y="3986126"/>
                    </a:lnTo>
                    <a:lnTo>
                      <a:pt x="0" y="3986126"/>
                    </a:lnTo>
                    <a:close/>
                  </a:path>
                </a:pathLst>
              </a:custGeom>
              <a:solidFill>
                <a:srgbClr val="F5FA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 rot="20505853">
                <a:off x="2511432" y="2443717"/>
                <a:ext cx="475535" cy="289345"/>
              </a:xfrm>
              <a:custGeom>
                <a:avLst/>
                <a:gdLst>
                  <a:gd name="connsiteX0" fmla="*/ 0 w 708461"/>
                  <a:gd name="connsiteY0" fmla="*/ 0 h 753970"/>
                  <a:gd name="connsiteX1" fmla="*/ 708461 w 708461"/>
                  <a:gd name="connsiteY1" fmla="*/ 753970 h 753970"/>
                  <a:gd name="connsiteX2" fmla="*/ 0 w 708461"/>
                  <a:gd name="connsiteY2" fmla="*/ 753970 h 753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08461" h="753970">
                    <a:moveTo>
                      <a:pt x="0" y="0"/>
                    </a:moveTo>
                    <a:lnTo>
                      <a:pt x="708461" y="753970"/>
                    </a:lnTo>
                    <a:lnTo>
                      <a:pt x="0" y="75397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398432" y="2512139"/>
                <a:ext cx="6286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>
                    <a:solidFill>
                      <a:srgbClr val="AD2A26"/>
                    </a:solidFill>
                    <a:latin typeface="+mn-lt"/>
                    <a:ea typeface="+mn-ea"/>
                  </a:rPr>
                  <a:t>AOF</a:t>
                </a:r>
                <a:endParaRPr lang="zh-CN" altLang="en-US" sz="1400" dirty="0">
                  <a:solidFill>
                    <a:srgbClr val="AD2A26"/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1749421" y="2757945"/>
              <a:ext cx="170010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/>
                <a:t>set num 123</a:t>
              </a:r>
              <a:endParaRPr lang="en-US" altLang="zh-CN" sz="1200"/>
            </a:p>
            <a:p>
              <a:r>
                <a:rPr lang="en-US" altLang="zh-CN" sz="1200"/>
                <a:t>set name jack</a:t>
              </a:r>
              <a:endParaRPr lang="en-US" altLang="zh-CN" sz="1200"/>
            </a:p>
            <a:p>
              <a:r>
                <a:rPr lang="en-US" altLang="zh-CN" sz="1200"/>
                <a:t>set num 666</a:t>
              </a:r>
              <a:endParaRPr lang="zh-CN" altLang="en-US" sz="120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816147" y="2574418"/>
            <a:ext cx="2317149" cy="985302"/>
            <a:chOff x="7654782" y="2634831"/>
            <a:chExt cx="2317149" cy="985302"/>
          </a:xfrm>
        </p:grpSpPr>
        <p:grpSp>
          <p:nvGrpSpPr>
            <p:cNvPr id="16" name="组合 15"/>
            <p:cNvGrpSpPr/>
            <p:nvPr/>
          </p:nvGrpSpPr>
          <p:grpSpPr>
            <a:xfrm>
              <a:off x="7654782" y="2634831"/>
              <a:ext cx="2314868" cy="985302"/>
              <a:chOff x="702653" y="2443698"/>
              <a:chExt cx="2314868" cy="985302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8" name="任意多边形: 形状 17"/>
              <p:cNvSpPr/>
              <p:nvPr/>
            </p:nvSpPr>
            <p:spPr>
              <a:xfrm>
                <a:off x="702653" y="2521354"/>
                <a:ext cx="2314868" cy="907646"/>
              </a:xfrm>
              <a:custGeom>
                <a:avLst/>
                <a:gdLst>
                  <a:gd name="connsiteX0" fmla="*/ 0 w 2057400"/>
                  <a:gd name="connsiteY0" fmla="*/ 0 h 3986126"/>
                  <a:gd name="connsiteX1" fmla="*/ 1535602 w 2057400"/>
                  <a:gd name="connsiteY1" fmla="*/ 0 h 3986126"/>
                  <a:gd name="connsiteX2" fmla="*/ 2057400 w 2057400"/>
                  <a:gd name="connsiteY2" fmla="*/ 542768 h 3986126"/>
                  <a:gd name="connsiteX3" fmla="*/ 2057400 w 2057400"/>
                  <a:gd name="connsiteY3" fmla="*/ 3986126 h 3986126"/>
                  <a:gd name="connsiteX4" fmla="*/ 0 w 2057400"/>
                  <a:gd name="connsiteY4" fmla="*/ 3986126 h 398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7400" h="3986126">
                    <a:moveTo>
                      <a:pt x="0" y="0"/>
                    </a:moveTo>
                    <a:lnTo>
                      <a:pt x="1535602" y="0"/>
                    </a:lnTo>
                    <a:lnTo>
                      <a:pt x="2057400" y="542768"/>
                    </a:lnTo>
                    <a:lnTo>
                      <a:pt x="2057400" y="3986126"/>
                    </a:lnTo>
                    <a:lnTo>
                      <a:pt x="0" y="3986126"/>
                    </a:lnTo>
                    <a:close/>
                  </a:path>
                </a:pathLst>
              </a:custGeom>
              <a:solidFill>
                <a:srgbClr val="F5FA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 rot="20633960">
                <a:off x="2459533" y="2443698"/>
                <a:ext cx="527876" cy="291822"/>
              </a:xfrm>
              <a:custGeom>
                <a:avLst/>
                <a:gdLst>
                  <a:gd name="connsiteX0" fmla="*/ 0 w 708461"/>
                  <a:gd name="connsiteY0" fmla="*/ 0 h 753970"/>
                  <a:gd name="connsiteX1" fmla="*/ 708461 w 708461"/>
                  <a:gd name="connsiteY1" fmla="*/ 753970 h 753970"/>
                  <a:gd name="connsiteX2" fmla="*/ 0 w 708461"/>
                  <a:gd name="connsiteY2" fmla="*/ 753970 h 753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08461" h="753970">
                    <a:moveTo>
                      <a:pt x="0" y="0"/>
                    </a:moveTo>
                    <a:lnTo>
                      <a:pt x="708461" y="753970"/>
                    </a:lnTo>
                    <a:lnTo>
                      <a:pt x="0" y="75397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2391517" y="2512131"/>
                <a:ext cx="5068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>
                    <a:solidFill>
                      <a:srgbClr val="AD2A26"/>
                    </a:solidFill>
                    <a:latin typeface="+mn-lt"/>
                    <a:ea typeface="+mn-ea"/>
                  </a:rPr>
                  <a:t>AOF</a:t>
                </a:r>
                <a:endParaRPr lang="zh-CN" altLang="en-US" sz="1400" dirty="0">
                  <a:solidFill>
                    <a:srgbClr val="AD2A26"/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7654782" y="3072596"/>
              <a:ext cx="231714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/>
                <a:t>mset name jack num 666</a:t>
              </a:r>
              <a:endParaRPr lang="zh-CN" altLang="en-US" sz="1200"/>
            </a:p>
          </p:txBody>
        </p:sp>
      </p:grpSp>
      <p:sp>
        <p:nvSpPr>
          <p:cNvPr id="15" name="箭头: 右 14"/>
          <p:cNvSpPr/>
          <p:nvPr/>
        </p:nvSpPr>
        <p:spPr>
          <a:xfrm>
            <a:off x="4896235" y="2762319"/>
            <a:ext cx="1788458" cy="609500"/>
          </a:xfrm>
          <a:prstGeom prst="rightArrow">
            <a:avLst>
              <a:gd name="adj1" fmla="val 41175"/>
              <a:gd name="adj2" fmla="val 50000"/>
            </a:avLst>
          </a:prstGeom>
          <a:gradFill flip="none" rotWithShape="1">
            <a:gsLst>
              <a:gs pos="0">
                <a:srgbClr val="51726F"/>
              </a:gs>
              <a:gs pos="70000">
                <a:srgbClr val="48504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bgrewirteaof</a:t>
            </a:r>
            <a:endParaRPr lang="zh-CN" altLang="en-US" sz="1400"/>
          </a:p>
        </p:txBody>
      </p:sp>
      <p:sp>
        <p:nvSpPr>
          <p:cNvPr id="25" name="文本框 24"/>
          <p:cNvSpPr txBox="1"/>
          <p:nvPr/>
        </p:nvSpPr>
        <p:spPr>
          <a:xfrm>
            <a:off x="710880" y="4279688"/>
            <a:ext cx="9641542" cy="954107"/>
          </a:xfrm>
          <a:prstGeom prst="rect">
            <a:avLst/>
          </a:prstGeom>
          <a:solidFill>
            <a:srgbClr val="002945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  <a:ea typeface="Alibaba PuHuiTi Medium"/>
              </a:rPr>
              <a:t>AOF文件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  <a:ea typeface="Alibaba PuHuiTi Medium"/>
              </a:rPr>
              <a:t>比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  <a:ea typeface="Alibaba PuHuiTi Medium"/>
              </a:rPr>
              <a:t>上次文件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  <a:ea typeface="Alibaba PuHuiTi Medium"/>
              </a:rPr>
              <a:t>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  <a:ea typeface="Alibaba PuHuiTi Medium"/>
              </a:rPr>
              <a:t>增长超过多少百分比则触发重写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  <a:ea typeface="Alibaba PuHuiTi Medium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auto-aof-rewrite-percentage 100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zh-CN" sz="1400" dirty="0">
                <a:solidFill>
                  <a:srgbClr val="92D050"/>
                </a:solidFill>
                <a:latin typeface="Consolas" panose="020B0609020204030204" pitchFamily="49" charset="0"/>
                <a:ea typeface="Alibaba PuHuiTi Medium"/>
              </a:rPr>
              <a:t>AOF文件体积最小多大以上才触发重写</a:t>
            </a:r>
            <a:r>
              <a:rPr lang="en-US" altLang="zh-CN" sz="1400" dirty="0">
                <a:solidFill>
                  <a:srgbClr val="92D050"/>
                </a:solidFill>
                <a:latin typeface="Consolas" panose="020B0609020204030204" pitchFamily="49" charset="0"/>
                <a:ea typeface="Alibaba PuHuiTi Medium"/>
              </a:rPr>
              <a:t> </a:t>
            </a:r>
            <a:br>
              <a:rPr lang="zh-CN" altLang="zh-CN" sz="1400" dirty="0">
                <a:solidFill>
                  <a:srgbClr val="92D050"/>
                </a:solidFill>
                <a:latin typeface="Consolas" panose="020B0609020204030204" pitchFamily="49" charset="0"/>
                <a:ea typeface="Alibaba PuHuiTi Medium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auto-aof-rewrite-min-size 64mb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RDB</a:t>
            </a:r>
            <a:r>
              <a:rPr lang="zh-CN" altLang="en-US" dirty="0"/>
              <a:t>与</a:t>
            </a:r>
            <a:r>
              <a:rPr lang="en-US" altLang="zh-CN" dirty="0"/>
              <a:t>AOF</a:t>
            </a:r>
            <a:r>
              <a:rPr lang="zh-CN" altLang="en-US" dirty="0"/>
              <a:t>对比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350947"/>
          </a:xfrm>
        </p:spPr>
        <p:txBody>
          <a:bodyPr/>
          <a:lstStyle/>
          <a:p>
            <a:r>
              <a:rPr lang="en-US" altLang="zh-CN" dirty="0"/>
              <a:t>RDB</a:t>
            </a:r>
            <a:r>
              <a:rPr lang="zh-CN" altLang="en-US" dirty="0"/>
              <a:t>和</a:t>
            </a:r>
            <a:r>
              <a:rPr lang="en-US" altLang="zh-CN" dirty="0"/>
              <a:t>AOF</a:t>
            </a:r>
            <a:r>
              <a:rPr lang="zh-CN" altLang="en-US" dirty="0"/>
              <a:t>各有自己的优缺点，如果对数据安全性要求较高，在实际开发中往往会</a:t>
            </a:r>
            <a:r>
              <a:rPr lang="zh-CN" altLang="en-US" b="1" dirty="0">
                <a:solidFill>
                  <a:srgbClr val="AD2A26"/>
                </a:solidFill>
              </a:rPr>
              <a:t>结合</a:t>
            </a:r>
            <a:r>
              <a:rPr lang="zh-CN" altLang="en-US" dirty="0"/>
              <a:t>两者来使用。</a:t>
            </a:r>
            <a:endParaRPr lang="en-US" altLang="zh-CN" dirty="0"/>
          </a:p>
        </p:txBody>
      </p:sp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746599" y="2191208"/>
          <a:ext cx="10663081" cy="398824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989935"/>
                <a:gridCol w="4623746"/>
                <a:gridCol w="4049400"/>
              </a:tblGrid>
              <a:tr h="450844"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RDB</a:t>
                      </a:r>
                      <a:endParaRPr lang="zh-CN" altLang="en-US" sz="18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AOF</a:t>
                      </a:r>
                      <a:endParaRPr lang="zh-CN" altLang="en-US" sz="18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持久化方式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定时对整个内存做快照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记录每一次执行的命令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数据完整性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不完整，两次备份之间会丢失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相对完整，取决于刷盘策略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文件大小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会有压缩，文件体积小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记录命令，文件体积很大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宕机恢复速度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很快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慢</a:t>
                      </a:r>
                      <a:endParaRPr lang="zh-CN" altLang="en-US" sz="16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数据恢复优先级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低，因为数据完整性不如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AOF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高，因为数据完整性更高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</a:tr>
              <a:tr h="7040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系统资源占用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高，大量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CPU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和内存消耗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低，主要是磁盘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IO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资源</a:t>
                      </a:r>
                      <a:endParaRPr lang="en-US" altLang="zh-CN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但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AOF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重写时会占用大量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CPU</a:t>
                      </a:r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和内存资源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</a:tr>
              <a:tr h="4508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使用场景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可以容忍数分钟的数据丢失，追求更快的启动速度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对数据安全性要求较高常见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6992" y="1284028"/>
            <a:ext cx="7916310" cy="403152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custDataLst>
      <p:tags r:id="rId2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63040"/>
            <a:ext cx="5760538" cy="158827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 err="1">
                <a:solidFill>
                  <a:schemeClr val="tx1"/>
                </a:solidFill>
              </a:rPr>
              <a:t>redis</a:t>
            </a:r>
            <a:r>
              <a:rPr lang="zh-CN" altLang="en-US" sz="1800" dirty="0">
                <a:solidFill>
                  <a:schemeClr val="tx1"/>
                </a:solidFill>
              </a:rPr>
              <a:t>做为缓存，数据的持久化是怎么做的？</a:t>
            </a:r>
            <a:endParaRPr lang="zh-CN" altLang="en-US" sz="1800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/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/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/>
            <p:cNvSpPr txBox="1"/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/>
          <p:cNvSpPr txBox="1"/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6" name="文本占位符 6"/>
          <p:cNvSpPr txBox="1"/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/>
          <p:cNvSpPr txBox="1"/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8" name="箭头: 下 17"/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  <a:endParaRPr lang="zh-CN" altLang="en-US" sz="14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0" name="图形 19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625" y="5100161"/>
            <a:ext cx="867323" cy="116706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1422305" y="4838720"/>
            <a:ext cx="8457191" cy="717988"/>
            <a:chOff x="1415952" y="1021955"/>
            <a:chExt cx="8328178" cy="717988"/>
          </a:xfrm>
        </p:grpSpPr>
        <p:sp>
          <p:nvSpPr>
            <p:cNvPr id="23" name="任意多边形: 形状 22"/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-1" fmla="*/ 803381 w 5319528"/>
                <a:gd name="connsiteY0-2" fmla="*/ 0 h 787065"/>
                <a:gd name="connsiteX1-3" fmla="*/ 5216541 w 5319528"/>
                <a:gd name="connsiteY1-4" fmla="*/ 0 h 787065"/>
                <a:gd name="connsiteX2-5" fmla="*/ 5319528 w 5319528"/>
                <a:gd name="connsiteY2-6" fmla="*/ 102987 h 787065"/>
                <a:gd name="connsiteX3-7" fmla="*/ 5319528 w 5319528"/>
                <a:gd name="connsiteY3-8" fmla="*/ 514924 h 787065"/>
                <a:gd name="connsiteX4-9" fmla="*/ 5216541 w 5319528"/>
                <a:gd name="connsiteY4-10" fmla="*/ 617911 h 787065"/>
                <a:gd name="connsiteX5-11" fmla="*/ 875800 w 5319528"/>
                <a:gd name="connsiteY5-12" fmla="*/ 617911 h 787065"/>
                <a:gd name="connsiteX6-13" fmla="*/ 0 w 5319528"/>
                <a:gd name="connsiteY6-14" fmla="*/ 787065 h 787065"/>
                <a:gd name="connsiteX7-15" fmla="*/ 700394 w 5319528"/>
                <a:gd name="connsiteY7-16" fmla="*/ 498849 h 787065"/>
                <a:gd name="connsiteX8-17" fmla="*/ 700394 w 5319528"/>
                <a:gd name="connsiteY8-18" fmla="*/ 102987 h 787065"/>
                <a:gd name="connsiteX9-19" fmla="*/ 803381 w 5319528"/>
                <a:gd name="connsiteY9-20" fmla="*/ 0 h 78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/>
            <p:cNvSpPr txBox="1"/>
            <p:nvPr/>
          </p:nvSpPr>
          <p:spPr>
            <a:xfrm>
              <a:off x="2464262" y="1074210"/>
              <a:ext cx="7279868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假如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</a:t>
              </a:r>
              <a:r>
                <a:rPr lang="en-US" altLang="zh-CN" sz="1400" dirty="0">
                  <a:solidFill>
                    <a:schemeClr val="tx1"/>
                  </a:solidFill>
                </a:rPr>
                <a:t>key</a:t>
              </a:r>
              <a:r>
                <a:rPr lang="zh-CN" altLang="en-US" sz="1400" dirty="0">
                  <a:solidFill>
                    <a:schemeClr val="tx1"/>
                  </a:solidFill>
                </a:rPr>
                <a:t>过期之后，会立即删除吗？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281739" y="5561713"/>
            <a:ext cx="9088625" cy="928540"/>
            <a:chOff x="2266299" y="2566650"/>
            <a:chExt cx="8631088" cy="2091465"/>
          </a:xfrm>
        </p:grpSpPr>
        <p:sp>
          <p:nvSpPr>
            <p:cNvPr id="4" name="矩形: 圆角 3"/>
            <p:cNvSpPr/>
            <p:nvPr/>
          </p:nvSpPr>
          <p:spPr bwMode="auto">
            <a:xfrm>
              <a:off x="2266299" y="2566650"/>
              <a:ext cx="8631088" cy="209146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文本占位符 6"/>
            <p:cNvSpPr txBox="1"/>
            <p:nvPr/>
          </p:nvSpPr>
          <p:spPr>
            <a:xfrm>
              <a:off x="2379422" y="2777050"/>
              <a:ext cx="8301148" cy="1529955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/>
                <a:t>Redis</a:t>
              </a:r>
              <a:r>
                <a:rPr lang="zh-CN" altLang="en-US" sz="1400" dirty="0"/>
                <a:t>对数据设置数据的有效时间，数据过期以后，就需要将数据从内存中删除掉。可以按照不同的规则进行删除，这种删除规则就被称之为数据的删除策略（数据过期策略）。</a:t>
              </a:r>
              <a:endParaRPr lang="zh-CN" altLang="en-US" sz="1400" dirty="0">
                <a:solidFill>
                  <a:srgbClr val="C00000"/>
                </a:solidFill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7894153" y="6047168"/>
            <a:ext cx="25518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  <a:ea typeface="阿里巴巴普惠体" panose="00020600040101010101" pitchFamily="18" charset="-122"/>
              </a:rPr>
              <a:t>惰性删除、定期删除</a:t>
            </a:r>
            <a:endParaRPr lang="zh-CN" altLang="en-US" sz="1400" dirty="0">
              <a:solidFill>
                <a:srgbClr val="C00000"/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12" name="矩形: 圆角 11"/>
          <p:cNvSpPr/>
          <p:nvPr/>
        </p:nvSpPr>
        <p:spPr bwMode="auto">
          <a:xfrm>
            <a:off x="8726556" y="4929809"/>
            <a:ext cx="2256183" cy="467140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 name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heima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数据删除策略</a:t>
            </a:r>
            <a:r>
              <a:rPr lang="en-US" altLang="zh-CN" dirty="0"/>
              <a:t>-</a:t>
            </a:r>
            <a:r>
              <a:rPr lang="zh-CN" altLang="en-US" dirty="0"/>
              <a:t>惰性删除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930153"/>
          </a:xfrm>
        </p:spPr>
        <p:txBody>
          <a:bodyPr/>
          <a:lstStyle/>
          <a:p>
            <a:r>
              <a:rPr lang="zh-CN" altLang="en-US" dirty="0"/>
              <a:t>惰性删除：设置该</a:t>
            </a:r>
            <a:r>
              <a:rPr lang="en-US" altLang="zh-CN" dirty="0"/>
              <a:t>key</a:t>
            </a:r>
            <a:r>
              <a:rPr lang="zh-CN" altLang="en-US" dirty="0"/>
              <a:t>过期时间后，我们不去管它，当需要该</a:t>
            </a:r>
            <a:r>
              <a:rPr lang="en-US" altLang="zh-CN" dirty="0"/>
              <a:t>key</a:t>
            </a:r>
            <a:r>
              <a:rPr lang="zh-CN" altLang="en-US" dirty="0"/>
              <a:t>时，我们在检查其是否过期，如果过期，我们就删掉它，反之返回该</a:t>
            </a:r>
            <a:r>
              <a:rPr lang="en-US" altLang="zh-CN" dirty="0"/>
              <a:t>key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795130" y="2564296"/>
            <a:ext cx="4502426" cy="901217"/>
            <a:chOff x="745435" y="2564296"/>
            <a:chExt cx="4502426" cy="901217"/>
          </a:xfrm>
        </p:grpSpPr>
        <p:sp>
          <p:nvSpPr>
            <p:cNvPr id="6" name="Rectangle 2"/>
            <p:cNvSpPr>
              <a:spLocks noChangeArrowheads="1"/>
            </p:cNvSpPr>
            <p:nvPr/>
          </p:nvSpPr>
          <p:spPr bwMode="auto">
            <a:xfrm>
              <a:off x="745435" y="2811873"/>
              <a:ext cx="4502426" cy="65364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Unicode MS"/>
                  <a:ea typeface="JetBrains Mono"/>
                </a:rPr>
                <a:t>set name zhangsan  </a:t>
              </a: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1750EB"/>
                  </a:solidFill>
                  <a:effectLst/>
                  <a:latin typeface="Arial Unicode MS"/>
                  <a:ea typeface="JetBrains Mono"/>
                </a:rPr>
                <a:t>10</a:t>
              </a:r>
              <a:b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1750EB"/>
                  </a:solidFill>
                  <a:effectLst/>
                  <a:latin typeface="Arial Unicode MS"/>
                  <a:ea typeface="JetBrains Mono"/>
                </a:rPr>
              </a:br>
              <a:r>
                <a:rPr kumimoji="0" lang="zh-CN" altLang="zh-CN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Unicode MS"/>
                  <a:ea typeface="JetBrains Mono"/>
                </a:rPr>
                <a:t>get name   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Arial Unicode MS"/>
                  <a:ea typeface="JetBrains Mono"/>
                </a:rPr>
                <a:t>//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发现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Arial Unicode MS"/>
                  <a:ea typeface="JetBrains Mono"/>
                </a:rPr>
                <a:t>name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过期了，直接删除</a:t>
              </a:r>
              <a:r>
                <a:rPr kumimoji="0" lang="zh-CN" altLang="zh-CN" sz="13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Arial Unicode MS"/>
                  <a:ea typeface="JetBrains Mono"/>
                </a:rPr>
                <a:t>key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矩形 6"/>
            <p:cNvSpPr/>
            <p:nvPr/>
          </p:nvSpPr>
          <p:spPr bwMode="auto">
            <a:xfrm>
              <a:off x="745435" y="2564296"/>
              <a:ext cx="715617" cy="28823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例子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占位符 2"/>
          <p:cNvSpPr txBox="1"/>
          <p:nvPr/>
        </p:nvSpPr>
        <p:spPr>
          <a:xfrm>
            <a:off x="746600" y="3989717"/>
            <a:ext cx="10931878" cy="93015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优点</a:t>
            </a:r>
            <a:r>
              <a:rPr lang="zh-CN" altLang="en-US" dirty="0"/>
              <a:t> ：对</a:t>
            </a:r>
            <a:r>
              <a:rPr lang="en-US" altLang="zh-CN" dirty="0"/>
              <a:t>CPU</a:t>
            </a:r>
            <a:r>
              <a:rPr lang="zh-CN" altLang="en-US" dirty="0"/>
              <a:t>友好，只会在使用该</a:t>
            </a:r>
            <a:r>
              <a:rPr lang="en-US" altLang="zh-CN" dirty="0"/>
              <a:t>key</a:t>
            </a:r>
            <a:r>
              <a:rPr lang="zh-CN" altLang="en-US" dirty="0"/>
              <a:t>时才会进行过期检查，对于很多用不到的</a:t>
            </a:r>
            <a:r>
              <a:rPr lang="en-US" altLang="zh-CN" dirty="0"/>
              <a:t>key</a:t>
            </a:r>
            <a:r>
              <a:rPr lang="zh-CN" altLang="en-US" dirty="0"/>
              <a:t>不用浪费时间进行过期检查</a:t>
            </a:r>
            <a:endParaRPr lang="en-US" altLang="zh-CN" dirty="0"/>
          </a:p>
          <a:p>
            <a:r>
              <a:rPr lang="zh-CN" altLang="en-US" b="1" dirty="0"/>
              <a:t>缺点</a:t>
            </a:r>
            <a:r>
              <a:rPr lang="zh-CN" altLang="en-US" dirty="0"/>
              <a:t> ：对内存不友好，如果一个</a:t>
            </a:r>
            <a:r>
              <a:rPr lang="en-US" altLang="zh-CN" dirty="0"/>
              <a:t>key</a:t>
            </a:r>
            <a:r>
              <a:rPr lang="zh-CN" altLang="en-US" dirty="0"/>
              <a:t>已经过期，但是一直没有使用，那么该</a:t>
            </a:r>
            <a:r>
              <a:rPr lang="en-US" altLang="zh-CN" dirty="0"/>
              <a:t>key</a:t>
            </a:r>
            <a:r>
              <a:rPr lang="zh-CN" altLang="en-US" dirty="0"/>
              <a:t>就会一直存在内存中，内存永远不会释放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数据删除策略</a:t>
            </a:r>
            <a:r>
              <a:rPr lang="en-US" altLang="zh-CN" dirty="0"/>
              <a:t>-</a:t>
            </a:r>
            <a:r>
              <a:rPr lang="zh-CN" altLang="en-US" dirty="0"/>
              <a:t>定期删除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009666"/>
          </a:xfrm>
        </p:spPr>
        <p:txBody>
          <a:bodyPr/>
          <a:lstStyle/>
          <a:p>
            <a:r>
              <a:rPr lang="zh-CN" altLang="en-US" dirty="0"/>
              <a:t>定期删除：每隔一段时间，我们就对一些</a:t>
            </a:r>
            <a:r>
              <a:rPr lang="en-US" altLang="zh-CN" dirty="0"/>
              <a:t>key</a:t>
            </a:r>
            <a:r>
              <a:rPr lang="zh-CN" altLang="en-US" dirty="0"/>
              <a:t>进行检查，删除里面过期的</a:t>
            </a:r>
            <a:r>
              <a:rPr lang="en-US" altLang="zh-CN" dirty="0"/>
              <a:t>key(</a:t>
            </a:r>
            <a:r>
              <a:rPr lang="zh-CN" altLang="en-US" dirty="0"/>
              <a:t>从一定数量的数据库中取出一定数量的随机</a:t>
            </a:r>
            <a:r>
              <a:rPr lang="en-US" altLang="zh-CN" dirty="0"/>
              <a:t>key</a:t>
            </a:r>
            <a:r>
              <a:rPr lang="zh-CN" altLang="en-US" dirty="0"/>
              <a:t>进行检查，并删除其中的过期</a:t>
            </a:r>
            <a:r>
              <a:rPr lang="en-US" altLang="zh-CN" dirty="0"/>
              <a:t>key)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文本占位符 2"/>
          <p:cNvSpPr txBox="1"/>
          <p:nvPr/>
        </p:nvSpPr>
        <p:spPr>
          <a:xfrm>
            <a:off x="746600" y="2496784"/>
            <a:ext cx="10698800" cy="154844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定期清理有两种模式：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SLOW</a:t>
            </a:r>
            <a:r>
              <a:rPr lang="zh-CN" altLang="en-US" dirty="0"/>
              <a:t>模式是定时任务，执行频率默认为</a:t>
            </a:r>
            <a:r>
              <a:rPr lang="en-US" altLang="zh-CN" dirty="0"/>
              <a:t>10hz</a:t>
            </a:r>
            <a:r>
              <a:rPr lang="zh-CN" altLang="en-US" dirty="0"/>
              <a:t>，每次不超过</a:t>
            </a:r>
            <a:r>
              <a:rPr lang="en-US" altLang="zh-CN" dirty="0"/>
              <a:t>25ms</a:t>
            </a:r>
            <a:r>
              <a:rPr lang="zh-CN" altLang="en-US" dirty="0"/>
              <a:t>，以通过修改配置文件</a:t>
            </a:r>
            <a:r>
              <a:rPr lang="en-US" altLang="zh-CN" dirty="0" err="1"/>
              <a:t>redis.conf</a:t>
            </a:r>
            <a:r>
              <a:rPr lang="en-US" altLang="zh-CN" dirty="0"/>
              <a:t> </a:t>
            </a:r>
            <a:r>
              <a:rPr lang="zh-CN" altLang="en-US" dirty="0"/>
              <a:t>的</a:t>
            </a:r>
            <a:r>
              <a:rPr lang="en-US" altLang="zh-CN" dirty="0" err="1">
                <a:solidFill>
                  <a:srgbClr val="C00000"/>
                </a:solidFill>
              </a:rPr>
              <a:t>hz</a:t>
            </a:r>
            <a:r>
              <a:rPr lang="en-US" altLang="zh-CN" dirty="0"/>
              <a:t> </a:t>
            </a:r>
            <a:r>
              <a:rPr lang="zh-CN" altLang="en-US" dirty="0"/>
              <a:t>选项来调整这个次数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FAST</a:t>
            </a:r>
            <a:r>
              <a:rPr lang="zh-CN" altLang="en-US" dirty="0"/>
              <a:t>模式执行频率不固定，但两次间隔不低于</a:t>
            </a:r>
            <a:r>
              <a:rPr lang="en-US" altLang="zh-CN" dirty="0"/>
              <a:t>2ms</a:t>
            </a:r>
            <a:r>
              <a:rPr lang="zh-CN" altLang="en-US" dirty="0"/>
              <a:t>，每次耗时不超过</a:t>
            </a:r>
            <a:r>
              <a:rPr lang="en-US" altLang="zh-CN" dirty="0"/>
              <a:t>1ms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占位符 2"/>
          <p:cNvSpPr txBox="1"/>
          <p:nvPr/>
        </p:nvSpPr>
        <p:spPr>
          <a:xfrm>
            <a:off x="746600" y="4534306"/>
            <a:ext cx="10698800" cy="100966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7" name="文本占位符 2"/>
          <p:cNvSpPr txBox="1"/>
          <p:nvPr/>
        </p:nvSpPr>
        <p:spPr>
          <a:xfrm>
            <a:off x="667087" y="4474671"/>
            <a:ext cx="10698800" cy="12800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优点</a:t>
            </a:r>
            <a:r>
              <a:rPr lang="zh-CN" altLang="en-US" dirty="0"/>
              <a:t>：可以通过限制删除操作执行的时长和频率来减少删除操作对 </a:t>
            </a:r>
            <a:r>
              <a:rPr lang="en-US" altLang="zh-CN" dirty="0"/>
              <a:t>CPU </a:t>
            </a:r>
            <a:r>
              <a:rPr lang="zh-CN" altLang="en-US" dirty="0"/>
              <a:t>的影响。另外定期删除，也能有效释放过期键占用的内存。</a:t>
            </a:r>
            <a:endParaRPr lang="en-US" altLang="zh-CN" dirty="0"/>
          </a:p>
          <a:p>
            <a:r>
              <a:rPr lang="zh-CN" altLang="en-US" b="1" dirty="0"/>
              <a:t>缺点</a:t>
            </a:r>
            <a:r>
              <a:rPr lang="zh-CN" altLang="en-US" dirty="0"/>
              <a:t>：难以确定删除操作执行的时长和频率。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0" name="文本占位符 2"/>
          <p:cNvSpPr txBox="1"/>
          <p:nvPr/>
        </p:nvSpPr>
        <p:spPr>
          <a:xfrm>
            <a:off x="667087" y="5935723"/>
            <a:ext cx="10698800" cy="5445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Redis</a:t>
            </a:r>
            <a:r>
              <a:rPr lang="zh-CN" altLang="en-US" b="1" dirty="0"/>
              <a:t>的过期删除策略：</a:t>
            </a:r>
            <a:r>
              <a:rPr lang="zh-CN" altLang="en-US" b="1" dirty="0">
                <a:solidFill>
                  <a:srgbClr val="C00000"/>
                </a:solidFill>
              </a:rPr>
              <a:t>惰性删除 </a:t>
            </a:r>
            <a:r>
              <a:rPr lang="en-US" altLang="zh-CN" b="1" dirty="0"/>
              <a:t>+ </a:t>
            </a:r>
            <a:r>
              <a:rPr lang="zh-CN" altLang="en-US" b="1" dirty="0">
                <a:solidFill>
                  <a:srgbClr val="C00000"/>
                </a:solidFill>
              </a:rPr>
              <a:t>定期删除</a:t>
            </a:r>
            <a:r>
              <a:rPr lang="zh-CN" altLang="en-US" b="1" dirty="0"/>
              <a:t>两种策略进行配合使用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 txBox="1"/>
          <p:nvPr/>
        </p:nvSpPr>
        <p:spPr>
          <a:xfrm>
            <a:off x="4768775" y="1426617"/>
            <a:ext cx="5760538" cy="133646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US" altLang="zh-CN"/>
              <a:t>Redis</a:t>
            </a:r>
            <a:r>
              <a:rPr lang="zh-CN" altLang="en-US"/>
              <a:t>的数据过期策略</a:t>
            </a:r>
            <a:endParaRPr lang="zh-CN" altLang="en-US" dirty="0"/>
          </a:p>
        </p:txBody>
      </p:sp>
      <p:sp>
        <p:nvSpPr>
          <p:cNvPr id="4" name="文本占位符 2"/>
          <p:cNvSpPr txBox="1"/>
          <p:nvPr/>
        </p:nvSpPr>
        <p:spPr>
          <a:xfrm>
            <a:off x="4757036" y="2547609"/>
            <a:ext cx="6712721" cy="25213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惰性删除</a:t>
            </a:r>
            <a:r>
              <a:rPr lang="zh-CN" altLang="en-US" sz="1400" dirty="0"/>
              <a:t>：访问</a:t>
            </a:r>
            <a:r>
              <a:rPr lang="en-US" altLang="zh-CN" sz="1400" dirty="0"/>
              <a:t>key</a:t>
            </a:r>
            <a:r>
              <a:rPr lang="zh-CN" altLang="en-US" sz="1400" dirty="0"/>
              <a:t>的时候判断是否过期，如果过期，则删除</a:t>
            </a:r>
            <a:endParaRPr lang="en-US" altLang="zh-CN" sz="1400" dirty="0"/>
          </a:p>
          <a:p>
            <a:r>
              <a:rPr lang="zh-CN" altLang="en-US" sz="1400" b="1" dirty="0"/>
              <a:t>定期删除</a:t>
            </a:r>
            <a:r>
              <a:rPr lang="zh-CN" altLang="en-US" sz="1400" dirty="0"/>
              <a:t>：定期检查一定量的</a:t>
            </a:r>
            <a:r>
              <a:rPr lang="en-US" altLang="zh-CN" sz="1400" dirty="0"/>
              <a:t>key</a:t>
            </a:r>
            <a:r>
              <a:rPr lang="zh-CN" altLang="en-US" sz="1400" dirty="0"/>
              <a:t>是否过期（</a:t>
            </a:r>
            <a:r>
              <a:rPr lang="en-US" altLang="zh-CN" sz="1400" dirty="0"/>
              <a:t> SLOW</a:t>
            </a:r>
            <a:r>
              <a:rPr lang="zh-CN" altLang="en-US" sz="1400" dirty="0"/>
              <a:t>模式</a:t>
            </a:r>
            <a:r>
              <a:rPr lang="en-US" altLang="zh-CN" sz="1400" dirty="0"/>
              <a:t>+ FAST</a:t>
            </a:r>
            <a:r>
              <a:rPr lang="zh-CN" altLang="en-US" sz="1400" dirty="0"/>
              <a:t>模式）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b="1" dirty="0"/>
              <a:t>Redis</a:t>
            </a:r>
            <a:r>
              <a:rPr lang="zh-CN" altLang="en-US" sz="1400" b="1" dirty="0"/>
              <a:t>的过期删除策略：</a:t>
            </a:r>
            <a:r>
              <a:rPr lang="zh-CN" altLang="en-US" sz="1400" b="1" dirty="0">
                <a:solidFill>
                  <a:srgbClr val="C00000"/>
                </a:solidFill>
              </a:rPr>
              <a:t>惰性删除 </a:t>
            </a:r>
            <a:r>
              <a:rPr lang="en-US" altLang="zh-CN" sz="1400" b="1" dirty="0"/>
              <a:t>+ </a:t>
            </a:r>
            <a:r>
              <a:rPr lang="zh-CN" altLang="en-US" sz="1400" b="1" dirty="0">
                <a:solidFill>
                  <a:srgbClr val="C00000"/>
                </a:solidFill>
              </a:rPr>
              <a:t>定期删除</a:t>
            </a:r>
            <a:r>
              <a:rPr lang="zh-CN" altLang="en-US" sz="1400" b="1" dirty="0"/>
              <a:t>两种策略进行配合使用</a:t>
            </a:r>
            <a:endParaRPr lang="zh-CN" altLang="en-US" sz="1400" dirty="0"/>
          </a:p>
          <a:p>
            <a:endParaRPr lang="en-US" altLang="zh-CN" sz="1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6655" y="1413082"/>
            <a:ext cx="6764503" cy="410486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/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/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/>
            <p:cNvSpPr txBox="1"/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/>
          <p:cNvSpPr txBox="1"/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6" name="文本占位符 6"/>
          <p:cNvSpPr txBox="1"/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/>
          <p:cNvSpPr txBox="1"/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8" name="箭头: 下 17"/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  <a:endParaRPr lang="zh-CN" altLang="en-US" sz="14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0" name="图形 19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686" y="5348639"/>
            <a:ext cx="867323" cy="116706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1481940" y="5196529"/>
            <a:ext cx="8086265" cy="717988"/>
            <a:chOff x="1415952" y="1021955"/>
            <a:chExt cx="7907155" cy="717988"/>
          </a:xfrm>
        </p:grpSpPr>
        <p:sp>
          <p:nvSpPr>
            <p:cNvPr id="23" name="任意多边形: 形状 22"/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-1" fmla="*/ 803381 w 5319528"/>
                <a:gd name="connsiteY0-2" fmla="*/ 0 h 787065"/>
                <a:gd name="connsiteX1-3" fmla="*/ 5216541 w 5319528"/>
                <a:gd name="connsiteY1-4" fmla="*/ 0 h 787065"/>
                <a:gd name="connsiteX2-5" fmla="*/ 5319528 w 5319528"/>
                <a:gd name="connsiteY2-6" fmla="*/ 102987 h 787065"/>
                <a:gd name="connsiteX3-7" fmla="*/ 5319528 w 5319528"/>
                <a:gd name="connsiteY3-8" fmla="*/ 514924 h 787065"/>
                <a:gd name="connsiteX4-9" fmla="*/ 5216541 w 5319528"/>
                <a:gd name="connsiteY4-10" fmla="*/ 617911 h 787065"/>
                <a:gd name="connsiteX5-11" fmla="*/ 875800 w 5319528"/>
                <a:gd name="connsiteY5-12" fmla="*/ 617911 h 787065"/>
                <a:gd name="connsiteX6-13" fmla="*/ 0 w 5319528"/>
                <a:gd name="connsiteY6-14" fmla="*/ 787065 h 787065"/>
                <a:gd name="connsiteX7-15" fmla="*/ 700394 w 5319528"/>
                <a:gd name="connsiteY7-16" fmla="*/ 498849 h 787065"/>
                <a:gd name="connsiteX8-17" fmla="*/ 700394 w 5319528"/>
                <a:gd name="connsiteY8-18" fmla="*/ 102987 h 787065"/>
                <a:gd name="connsiteX9-19" fmla="*/ 803381 w 5319528"/>
                <a:gd name="connsiteY9-20" fmla="*/ 0 h 78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假如缓存过多，内存是有限的，内存被占满了怎么办？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056992" y="5929460"/>
            <a:ext cx="6124715" cy="593889"/>
            <a:chOff x="2266299" y="2633811"/>
            <a:chExt cx="8631088" cy="2091465"/>
          </a:xfrm>
        </p:grpSpPr>
        <p:sp>
          <p:nvSpPr>
            <p:cNvPr id="4" name="矩形: 圆角 3"/>
            <p:cNvSpPr/>
            <p:nvPr/>
          </p:nvSpPr>
          <p:spPr bwMode="auto">
            <a:xfrm>
              <a:off x="2266299" y="2633811"/>
              <a:ext cx="8631088" cy="209146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文本占位符 6"/>
            <p:cNvSpPr txBox="1"/>
            <p:nvPr/>
          </p:nvSpPr>
          <p:spPr>
            <a:xfrm>
              <a:off x="2379422" y="2777050"/>
              <a:ext cx="8301148" cy="1529955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其实就是想问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的数据淘汰策略是什么？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数据淘汰策略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4945561"/>
          </a:xfrm>
        </p:spPr>
        <p:txBody>
          <a:bodyPr/>
          <a:lstStyle/>
          <a:p>
            <a:r>
              <a:rPr lang="zh-CN" altLang="en-US" b="1" dirty="0"/>
              <a:t>数据的淘汰策略</a:t>
            </a:r>
            <a:r>
              <a:rPr lang="zh-CN" altLang="en-US" dirty="0"/>
              <a:t>：当</a:t>
            </a:r>
            <a:r>
              <a:rPr lang="en-US" altLang="zh-CN" dirty="0"/>
              <a:t>Redis</a:t>
            </a:r>
            <a:r>
              <a:rPr lang="zh-CN" altLang="en-US" dirty="0"/>
              <a:t>中的内存不够用时，此时在向</a:t>
            </a:r>
            <a:r>
              <a:rPr lang="en-US" altLang="zh-CN" dirty="0"/>
              <a:t>Redis</a:t>
            </a:r>
            <a:r>
              <a:rPr lang="zh-CN" altLang="en-US" dirty="0"/>
              <a:t>中添加新的</a:t>
            </a:r>
            <a:r>
              <a:rPr lang="en-US" altLang="zh-CN" dirty="0"/>
              <a:t>key</a:t>
            </a:r>
            <a:r>
              <a:rPr lang="zh-CN" altLang="en-US" dirty="0"/>
              <a:t>，那么</a:t>
            </a:r>
            <a:r>
              <a:rPr lang="en-US" altLang="zh-CN" dirty="0"/>
              <a:t>Redis</a:t>
            </a:r>
            <a:r>
              <a:rPr lang="zh-CN" altLang="en-US" dirty="0"/>
              <a:t>就会按照某一种规则将内存中的数据删除掉，这种数据的删除规则被称之为内存的淘汰策略。</a:t>
            </a:r>
            <a:endParaRPr lang="en-US" altLang="zh-CN" dirty="0"/>
          </a:p>
          <a:p>
            <a:r>
              <a:rPr lang="en-US" altLang="zh-CN" dirty="0"/>
              <a:t>Redis</a:t>
            </a:r>
            <a:r>
              <a:rPr lang="zh-CN" altLang="en-US" dirty="0"/>
              <a:t>支持</a:t>
            </a:r>
            <a:r>
              <a:rPr lang="en-US" altLang="zh-CN" dirty="0"/>
              <a:t>8</a:t>
            </a:r>
            <a:r>
              <a:rPr lang="zh-CN" altLang="en-US" dirty="0"/>
              <a:t>种不同策略来选择要删除的</a:t>
            </a:r>
            <a:r>
              <a:rPr lang="en-US" altLang="zh-CN" dirty="0"/>
              <a:t>key</a:t>
            </a:r>
            <a:r>
              <a:rPr lang="zh-CN" altLang="en-US" dirty="0"/>
              <a:t>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err="1"/>
              <a:t>noeviction</a:t>
            </a:r>
            <a:r>
              <a:rPr lang="zh-CN" altLang="en-US" sz="1600" dirty="0"/>
              <a:t>： 不淘汰任何</a:t>
            </a:r>
            <a:r>
              <a:rPr lang="en-US" altLang="zh-CN" sz="1600" dirty="0"/>
              <a:t>key</a:t>
            </a:r>
            <a:r>
              <a:rPr lang="zh-CN" altLang="en-US" sz="1600" dirty="0"/>
              <a:t>，但是内存满时不允许写入新数据，</a:t>
            </a:r>
            <a:r>
              <a:rPr lang="zh-CN" altLang="en-US" sz="1600" dirty="0">
                <a:solidFill>
                  <a:srgbClr val="C00000"/>
                </a:solidFill>
              </a:rPr>
              <a:t>默认就是这种策略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/>
              <a:t>volatile-</a:t>
            </a:r>
            <a:r>
              <a:rPr lang="en-US" altLang="zh-CN" sz="1600" dirty="0" err="1"/>
              <a:t>ttl</a:t>
            </a:r>
            <a:r>
              <a:rPr lang="zh-CN" altLang="en-US" sz="1600" dirty="0"/>
              <a:t>： 对设置了</a:t>
            </a:r>
            <a:r>
              <a:rPr lang="en-US" altLang="zh-CN" sz="1600" dirty="0"/>
              <a:t>TTL</a:t>
            </a:r>
            <a:r>
              <a:rPr lang="zh-CN" altLang="en-US" sz="1600" dirty="0"/>
              <a:t>的</a:t>
            </a:r>
            <a:r>
              <a:rPr lang="en-US" altLang="zh-CN" sz="1600" dirty="0"/>
              <a:t>key</a:t>
            </a:r>
            <a:r>
              <a:rPr lang="zh-CN" altLang="en-US" sz="1600" dirty="0"/>
              <a:t>，比较</a:t>
            </a:r>
            <a:r>
              <a:rPr lang="en-US" altLang="zh-CN" sz="1600" dirty="0"/>
              <a:t>key</a:t>
            </a:r>
            <a:r>
              <a:rPr lang="zh-CN" altLang="en-US" sz="1600" dirty="0"/>
              <a:t>的剩余</a:t>
            </a:r>
            <a:r>
              <a:rPr lang="en-US" altLang="zh-CN" sz="1600" dirty="0"/>
              <a:t>TTL</a:t>
            </a:r>
            <a:r>
              <a:rPr lang="zh-CN" altLang="en-US" sz="1600" dirty="0"/>
              <a:t>值，</a:t>
            </a:r>
            <a:r>
              <a:rPr lang="en-US" altLang="zh-CN" sz="1600" dirty="0"/>
              <a:t>TTL</a:t>
            </a:r>
            <a:r>
              <a:rPr lang="zh-CN" altLang="en-US" sz="1600" dirty="0"/>
              <a:t>越小越先被淘汰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err="1"/>
              <a:t>allkeys</a:t>
            </a:r>
            <a:r>
              <a:rPr lang="en-US" altLang="zh-CN" sz="1600" dirty="0"/>
              <a:t>-random</a:t>
            </a:r>
            <a:r>
              <a:rPr lang="zh-CN" altLang="en-US" sz="1600" dirty="0"/>
              <a:t>：对全体</a:t>
            </a:r>
            <a:r>
              <a:rPr lang="en-US" altLang="zh-CN" sz="1600" dirty="0"/>
              <a:t>key </a:t>
            </a:r>
            <a:r>
              <a:rPr lang="zh-CN" altLang="en-US" sz="1600" dirty="0"/>
              <a:t>，随机进行淘汰。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/>
              <a:t>volatile-random</a:t>
            </a:r>
            <a:r>
              <a:rPr lang="zh-CN" altLang="en-US" sz="1600" dirty="0"/>
              <a:t>：对设置了</a:t>
            </a:r>
            <a:r>
              <a:rPr lang="en-US" altLang="zh-CN" sz="1600" dirty="0"/>
              <a:t>TTL</a:t>
            </a:r>
            <a:r>
              <a:rPr lang="zh-CN" altLang="en-US" sz="1600" dirty="0"/>
              <a:t>的</a:t>
            </a:r>
            <a:r>
              <a:rPr lang="en-US" altLang="zh-CN" sz="1600" dirty="0"/>
              <a:t>key </a:t>
            </a:r>
            <a:r>
              <a:rPr lang="zh-CN" altLang="en-US" sz="1600" dirty="0"/>
              <a:t>，随机进行淘汰。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err="1"/>
              <a:t>allkeys-lru</a:t>
            </a:r>
            <a:r>
              <a:rPr lang="zh-CN" altLang="en-US" sz="1600" dirty="0"/>
              <a:t>： 对全体</a:t>
            </a:r>
            <a:r>
              <a:rPr lang="en-US" altLang="zh-CN" sz="1600" dirty="0"/>
              <a:t>key</a:t>
            </a:r>
            <a:r>
              <a:rPr lang="zh-CN" altLang="en-US" sz="1600" dirty="0"/>
              <a:t>，基于</a:t>
            </a:r>
            <a:r>
              <a:rPr lang="en-US" altLang="zh-CN" sz="1600" dirty="0"/>
              <a:t>LRU</a:t>
            </a:r>
            <a:r>
              <a:rPr lang="zh-CN" altLang="en-US" sz="1600" dirty="0"/>
              <a:t>算法进行淘汰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/>
              <a:t>volatile-</a:t>
            </a:r>
            <a:r>
              <a:rPr lang="en-US" altLang="zh-CN" sz="1600" dirty="0" err="1"/>
              <a:t>lru</a:t>
            </a:r>
            <a:r>
              <a:rPr lang="zh-CN" altLang="en-US" sz="1600" dirty="0"/>
              <a:t>： 对设置了</a:t>
            </a:r>
            <a:r>
              <a:rPr lang="en-US" altLang="zh-CN" sz="1600" dirty="0"/>
              <a:t>TTL</a:t>
            </a:r>
            <a:r>
              <a:rPr lang="zh-CN" altLang="en-US" sz="1600" dirty="0"/>
              <a:t>的</a:t>
            </a:r>
            <a:r>
              <a:rPr lang="en-US" altLang="zh-CN" sz="1600" dirty="0"/>
              <a:t>key</a:t>
            </a:r>
            <a:r>
              <a:rPr lang="zh-CN" altLang="en-US" sz="1600" dirty="0"/>
              <a:t>，基于</a:t>
            </a:r>
            <a:r>
              <a:rPr lang="en-US" altLang="zh-CN" sz="1600" dirty="0"/>
              <a:t>LRU</a:t>
            </a:r>
            <a:r>
              <a:rPr lang="zh-CN" altLang="en-US" sz="1600" dirty="0"/>
              <a:t>算法进行淘汰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 err="1"/>
              <a:t>allkeys-lfu</a:t>
            </a:r>
            <a:r>
              <a:rPr lang="zh-CN" altLang="en-US" sz="1600" dirty="0"/>
              <a:t>： 对全体</a:t>
            </a:r>
            <a:r>
              <a:rPr lang="en-US" altLang="zh-CN" sz="1600" dirty="0"/>
              <a:t>key</a:t>
            </a:r>
            <a:r>
              <a:rPr lang="zh-CN" altLang="en-US" sz="1600" dirty="0"/>
              <a:t>，基于</a:t>
            </a:r>
            <a:r>
              <a:rPr lang="en-US" altLang="zh-CN" sz="1600" dirty="0"/>
              <a:t>LFU</a:t>
            </a:r>
            <a:r>
              <a:rPr lang="zh-CN" altLang="en-US" sz="1600" dirty="0"/>
              <a:t>算法进行淘汰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dirty="0"/>
              <a:t>volatile-</a:t>
            </a:r>
            <a:r>
              <a:rPr lang="en-US" altLang="zh-CN" sz="1600" dirty="0" err="1"/>
              <a:t>lfu</a:t>
            </a:r>
            <a:r>
              <a:rPr lang="zh-CN" altLang="en-US" sz="1600" dirty="0"/>
              <a:t>： 对设置了</a:t>
            </a:r>
            <a:r>
              <a:rPr lang="en-US" altLang="zh-CN" sz="1600" dirty="0"/>
              <a:t>TTL</a:t>
            </a:r>
            <a:r>
              <a:rPr lang="zh-CN" altLang="en-US" sz="1600" dirty="0"/>
              <a:t>的</a:t>
            </a:r>
            <a:r>
              <a:rPr lang="en-US" altLang="zh-CN" sz="1600" dirty="0"/>
              <a:t>key</a:t>
            </a:r>
            <a:r>
              <a:rPr lang="zh-CN" altLang="en-US" sz="1600" dirty="0"/>
              <a:t>，基于</a:t>
            </a:r>
            <a:r>
              <a:rPr lang="en-US" altLang="zh-CN" sz="1600" dirty="0"/>
              <a:t>LFU</a:t>
            </a:r>
            <a:r>
              <a:rPr lang="zh-CN" altLang="en-US" sz="1600" dirty="0"/>
              <a:t>算法进行淘汰</a:t>
            </a:r>
            <a:endParaRPr lang="en-US" altLang="zh-CN" sz="1600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130" y="2578557"/>
            <a:ext cx="2920216" cy="75257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106478" y="4318068"/>
            <a:ext cx="4564322" cy="173037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50784" rIns="91440" bIns="50784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libaba PuHuiTi R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LRU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（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L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east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ecently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U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sed）最近</a:t>
            </a:r>
            <a:r>
              <a:rPr lang="zh-CN" altLang="zh-CN" sz="1200" dirty="0">
                <a:solidFill>
                  <a:srgbClr val="000000"/>
                </a:solidFill>
                <a:latin typeface="Arial" panose="020B0604020202020204" pitchFamily="34" charset="0"/>
                <a:ea typeface="Alibaba PuHuiTi R"/>
              </a:rPr>
              <a:t>最少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使用。用当前时间减去最后一次访问时间，这个值越大则淘汰优先级越高。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Alibaba PuHuiTi R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LFU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（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L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east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F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requently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U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libaba PuHuiTi R"/>
              </a:rPr>
              <a:t>sed）最少频率使用。会统计每个key的访问频率，值越小淘汰优先级越高。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Alibaba PuHuiTi R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libaba PuHuiTi R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29398" y="3831391"/>
            <a:ext cx="5466524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key1是在3s之前访问的, key2是在9s之前访问的，删除的就是key2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09520" y="6147208"/>
            <a:ext cx="5466524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最近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访问了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key2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最近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访问了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9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次， 删除的就是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key1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数据淘汰策略</a:t>
            </a:r>
            <a:r>
              <a:rPr lang="en-US" altLang="zh-CN" dirty="0"/>
              <a:t>-</a:t>
            </a:r>
            <a:r>
              <a:rPr lang="zh-CN" altLang="en-US" dirty="0"/>
              <a:t>使用建议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254029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优先使用 </a:t>
            </a:r>
            <a:r>
              <a:rPr lang="en-US" altLang="zh-CN" dirty="0" err="1"/>
              <a:t>allkeys-lru</a:t>
            </a:r>
            <a:r>
              <a:rPr lang="en-US" altLang="zh-CN" dirty="0"/>
              <a:t> </a:t>
            </a:r>
            <a:r>
              <a:rPr lang="zh-CN" altLang="en-US" dirty="0"/>
              <a:t>策略。充分利用 </a:t>
            </a:r>
            <a:r>
              <a:rPr lang="en-US" altLang="zh-CN" dirty="0"/>
              <a:t>LRU </a:t>
            </a:r>
            <a:r>
              <a:rPr lang="zh-CN" altLang="en-US" dirty="0"/>
              <a:t>算法的优势，把最近最常访问的数据留在缓存中。如果业务有明显的冷热数据区分，建议使用。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如果业务中数据访问频率差别不大，没有明显冷热数据区分，建议使用 </a:t>
            </a:r>
            <a:r>
              <a:rPr lang="en-US" altLang="zh-CN" dirty="0" err="1"/>
              <a:t>allkeys</a:t>
            </a:r>
            <a:r>
              <a:rPr lang="en-US" altLang="zh-CN" dirty="0"/>
              <a:t>-random</a:t>
            </a:r>
            <a:r>
              <a:rPr lang="zh-CN" altLang="en-US" dirty="0"/>
              <a:t>，随机选择淘汰。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如果业务中有置顶的需求，可以使用 </a:t>
            </a:r>
            <a:r>
              <a:rPr lang="en-US" altLang="zh-CN" dirty="0"/>
              <a:t>volatile-</a:t>
            </a:r>
            <a:r>
              <a:rPr lang="en-US" altLang="zh-CN" dirty="0" err="1"/>
              <a:t>lru</a:t>
            </a:r>
            <a:r>
              <a:rPr lang="en-US" altLang="zh-CN" dirty="0"/>
              <a:t> </a:t>
            </a:r>
            <a:r>
              <a:rPr lang="zh-CN" altLang="en-US" dirty="0"/>
              <a:t>策略，同时置顶数据不设置过期时间，这些数据就一直不被删除，会淘汰其他设置过期时间的数据。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如果业务中有短时高频访问的数据，可以使用 </a:t>
            </a:r>
            <a:r>
              <a:rPr lang="en-US" altLang="zh-CN" dirty="0" err="1"/>
              <a:t>allkeys-lfu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/>
              <a:t>volatile-</a:t>
            </a:r>
            <a:r>
              <a:rPr lang="en-US" altLang="zh-CN" dirty="0" err="1"/>
              <a:t>lfu</a:t>
            </a:r>
            <a:r>
              <a:rPr lang="en-US" altLang="zh-CN" dirty="0"/>
              <a:t> </a:t>
            </a:r>
            <a:r>
              <a:rPr lang="zh-CN" altLang="en-US" dirty="0"/>
              <a:t>策略。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关于数据淘汰策略其他的面试问题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48674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数据库有</a:t>
            </a:r>
            <a:r>
              <a:rPr lang="en-US" altLang="zh-CN" dirty="0"/>
              <a:t>1000</a:t>
            </a:r>
            <a:r>
              <a:rPr lang="zh-CN" altLang="en-US" dirty="0"/>
              <a:t>万数据 </a:t>
            </a:r>
            <a:r>
              <a:rPr lang="en-US" altLang="zh-CN" dirty="0"/>
              <a:t>,Redis</a:t>
            </a:r>
            <a:r>
              <a:rPr lang="zh-CN" altLang="en-US" dirty="0"/>
              <a:t>只能缓存</a:t>
            </a:r>
            <a:r>
              <a:rPr lang="en-US" altLang="zh-CN" dirty="0"/>
              <a:t>20w</a:t>
            </a:r>
            <a:r>
              <a:rPr lang="zh-CN" altLang="en-US" dirty="0"/>
              <a:t>数据</a:t>
            </a:r>
            <a:r>
              <a:rPr lang="en-US" altLang="zh-CN" dirty="0"/>
              <a:t>, </a:t>
            </a:r>
            <a:r>
              <a:rPr lang="zh-CN" altLang="en-US" dirty="0"/>
              <a:t>如何保证</a:t>
            </a:r>
            <a:r>
              <a:rPr lang="en-US" altLang="zh-CN" dirty="0"/>
              <a:t>Redis</a:t>
            </a:r>
            <a:r>
              <a:rPr lang="zh-CN" altLang="en-US" dirty="0"/>
              <a:t>中的数据都是热点数据 </a:t>
            </a:r>
            <a:r>
              <a:rPr lang="en-US" altLang="zh-CN" dirty="0"/>
              <a:t>?</a:t>
            </a:r>
            <a:r>
              <a:rPr lang="zh-CN" altLang="en-US" dirty="0"/>
              <a:t> 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Redis</a:t>
            </a:r>
            <a:r>
              <a:rPr lang="zh-CN" altLang="en-US" dirty="0"/>
              <a:t>的内存用完了会发生什么？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占位符 2"/>
          <p:cNvSpPr txBox="1"/>
          <p:nvPr/>
        </p:nvSpPr>
        <p:spPr>
          <a:xfrm>
            <a:off x="1044774" y="2216426"/>
            <a:ext cx="9441009" cy="5267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使用</a:t>
            </a:r>
            <a:r>
              <a:rPr lang="en-US" altLang="zh-CN" dirty="0" err="1"/>
              <a:t>allkeys-lru</a:t>
            </a:r>
            <a:r>
              <a:rPr lang="en-US" altLang="zh-CN" dirty="0"/>
              <a:t>(</a:t>
            </a:r>
            <a:r>
              <a:rPr lang="zh-CN" altLang="en-US" dirty="0"/>
              <a:t>挑选最近最少使用的数据淘汰</a:t>
            </a:r>
            <a:r>
              <a:rPr lang="en-US" altLang="zh-CN" dirty="0"/>
              <a:t>)</a:t>
            </a:r>
            <a:r>
              <a:rPr lang="zh-CN" altLang="en-US" dirty="0"/>
              <a:t>淘汰策略，留下来的都是经常访问的热点数据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占位符 2"/>
          <p:cNvSpPr txBox="1"/>
          <p:nvPr/>
        </p:nvSpPr>
        <p:spPr>
          <a:xfrm>
            <a:off x="1024896" y="3500438"/>
            <a:ext cx="9441009" cy="5267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主要看数据淘汰策略是什么？如果是默认的配置（</a:t>
            </a:r>
            <a:r>
              <a:rPr lang="en-US" altLang="zh-CN" sz="1600" dirty="0"/>
              <a:t> </a:t>
            </a:r>
            <a:r>
              <a:rPr lang="en-US" altLang="zh-CN" sz="1600" dirty="0" err="1"/>
              <a:t>noeviction</a:t>
            </a:r>
            <a:r>
              <a:rPr lang="en-US" altLang="zh-CN" sz="1600" dirty="0"/>
              <a:t> </a:t>
            </a:r>
            <a:r>
              <a:rPr lang="zh-CN" altLang="en-US" dirty="0"/>
              <a:t>），会直接报错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63040"/>
            <a:ext cx="5760538" cy="12900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数据淘汰策略</a:t>
            </a:r>
            <a:endParaRPr lang="zh-CN" altLang="en-US" dirty="0"/>
          </a:p>
        </p:txBody>
      </p:sp>
      <p:sp>
        <p:nvSpPr>
          <p:cNvPr id="4" name="文本占位符 2"/>
          <p:cNvSpPr txBox="1"/>
          <p:nvPr/>
        </p:nvSpPr>
        <p:spPr>
          <a:xfrm>
            <a:off x="5114845" y="2567488"/>
            <a:ext cx="6712721" cy="252134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Redis</a:t>
            </a:r>
            <a:r>
              <a:rPr lang="zh-CN" altLang="en-US" sz="1400" dirty="0"/>
              <a:t>提供了</a:t>
            </a:r>
            <a:r>
              <a:rPr lang="en-US" altLang="zh-CN" sz="1400" dirty="0"/>
              <a:t>8</a:t>
            </a:r>
            <a:r>
              <a:rPr lang="zh-CN" altLang="en-US" sz="1400" dirty="0"/>
              <a:t>种不同的数据淘汰策略，默认是</a:t>
            </a:r>
            <a:r>
              <a:rPr lang="en-US" altLang="zh-CN" sz="1400" dirty="0" err="1"/>
              <a:t>noeviction</a:t>
            </a:r>
            <a:r>
              <a:rPr lang="zh-CN" altLang="en-US" sz="1400" dirty="0"/>
              <a:t>不删除任何数据，内存不足直接报错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LRU</a:t>
            </a:r>
            <a:r>
              <a:rPr lang="zh-CN" altLang="en-US" sz="1400" dirty="0"/>
              <a:t>：</a:t>
            </a:r>
            <a:r>
              <a:rPr lang="zh-CN" altLang="zh-CN" sz="1400" dirty="0">
                <a:solidFill>
                  <a:srgbClr val="000000"/>
                </a:solidFill>
                <a:latin typeface="Arial" panose="020B0604020202020204" pitchFamily="34" charset="0"/>
                <a:ea typeface="Alibaba PuHuiTi R"/>
              </a:rPr>
              <a:t>最少最近使用。用当前时间减去最后一次访问时间，这个值越大则淘汰优先级越高。</a:t>
            </a:r>
            <a:endParaRPr lang="en-US" altLang="zh-CN" sz="14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LFU</a:t>
            </a:r>
            <a:r>
              <a:rPr lang="zh-CN" altLang="en-US" sz="1400" dirty="0"/>
              <a:t>：</a:t>
            </a:r>
            <a:r>
              <a:rPr lang="zh-CN" altLang="zh-CN" sz="1400" dirty="0">
                <a:solidFill>
                  <a:srgbClr val="000000"/>
                </a:solidFill>
                <a:latin typeface="Arial" panose="020B0604020202020204" pitchFamily="34" charset="0"/>
                <a:ea typeface="Alibaba PuHuiTi R"/>
              </a:rPr>
              <a:t>最少频率使用。会统计每个key的访问频率，值越小淘汰优先级越高</a:t>
            </a:r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  <a:ea typeface="Alibaba PuHuiTi R"/>
            </a:endParaRPr>
          </a:p>
          <a:p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  <a:ea typeface="Alibaba PuHuiTi R"/>
            </a:endParaRPr>
          </a:p>
          <a:p>
            <a:r>
              <a:rPr lang="zh-CN" altLang="en-US" sz="1400" dirty="0">
                <a:solidFill>
                  <a:srgbClr val="C00000"/>
                </a:solidFill>
                <a:latin typeface="Arial" panose="020B0604020202020204" pitchFamily="34" charset="0"/>
                <a:ea typeface="Alibaba PuHuiTi R"/>
              </a:rPr>
              <a:t>平时开发过程中用的比较多的就是</a:t>
            </a:r>
            <a:r>
              <a:rPr lang="en-US" altLang="zh-CN" sz="1400" dirty="0" err="1">
                <a:solidFill>
                  <a:srgbClr val="C00000"/>
                </a:solidFill>
              </a:rPr>
              <a:t>allkeys-lru</a:t>
            </a:r>
            <a:r>
              <a:rPr lang="zh-CN" altLang="en-US" sz="1400" dirty="0">
                <a:solidFill>
                  <a:srgbClr val="C00000"/>
                </a:solidFill>
              </a:rPr>
              <a:t>（结合自己的业务场景）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0639" y="1259165"/>
            <a:ext cx="6999543" cy="468133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415952" y="1021955"/>
            <a:ext cx="9792518" cy="859390"/>
            <a:chOff x="1415952" y="1021955"/>
            <a:chExt cx="7907155" cy="859390"/>
          </a:xfrm>
        </p:grpSpPr>
        <p:sp>
          <p:nvSpPr>
            <p:cNvPr id="7" name="任意多边形: 形状 6"/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我看你做的项目中，都用到了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，你在最近的项目中哪些场景使用了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呢？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266299" y="2633811"/>
            <a:ext cx="8631088" cy="2098445"/>
            <a:chOff x="2266299" y="2633811"/>
            <a:chExt cx="8631088" cy="2694775"/>
          </a:xfrm>
        </p:grpSpPr>
        <p:sp>
          <p:nvSpPr>
            <p:cNvPr id="3" name="矩形: 圆角 2"/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/>
            <p:cNvSpPr txBox="1"/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占位符 6"/>
          <p:cNvSpPr txBox="1"/>
          <p:nvPr/>
        </p:nvSpPr>
        <p:spPr>
          <a:xfrm>
            <a:off x="3617476" y="3115485"/>
            <a:ext cx="7063093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缓存三兄弟（穿透、击穿、雪崩）、双写一致、持久化、数据过期策略，数据淘汰策略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6" name="文本占位符 6"/>
          <p:cNvSpPr txBox="1"/>
          <p:nvPr/>
        </p:nvSpPr>
        <p:spPr>
          <a:xfrm>
            <a:off x="3624846" y="3465513"/>
            <a:ext cx="6497486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>
                <a:solidFill>
                  <a:srgbClr val="C00000"/>
                </a:solidFill>
              </a:rPr>
              <a:t>、</a:t>
            </a:r>
            <a:r>
              <a:rPr lang="en-US" altLang="zh-CN" sz="1400" dirty="0" err="1">
                <a:solidFill>
                  <a:srgbClr val="C00000"/>
                </a:solidFill>
              </a:rPr>
              <a:t>redisson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7" name="文本占位符 6"/>
          <p:cNvSpPr txBox="1"/>
          <p:nvPr/>
        </p:nvSpPr>
        <p:spPr>
          <a:xfrm>
            <a:off x="4428181" y="3832748"/>
            <a:ext cx="2717337" cy="3983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何种数据类型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8" name="箭头: 下 17"/>
          <p:cNvSpPr/>
          <p:nvPr/>
        </p:nvSpPr>
        <p:spPr bwMode="auto">
          <a:xfrm>
            <a:off x="4955103" y="1855400"/>
            <a:ext cx="2686639" cy="679654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结合项目</a:t>
            </a:r>
            <a:endParaRPr lang="zh-CN" altLang="en-US" sz="14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0" name="图形 19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382" y="5000769"/>
            <a:ext cx="867323" cy="116706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1531637" y="4858599"/>
            <a:ext cx="6220886" cy="717988"/>
            <a:chOff x="1415952" y="1021955"/>
            <a:chExt cx="7907155" cy="717988"/>
          </a:xfrm>
        </p:grpSpPr>
        <p:sp>
          <p:nvSpPr>
            <p:cNvPr id="23" name="任意多边形: 形状 22"/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-1" fmla="*/ 803381 w 5319528"/>
                <a:gd name="connsiteY0-2" fmla="*/ 0 h 787065"/>
                <a:gd name="connsiteX1-3" fmla="*/ 5216541 w 5319528"/>
                <a:gd name="connsiteY1-4" fmla="*/ 0 h 787065"/>
                <a:gd name="connsiteX2-5" fmla="*/ 5319528 w 5319528"/>
                <a:gd name="connsiteY2-6" fmla="*/ 102987 h 787065"/>
                <a:gd name="connsiteX3-7" fmla="*/ 5319528 w 5319528"/>
                <a:gd name="connsiteY3-8" fmla="*/ 514924 h 787065"/>
                <a:gd name="connsiteX4-9" fmla="*/ 5216541 w 5319528"/>
                <a:gd name="connsiteY4-10" fmla="*/ 617911 h 787065"/>
                <a:gd name="connsiteX5-11" fmla="*/ 875800 w 5319528"/>
                <a:gd name="connsiteY5-12" fmla="*/ 617911 h 787065"/>
                <a:gd name="connsiteX6-13" fmla="*/ 0 w 5319528"/>
                <a:gd name="connsiteY6-14" fmla="*/ 787065 h 787065"/>
                <a:gd name="connsiteX7-15" fmla="*/ 700394 w 5319528"/>
                <a:gd name="connsiteY7-16" fmla="*/ 498849 h 787065"/>
                <a:gd name="connsiteX8-17" fmla="*/ 700394 w 5319528"/>
                <a:gd name="connsiteY8-18" fmla="*/ 102987 h 787065"/>
                <a:gd name="connsiteX9-19" fmla="*/ 803381 w 5319528"/>
                <a:gd name="connsiteY9-20" fmla="*/ 0 h 78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分布式锁，是如何实现的？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329247" y="5531554"/>
            <a:ext cx="8631088" cy="928882"/>
            <a:chOff x="2206665" y="3286242"/>
            <a:chExt cx="8631088" cy="2694775"/>
          </a:xfrm>
        </p:grpSpPr>
        <p:sp>
          <p:nvSpPr>
            <p:cNvPr id="4" name="矩形: 圆角 3"/>
            <p:cNvSpPr/>
            <p:nvPr/>
          </p:nvSpPr>
          <p:spPr bwMode="auto">
            <a:xfrm>
              <a:off x="2206665" y="3286242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文本占位符 6"/>
            <p:cNvSpPr txBox="1"/>
            <p:nvPr/>
          </p:nvSpPr>
          <p:spPr>
            <a:xfrm>
              <a:off x="2309849" y="3485109"/>
              <a:ext cx="8301148" cy="229406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需要结合项目中的业务进行回答，通常情况下，分布式锁使用的场景：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r>
                <a:rPr lang="zh-CN" altLang="en-US" sz="1400" dirty="0">
                  <a:solidFill>
                    <a:schemeClr val="tx1"/>
                  </a:solidFill>
                </a:rPr>
                <a:t>集群情况下的定时任务、抢单、幂等性场景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抢券场景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907029" y="4168371"/>
            <a:ext cx="384917" cy="490180"/>
          </a:xfrm>
        </p:spPr>
        <p:txBody>
          <a:bodyPr/>
          <a:lstStyle/>
          <a:p>
            <a:r>
              <a:rPr lang="zh-CN" altLang="en-US" sz="1200" dirty="0"/>
              <a:t>是</a:t>
            </a:r>
            <a:endParaRPr lang="zh-CN" altLang="en-US" sz="12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47369" y="1693202"/>
            <a:ext cx="5348631" cy="4856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/**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*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抢购优惠券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 @throws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InterruptedException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*/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rushToPurchase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throws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InterruptedException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获取优惠券数量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num = 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redisTemplate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.opsForValue().get(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“num”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判断是否抢完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null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== num || num &lt;=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throw new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RuntimeException(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“</a:t>
            </a:r>
            <a:r>
              <a:rPr lang="zh-CN" altLang="en-US" sz="1300" dirty="0">
                <a:solidFill>
                  <a:srgbClr val="067D1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优惠券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已抢完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优惠券数量减一，说明抢到了优惠券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num = num -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重新设置优惠券的数量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redisTemplate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.opsForValue().set(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"num"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num);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7623212" y="1532905"/>
            <a:ext cx="560598" cy="319138"/>
          </a:xfrm>
          <a:prstGeom prst="ellipse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开始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7290484" y="2391983"/>
            <a:ext cx="122735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查询优惠券数量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7241849" y="4680719"/>
            <a:ext cx="132486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扣减库存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菱形 25"/>
          <p:cNvSpPr/>
          <p:nvPr/>
        </p:nvSpPr>
        <p:spPr>
          <a:xfrm>
            <a:off x="7108190" y="3545669"/>
            <a:ext cx="1580604" cy="652964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ea typeface="阿里巴巴普惠体" panose="00020600040101010101" pitchFamily="18" charset="-122"/>
              </a:rPr>
              <a:t>判断库存</a:t>
            </a:r>
            <a:endParaRPr lang="en-US" altLang="zh-CN" sz="12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是否充足</a:t>
            </a:r>
            <a:endParaRPr lang="zh-CN" altLang="en-US" sz="12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46" name="直接箭头连接符 45"/>
          <p:cNvCxnSpPr>
            <a:stCxn id="16" idx="2"/>
            <a:endCxn id="26" idx="0"/>
          </p:cNvCxnSpPr>
          <p:nvPr/>
        </p:nvCxnSpPr>
        <p:spPr>
          <a:xfrm flipH="1">
            <a:off x="7898492" y="2937192"/>
            <a:ext cx="5668" cy="6084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26" idx="2"/>
            <a:endCxn id="23" idx="0"/>
          </p:cNvCxnSpPr>
          <p:nvPr/>
        </p:nvCxnSpPr>
        <p:spPr>
          <a:xfrm>
            <a:off x="7898492" y="4198633"/>
            <a:ext cx="5788" cy="4820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/>
          <p:cNvGrpSpPr/>
          <p:nvPr/>
        </p:nvGrpSpPr>
        <p:grpSpPr>
          <a:xfrm>
            <a:off x="7619479" y="5225928"/>
            <a:ext cx="560598" cy="969209"/>
            <a:chOff x="7619479" y="5225928"/>
            <a:chExt cx="560598" cy="969209"/>
          </a:xfrm>
        </p:grpSpPr>
        <p:sp>
          <p:nvSpPr>
            <p:cNvPr id="14" name="椭圆 13"/>
            <p:cNvSpPr/>
            <p:nvPr/>
          </p:nvSpPr>
          <p:spPr>
            <a:xfrm>
              <a:off x="7619479" y="5858135"/>
              <a:ext cx="560598" cy="337002"/>
            </a:xfrm>
            <a:prstGeom prst="ellipse">
              <a:avLst/>
            </a:prstGeom>
            <a:ln w="12700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结束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50" name="直接箭头连接符 49"/>
            <p:cNvCxnSpPr>
              <a:stCxn id="23" idx="2"/>
              <a:endCxn id="14" idx="0"/>
            </p:cNvCxnSpPr>
            <p:nvPr/>
          </p:nvCxnSpPr>
          <p:spPr>
            <a:xfrm flipH="1">
              <a:off x="7899778" y="5225928"/>
              <a:ext cx="4502" cy="63220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连接符: 肘形 54"/>
          <p:cNvCxnSpPr>
            <a:stCxn id="13" idx="2"/>
            <a:endCxn id="14" idx="6"/>
          </p:cNvCxnSpPr>
          <p:nvPr/>
        </p:nvCxnSpPr>
        <p:spPr>
          <a:xfrm rot="5400000">
            <a:off x="8128202" y="4194945"/>
            <a:ext cx="1883566" cy="1779816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/>
        </p:nvGrpSpPr>
        <p:grpSpPr>
          <a:xfrm>
            <a:off x="8688794" y="3491214"/>
            <a:ext cx="1787049" cy="651856"/>
            <a:chOff x="8688794" y="3491214"/>
            <a:chExt cx="1787049" cy="651856"/>
          </a:xfrm>
        </p:grpSpPr>
        <p:sp>
          <p:nvSpPr>
            <p:cNvPr id="13" name="矩形: 圆角 12"/>
            <p:cNvSpPr/>
            <p:nvPr/>
          </p:nvSpPr>
          <p:spPr>
            <a:xfrm>
              <a:off x="9443943" y="3597861"/>
              <a:ext cx="1031900" cy="545209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返回异常结果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52" name="直接箭头连接符 51"/>
            <p:cNvCxnSpPr>
              <a:stCxn id="26" idx="3"/>
              <a:endCxn id="13" idx="1"/>
            </p:cNvCxnSpPr>
            <p:nvPr/>
          </p:nvCxnSpPr>
          <p:spPr>
            <a:xfrm flipV="1">
              <a:off x="8688794" y="3870466"/>
              <a:ext cx="755149" cy="168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占位符 2"/>
            <p:cNvSpPr txBox="1"/>
            <p:nvPr/>
          </p:nvSpPr>
          <p:spPr>
            <a:xfrm>
              <a:off x="8879258" y="3491214"/>
              <a:ext cx="503734" cy="552466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 dirty="0"/>
                <a:t>否</a:t>
              </a:r>
              <a:endParaRPr lang="zh-CN" altLang="en-US" sz="1200" dirty="0"/>
            </a:p>
          </p:txBody>
        </p:sp>
      </p:grpSp>
      <p:cxnSp>
        <p:nvCxnSpPr>
          <p:cNvPr id="60" name="直接箭头连接符 59"/>
          <p:cNvCxnSpPr>
            <a:stCxn id="6" idx="4"/>
            <a:endCxn id="16" idx="0"/>
          </p:cNvCxnSpPr>
          <p:nvPr/>
        </p:nvCxnSpPr>
        <p:spPr>
          <a:xfrm>
            <a:off x="7903511" y="1852043"/>
            <a:ext cx="649" cy="5399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 animBg="1"/>
      <p:bldP spid="16" grpId="0" animBg="1"/>
      <p:bldP spid="23" grpId="0" animBg="1"/>
      <p:bldP spid="2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抢券执行流程</a:t>
            </a:r>
            <a:endParaRPr lang="zh-CN" altLang="en-US" dirty="0"/>
          </a:p>
        </p:txBody>
      </p:sp>
      <p:sp>
        <p:nvSpPr>
          <p:cNvPr id="7" name="矩形: 圆角 6"/>
          <p:cNvSpPr/>
          <p:nvPr/>
        </p:nvSpPr>
        <p:spPr>
          <a:xfrm>
            <a:off x="1001284" y="161065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241598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9" name="直线连接符 8"/>
          <p:cNvCxnSpPr>
            <a:stCxn id="8" idx="2"/>
          </p:cNvCxnSpPr>
          <p:nvPr/>
        </p:nvCxnSpPr>
        <p:spPr>
          <a:xfrm>
            <a:off x="1559230" y="253756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496058" y="2588901"/>
            <a:ext cx="114027" cy="1270489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50057" y="275639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2" name="肘形连接符 25"/>
          <p:cNvCxnSpPr/>
          <p:nvPr/>
        </p:nvCxnSpPr>
        <p:spPr>
          <a:xfrm rot="16200000" flipH="1">
            <a:off x="1530757" y="2774754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870880" y="268011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48519" y="324311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/>
          <p:cNvCxnSpPr/>
          <p:nvPr/>
        </p:nvCxnSpPr>
        <p:spPr>
          <a:xfrm rot="16200000" flipH="1">
            <a:off x="1494833" y="3308814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880130" y="328769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26897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3" name="直线连接符 8"/>
          <p:cNvCxnSpPr>
            <a:stCxn id="22" idx="2"/>
          </p:cNvCxnSpPr>
          <p:nvPr/>
        </p:nvCxnSpPr>
        <p:spPr>
          <a:xfrm>
            <a:off x="3244529" y="253756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993964" y="4019238"/>
            <a:ext cx="386078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3192778" y="4173861"/>
            <a:ext cx="114027" cy="1270489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246777" y="434135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6" name="肘形连接符 25"/>
          <p:cNvCxnSpPr/>
          <p:nvPr/>
        </p:nvCxnSpPr>
        <p:spPr>
          <a:xfrm rot="16200000" flipH="1">
            <a:off x="3222397" y="4353618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3567600" y="42650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245239" y="482807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9" name="肘形连接符 25"/>
          <p:cNvCxnSpPr/>
          <p:nvPr/>
        </p:nvCxnSpPr>
        <p:spPr>
          <a:xfrm rot="16200000" flipH="1">
            <a:off x="3179361" y="4893774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3576850" y="487265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1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907029" y="4168371"/>
            <a:ext cx="384917" cy="490180"/>
          </a:xfrm>
        </p:spPr>
        <p:txBody>
          <a:bodyPr/>
          <a:lstStyle/>
          <a:p>
            <a:r>
              <a:rPr lang="zh-CN" altLang="en-US" sz="1200" dirty="0"/>
              <a:t>是</a:t>
            </a:r>
            <a:endParaRPr lang="zh-CN" altLang="en-US" sz="1200" dirty="0"/>
          </a:p>
        </p:txBody>
      </p:sp>
      <p:sp>
        <p:nvSpPr>
          <p:cNvPr id="62" name="椭圆 61"/>
          <p:cNvSpPr/>
          <p:nvPr/>
        </p:nvSpPr>
        <p:spPr>
          <a:xfrm>
            <a:off x="7623212" y="1532905"/>
            <a:ext cx="560598" cy="319138"/>
          </a:xfrm>
          <a:prstGeom prst="ellipse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开始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9443943" y="3597861"/>
            <a:ext cx="1031900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返回异常结果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7619479" y="5858135"/>
            <a:ext cx="560598" cy="337002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5" name="矩形: 圆角 64"/>
          <p:cNvSpPr/>
          <p:nvPr/>
        </p:nvSpPr>
        <p:spPr>
          <a:xfrm>
            <a:off x="7290484" y="2391983"/>
            <a:ext cx="122735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查询优惠券数量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66" name="矩形: 圆角 65"/>
          <p:cNvSpPr/>
          <p:nvPr/>
        </p:nvSpPr>
        <p:spPr>
          <a:xfrm>
            <a:off x="7241849" y="4680719"/>
            <a:ext cx="132486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扣减库存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7" name="菱形 66"/>
          <p:cNvSpPr/>
          <p:nvPr/>
        </p:nvSpPr>
        <p:spPr>
          <a:xfrm>
            <a:off x="7108190" y="3545669"/>
            <a:ext cx="1580604" cy="652964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ea typeface="阿里巴巴普惠体" panose="00020600040101010101" pitchFamily="18" charset="-122"/>
              </a:rPr>
              <a:t>判断库存</a:t>
            </a:r>
            <a:endParaRPr lang="en-US" altLang="zh-CN" sz="12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是否充足</a:t>
            </a:r>
            <a:endParaRPr lang="zh-CN" altLang="en-US" sz="12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68" name="直接箭头连接符 67"/>
          <p:cNvCxnSpPr>
            <a:stCxn id="65" idx="2"/>
            <a:endCxn id="67" idx="0"/>
          </p:cNvCxnSpPr>
          <p:nvPr/>
        </p:nvCxnSpPr>
        <p:spPr>
          <a:xfrm flipH="1">
            <a:off x="7898492" y="2937192"/>
            <a:ext cx="5668" cy="6084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67" idx="2"/>
            <a:endCxn id="66" idx="0"/>
          </p:cNvCxnSpPr>
          <p:nvPr/>
        </p:nvCxnSpPr>
        <p:spPr>
          <a:xfrm>
            <a:off x="7898492" y="4198633"/>
            <a:ext cx="5788" cy="4820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66" idx="2"/>
            <a:endCxn id="64" idx="0"/>
          </p:cNvCxnSpPr>
          <p:nvPr/>
        </p:nvCxnSpPr>
        <p:spPr>
          <a:xfrm flipH="1">
            <a:off x="7899778" y="5225928"/>
            <a:ext cx="4502" cy="6322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67" idx="3"/>
            <a:endCxn id="63" idx="1"/>
          </p:cNvCxnSpPr>
          <p:nvPr/>
        </p:nvCxnSpPr>
        <p:spPr>
          <a:xfrm flipV="1">
            <a:off x="8688794" y="3870466"/>
            <a:ext cx="755149" cy="16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/>
          <p:cNvCxnSpPr>
            <a:stCxn id="63" idx="2"/>
            <a:endCxn id="64" idx="6"/>
          </p:cNvCxnSpPr>
          <p:nvPr/>
        </p:nvCxnSpPr>
        <p:spPr>
          <a:xfrm rot="5400000">
            <a:off x="8128202" y="4194945"/>
            <a:ext cx="1883566" cy="1779816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占位符 2"/>
          <p:cNvSpPr txBox="1"/>
          <p:nvPr/>
        </p:nvSpPr>
        <p:spPr>
          <a:xfrm>
            <a:off x="8879258" y="3491214"/>
            <a:ext cx="503734" cy="55246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否</a:t>
            </a:r>
            <a:endParaRPr lang="zh-CN" altLang="en-US" sz="1200" dirty="0"/>
          </a:p>
        </p:txBody>
      </p:sp>
      <p:cxnSp>
        <p:nvCxnSpPr>
          <p:cNvPr id="74" name="直接箭头连接符 73"/>
          <p:cNvCxnSpPr>
            <a:stCxn id="62" idx="4"/>
            <a:endCxn id="65" idx="0"/>
          </p:cNvCxnSpPr>
          <p:nvPr/>
        </p:nvCxnSpPr>
        <p:spPr>
          <a:xfrm>
            <a:off x="7903511" y="1852043"/>
            <a:ext cx="649" cy="5399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6" grpId="0" animBg="1"/>
      <p:bldP spid="18" grpId="0"/>
      <p:bldP spid="54" grpId="0" animBg="1"/>
      <p:bldP spid="55" grpId="0" animBg="1"/>
      <p:bldP spid="57" grpId="0"/>
      <p:bldP spid="58" grpId="0" animBg="1"/>
      <p:bldP spid="6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抢券执行流程</a:t>
            </a:r>
            <a:endParaRPr lang="zh-CN" altLang="en-US" dirty="0"/>
          </a:p>
        </p:txBody>
      </p:sp>
      <p:sp>
        <p:nvSpPr>
          <p:cNvPr id="7" name="矩形: 圆角 6"/>
          <p:cNvSpPr/>
          <p:nvPr/>
        </p:nvSpPr>
        <p:spPr>
          <a:xfrm>
            <a:off x="1001284" y="161065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241598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9" name="直线连接符 8"/>
          <p:cNvCxnSpPr>
            <a:stCxn id="8" idx="2"/>
          </p:cNvCxnSpPr>
          <p:nvPr/>
        </p:nvCxnSpPr>
        <p:spPr>
          <a:xfrm>
            <a:off x="1559230" y="253756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496058" y="2583802"/>
            <a:ext cx="114027" cy="2723406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50057" y="275639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2" name="肘形连接符 25"/>
          <p:cNvCxnSpPr/>
          <p:nvPr/>
        </p:nvCxnSpPr>
        <p:spPr>
          <a:xfrm rot="16200000" flipH="1">
            <a:off x="1525677" y="2774754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870880" y="268011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48519" y="410671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/>
          <p:cNvCxnSpPr/>
          <p:nvPr/>
        </p:nvCxnSpPr>
        <p:spPr>
          <a:xfrm rot="16200000" flipH="1">
            <a:off x="1494833" y="4178510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880130" y="415129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26897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3" name="直线连接符 8"/>
          <p:cNvCxnSpPr>
            <a:stCxn id="22" idx="2"/>
          </p:cNvCxnSpPr>
          <p:nvPr/>
        </p:nvCxnSpPr>
        <p:spPr>
          <a:xfrm>
            <a:off x="3244529" y="253756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3192778" y="2634602"/>
            <a:ext cx="114027" cy="2723406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246777" y="335583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6" name="肘形连接符 25"/>
          <p:cNvCxnSpPr/>
          <p:nvPr/>
        </p:nvCxnSpPr>
        <p:spPr>
          <a:xfrm rot="16200000" flipH="1">
            <a:off x="3230017" y="3374194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3567600" y="327955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245239" y="482807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9" name="肘形连接符 25"/>
          <p:cNvCxnSpPr/>
          <p:nvPr/>
        </p:nvCxnSpPr>
        <p:spPr>
          <a:xfrm rot="16200000" flipH="1">
            <a:off x="3191553" y="4899870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3576850" y="487265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1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907029" y="4168371"/>
            <a:ext cx="384917" cy="490180"/>
          </a:xfrm>
        </p:spPr>
        <p:txBody>
          <a:bodyPr/>
          <a:lstStyle/>
          <a:p>
            <a:r>
              <a:rPr lang="zh-CN" altLang="en-US" sz="1200" dirty="0"/>
              <a:t>是</a:t>
            </a:r>
            <a:endParaRPr lang="zh-CN" altLang="en-US" sz="1200" dirty="0"/>
          </a:p>
        </p:txBody>
      </p:sp>
      <p:sp>
        <p:nvSpPr>
          <p:cNvPr id="62" name="椭圆 61"/>
          <p:cNvSpPr/>
          <p:nvPr/>
        </p:nvSpPr>
        <p:spPr>
          <a:xfrm>
            <a:off x="7623212" y="1532905"/>
            <a:ext cx="560598" cy="319138"/>
          </a:xfrm>
          <a:prstGeom prst="ellipse">
            <a:avLst/>
          </a:prstGeom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开始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9443943" y="3597861"/>
            <a:ext cx="1031900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返回异常结果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7619479" y="5858135"/>
            <a:ext cx="560598" cy="337002"/>
          </a:xfrm>
          <a:prstGeom prst="ellipse">
            <a:avLst/>
          </a:prstGeom>
          <a:ln w="12700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5" name="矩形: 圆角 64"/>
          <p:cNvSpPr/>
          <p:nvPr/>
        </p:nvSpPr>
        <p:spPr>
          <a:xfrm>
            <a:off x="7290484" y="2391983"/>
            <a:ext cx="122735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查询优惠券数量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66" name="矩形: 圆角 65"/>
          <p:cNvSpPr/>
          <p:nvPr/>
        </p:nvSpPr>
        <p:spPr>
          <a:xfrm>
            <a:off x="7241849" y="4680719"/>
            <a:ext cx="1324862" cy="545209"/>
          </a:xfrm>
          <a:prstGeom prst="roundRect">
            <a:avLst/>
          </a:prstGeom>
          <a:solidFill>
            <a:schemeClr val="bg1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扣减库存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7" name="菱形 66"/>
          <p:cNvSpPr/>
          <p:nvPr/>
        </p:nvSpPr>
        <p:spPr>
          <a:xfrm>
            <a:off x="7108190" y="3545669"/>
            <a:ext cx="1580604" cy="652964"/>
          </a:xfrm>
          <a:prstGeom prst="diamond">
            <a:avLst/>
          </a:prstGeom>
          <a:solidFill>
            <a:srgbClr val="AD2A26"/>
          </a:solidFill>
          <a:ln w="9525">
            <a:solidFill>
              <a:srgbClr val="AD2A2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ea typeface="阿里巴巴普惠体" panose="00020600040101010101" pitchFamily="18" charset="-122"/>
              </a:rPr>
              <a:t>判断库存</a:t>
            </a:r>
            <a:endParaRPr lang="en-US" altLang="zh-CN" sz="12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是否充足</a:t>
            </a:r>
            <a:endParaRPr lang="zh-CN" altLang="en-US" sz="12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68" name="直接箭头连接符 67"/>
          <p:cNvCxnSpPr>
            <a:stCxn id="65" idx="2"/>
            <a:endCxn id="67" idx="0"/>
          </p:cNvCxnSpPr>
          <p:nvPr/>
        </p:nvCxnSpPr>
        <p:spPr>
          <a:xfrm flipH="1">
            <a:off x="7898492" y="2937192"/>
            <a:ext cx="5668" cy="6084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67" idx="2"/>
            <a:endCxn id="66" idx="0"/>
          </p:cNvCxnSpPr>
          <p:nvPr/>
        </p:nvCxnSpPr>
        <p:spPr>
          <a:xfrm>
            <a:off x="7898492" y="4198633"/>
            <a:ext cx="5788" cy="4820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66" idx="2"/>
            <a:endCxn id="64" idx="0"/>
          </p:cNvCxnSpPr>
          <p:nvPr/>
        </p:nvCxnSpPr>
        <p:spPr>
          <a:xfrm flipH="1">
            <a:off x="7899778" y="5225928"/>
            <a:ext cx="4502" cy="6322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67" idx="3"/>
            <a:endCxn id="63" idx="1"/>
          </p:cNvCxnSpPr>
          <p:nvPr/>
        </p:nvCxnSpPr>
        <p:spPr>
          <a:xfrm flipV="1">
            <a:off x="8688794" y="3870466"/>
            <a:ext cx="755149" cy="16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/>
          <p:cNvCxnSpPr>
            <a:stCxn id="63" idx="2"/>
            <a:endCxn id="64" idx="6"/>
          </p:cNvCxnSpPr>
          <p:nvPr/>
        </p:nvCxnSpPr>
        <p:spPr>
          <a:xfrm rot="5400000">
            <a:off x="8128202" y="4194945"/>
            <a:ext cx="1883566" cy="1779816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占位符 2"/>
          <p:cNvSpPr txBox="1"/>
          <p:nvPr/>
        </p:nvSpPr>
        <p:spPr>
          <a:xfrm>
            <a:off x="8879258" y="3491214"/>
            <a:ext cx="503734" cy="55246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否</a:t>
            </a:r>
            <a:endParaRPr lang="zh-CN" altLang="en-US" sz="1200" dirty="0"/>
          </a:p>
        </p:txBody>
      </p:sp>
      <p:cxnSp>
        <p:nvCxnSpPr>
          <p:cNvPr id="74" name="直接箭头连接符 73"/>
          <p:cNvCxnSpPr>
            <a:stCxn id="62" idx="4"/>
            <a:endCxn id="65" idx="0"/>
          </p:cNvCxnSpPr>
          <p:nvPr/>
        </p:nvCxnSpPr>
        <p:spPr>
          <a:xfrm>
            <a:off x="7903511" y="1852043"/>
            <a:ext cx="649" cy="5399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组合 74"/>
          <p:cNvGrpSpPr/>
          <p:nvPr/>
        </p:nvGrpSpPr>
        <p:grpSpPr>
          <a:xfrm>
            <a:off x="5661284" y="1316951"/>
            <a:ext cx="1322570" cy="277001"/>
            <a:chOff x="5307862" y="1460528"/>
            <a:chExt cx="1322570" cy="277001"/>
          </a:xfrm>
        </p:grpSpPr>
        <p:sp>
          <p:nvSpPr>
            <p:cNvPr id="76" name="矩形 75"/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ea typeface="阿里巴巴普惠体" panose="00020600040101010101" pitchFamily="18" charset="-122"/>
                </a:rPr>
                <a:t>库存</a:t>
              </a:r>
              <a:endPara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endParaRPr>
            </a:p>
          </p:txBody>
        </p:sp>
      </p:grpSp>
      <p:sp>
        <p:nvSpPr>
          <p:cNvPr id="78" name="文本框 77"/>
          <p:cNvSpPr txBox="1"/>
          <p:nvPr/>
        </p:nvSpPr>
        <p:spPr>
          <a:xfrm>
            <a:off x="6518119" y="129633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18119" y="129633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518119" y="129633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" name="矩形: 圆角 19"/>
          <p:cNvSpPr/>
          <p:nvPr/>
        </p:nvSpPr>
        <p:spPr bwMode="auto">
          <a:xfrm>
            <a:off x="1920240" y="4373880"/>
            <a:ext cx="922020" cy="19050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4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 bwMode="auto">
          <a:xfrm>
            <a:off x="3634740" y="5090160"/>
            <a:ext cx="922020" cy="19050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49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518119" y="129633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0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518119" y="129633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-1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2.59259E-6 L -0.36979 0.2391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490" y="1194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2.59259E-6 L -0.22226 0.32338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20" y="1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8" grpId="1"/>
      <p:bldP spid="15" grpId="0"/>
      <p:bldP spid="15" grpId="1"/>
      <p:bldP spid="19" grpId="0"/>
      <p:bldP spid="19" grpId="1"/>
      <p:bldP spid="20" grpId="0" animBg="1"/>
      <p:bldP spid="21" grpId="0" animBg="1"/>
      <p:bldP spid="24" grpId="0"/>
      <p:bldP spid="24" grpId="1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抢券执行流程</a:t>
            </a:r>
            <a:endParaRPr lang="zh-CN" altLang="en-US" dirty="0"/>
          </a:p>
        </p:txBody>
      </p:sp>
      <p:sp>
        <p:nvSpPr>
          <p:cNvPr id="7" name="矩形: 圆角 6"/>
          <p:cNvSpPr/>
          <p:nvPr/>
        </p:nvSpPr>
        <p:spPr>
          <a:xfrm>
            <a:off x="1001284" y="161065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241598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9" name="直线连接符 8"/>
          <p:cNvCxnSpPr>
            <a:stCxn id="8" idx="2"/>
          </p:cNvCxnSpPr>
          <p:nvPr/>
        </p:nvCxnSpPr>
        <p:spPr>
          <a:xfrm>
            <a:off x="1559230" y="253756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496058" y="2583802"/>
            <a:ext cx="114027" cy="2723406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50057" y="275639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2" name="肘形连接符 25"/>
          <p:cNvCxnSpPr/>
          <p:nvPr/>
        </p:nvCxnSpPr>
        <p:spPr>
          <a:xfrm rot="16200000" flipH="1">
            <a:off x="1530757" y="277498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870881" y="268011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获取互斥锁成功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48519" y="373079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/>
          <p:cNvCxnSpPr/>
          <p:nvPr/>
        </p:nvCxnSpPr>
        <p:spPr>
          <a:xfrm rot="16200000" flipH="1">
            <a:off x="1495399" y="380095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880130" y="377537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26897" y="215641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3" name="直线连接符 8"/>
          <p:cNvCxnSpPr>
            <a:stCxn id="22" idx="2"/>
          </p:cNvCxnSpPr>
          <p:nvPr/>
        </p:nvCxnSpPr>
        <p:spPr>
          <a:xfrm>
            <a:off x="3244529" y="253756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3192778" y="4926919"/>
            <a:ext cx="114027" cy="1537292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661284" y="1296334"/>
            <a:ext cx="1322570" cy="307777"/>
            <a:chOff x="5661284" y="1296334"/>
            <a:chExt cx="1322570" cy="307777"/>
          </a:xfrm>
        </p:grpSpPr>
        <p:grpSp>
          <p:nvGrpSpPr>
            <p:cNvPr id="75" name="组合 74"/>
            <p:cNvGrpSpPr/>
            <p:nvPr/>
          </p:nvGrpSpPr>
          <p:grpSpPr>
            <a:xfrm>
              <a:off x="5661284" y="1316951"/>
              <a:ext cx="1322570" cy="277001"/>
              <a:chOff x="5307862" y="1460528"/>
              <a:chExt cx="1322570" cy="277001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5907770" y="1460528"/>
                <a:ext cx="722662" cy="27700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5307862" y="1460529"/>
                <a:ext cx="722662" cy="276999"/>
              </a:xfrm>
              <a:prstGeom prst="rect">
                <a:avLst/>
              </a:prstGeom>
              <a:solidFill>
                <a:srgbClr val="AD2A26"/>
              </a:solidFill>
              <a:ln>
                <a:solidFill>
                  <a:srgbClr val="AD2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ea typeface="阿里巴巴普惠体" panose="00020600040101010101" pitchFamily="18" charset="-122"/>
                  </a:rPr>
                  <a:t>库存</a:t>
                </a:r>
                <a:endParaRPr lang="zh-CN" altLang="en-US" sz="1400" dirty="0">
                  <a:solidFill>
                    <a:schemeClr val="bg1"/>
                  </a:solidFill>
                  <a:ea typeface="阿里巴巴普惠体" panose="00020600040101010101" pitchFamily="18" charset="-122"/>
                </a:endParaRPr>
              </a:p>
            </p:txBody>
          </p:sp>
        </p:grpSp>
        <p:sp>
          <p:nvSpPr>
            <p:cNvPr id="78" name="文本框 77"/>
            <p:cNvSpPr txBox="1"/>
            <p:nvPr/>
          </p:nvSpPr>
          <p:spPr>
            <a:xfrm>
              <a:off x="6518119" y="1296334"/>
              <a:ext cx="4102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1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096000" y="1993659"/>
            <a:ext cx="5580668" cy="42564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rushToPurchase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throws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InterruptedException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synchronized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this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查询优惠券数量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num = 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redisTemplate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.opsForValue().get(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"num"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判断是否抢完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null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== num || num &lt;=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throw new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RuntimeException(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商品已抢完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}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优惠券数量减一（减库存）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num = num -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重新设置优惠券的数量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redisTemplate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.opsForValue().set(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"num"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num);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}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542200" y="327762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8" name="肘形连接符 25"/>
          <p:cNvCxnSpPr/>
          <p:nvPr/>
        </p:nvCxnSpPr>
        <p:spPr>
          <a:xfrm rot="16200000" flipH="1">
            <a:off x="1530011" y="330881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863023" y="325295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240159" y="584407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4" name="肘形连接符 25"/>
          <p:cNvCxnSpPr/>
          <p:nvPr/>
        </p:nvCxnSpPr>
        <p:spPr>
          <a:xfrm rot="16200000" flipH="1">
            <a:off x="3193135" y="5920333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3571770" y="588865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56700" y="532740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7" name="肘形连接符 25"/>
          <p:cNvCxnSpPr/>
          <p:nvPr/>
        </p:nvCxnSpPr>
        <p:spPr>
          <a:xfrm rot="16200000" flipH="1">
            <a:off x="3226223" y="535859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3577523" y="530273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185158" y="2635117"/>
            <a:ext cx="114027" cy="954537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241697" y="293165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41" name="肘形连接符 25"/>
          <p:cNvCxnSpPr/>
          <p:nvPr/>
        </p:nvCxnSpPr>
        <p:spPr>
          <a:xfrm rot="16200000" flipH="1">
            <a:off x="3216301" y="295024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3562521" y="285537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获取互斥锁失败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3" name="箭头: 右弧形 42"/>
          <p:cNvSpPr/>
          <p:nvPr/>
        </p:nvSpPr>
        <p:spPr bwMode="auto">
          <a:xfrm>
            <a:off x="3276600" y="369570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箭头: 右弧形 43"/>
          <p:cNvSpPr/>
          <p:nvPr/>
        </p:nvSpPr>
        <p:spPr bwMode="auto">
          <a:xfrm>
            <a:off x="3276600" y="397764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箭头: 右弧形 44"/>
          <p:cNvSpPr/>
          <p:nvPr/>
        </p:nvSpPr>
        <p:spPr bwMode="auto">
          <a:xfrm>
            <a:off x="3276600" y="427482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箭头: 右弧形 45"/>
          <p:cNvSpPr/>
          <p:nvPr/>
        </p:nvSpPr>
        <p:spPr bwMode="auto">
          <a:xfrm>
            <a:off x="3276600" y="4572000"/>
            <a:ext cx="198120" cy="243840"/>
          </a:xfrm>
          <a:prstGeom prst="curvedLeftArrow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552360" y="452730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48" name="肘形连接符 25"/>
          <p:cNvCxnSpPr/>
          <p:nvPr/>
        </p:nvCxnSpPr>
        <p:spPr>
          <a:xfrm rot="16200000" flipH="1">
            <a:off x="1527979" y="455849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1747199" y="450263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释放锁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服务集群部署</a:t>
            </a:r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1153159" y="2290844"/>
            <a:ext cx="1416877" cy="2910397"/>
            <a:chOff x="1153159" y="2290844"/>
            <a:chExt cx="1416877" cy="2910397"/>
          </a:xfrm>
        </p:grpSpPr>
        <p:pic>
          <p:nvPicPr>
            <p:cNvPr id="4" name="图片 3" descr="卡通人物&#10;&#10;描述已自动生成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159" y="2290844"/>
              <a:ext cx="858077" cy="85807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图片 4" descr="卡通人物&#10;&#10;描述已自动生成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159" y="3306844"/>
              <a:ext cx="858077" cy="85807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图片 5" descr="卡通人物&#10;&#10;描述已自动生成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3479" y="4343164"/>
              <a:ext cx="858077" cy="85807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图片 6" descr="卡通人物&#10;&#10;描述已自动生成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1799" y="2748044"/>
              <a:ext cx="858077" cy="85807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图片 7" descr="卡通人物&#10;&#10;描述已自动生成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1959" y="3845324"/>
              <a:ext cx="858077" cy="85807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" name="矩形: 圆角 9"/>
          <p:cNvSpPr/>
          <p:nvPr/>
        </p:nvSpPr>
        <p:spPr bwMode="auto">
          <a:xfrm>
            <a:off x="3931920" y="1611313"/>
            <a:ext cx="944880" cy="3708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 bwMode="auto">
          <a:xfrm>
            <a:off x="6884670" y="1595120"/>
            <a:ext cx="2208530" cy="9855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8080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/>
          <p:cNvSpPr/>
          <p:nvPr/>
        </p:nvSpPr>
        <p:spPr bwMode="auto">
          <a:xfrm>
            <a:off x="6894830" y="2972753"/>
            <a:ext cx="2208530" cy="9855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8081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/>
          <p:cNvSpPr/>
          <p:nvPr/>
        </p:nvSpPr>
        <p:spPr bwMode="auto">
          <a:xfrm>
            <a:off x="6904990" y="4318000"/>
            <a:ext cx="2208530" cy="9855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8082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/>
          <p:cNvCxnSpPr>
            <a:stCxn id="7" idx="3"/>
            <a:endCxn id="10" idx="1"/>
          </p:cNvCxnSpPr>
          <p:nvPr/>
        </p:nvCxnSpPr>
        <p:spPr>
          <a:xfrm>
            <a:off x="2559876" y="3177083"/>
            <a:ext cx="1372044" cy="288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8" idx="3"/>
            <a:endCxn id="10" idx="1"/>
          </p:cNvCxnSpPr>
          <p:nvPr/>
        </p:nvCxnSpPr>
        <p:spPr>
          <a:xfrm flipV="1">
            <a:off x="2570036" y="3465513"/>
            <a:ext cx="1361884" cy="808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0" idx="3"/>
            <a:endCxn id="11" idx="1"/>
          </p:cNvCxnSpPr>
          <p:nvPr/>
        </p:nvCxnSpPr>
        <p:spPr>
          <a:xfrm flipV="1">
            <a:off x="4876800" y="2087880"/>
            <a:ext cx="2007870" cy="1377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0" idx="3"/>
            <a:endCxn id="12" idx="1"/>
          </p:cNvCxnSpPr>
          <p:nvPr/>
        </p:nvCxnSpPr>
        <p:spPr>
          <a:xfrm>
            <a:off x="4876800" y="3465513"/>
            <a:ext cx="20180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0" idx="3"/>
            <a:endCxn id="13" idx="1"/>
          </p:cNvCxnSpPr>
          <p:nvPr/>
        </p:nvCxnSpPr>
        <p:spPr>
          <a:xfrm>
            <a:off x="4876800" y="3465513"/>
            <a:ext cx="2028190" cy="1345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右大括号 28"/>
          <p:cNvSpPr/>
          <p:nvPr/>
        </p:nvSpPr>
        <p:spPr>
          <a:xfrm>
            <a:off x="9357360" y="2174240"/>
            <a:ext cx="325120" cy="27330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9794240" y="3250682"/>
            <a:ext cx="2174240" cy="592222"/>
          </a:xfrm>
        </p:spPr>
        <p:txBody>
          <a:bodyPr/>
          <a:lstStyle/>
          <a:p>
            <a:r>
              <a:rPr lang="zh-CN" altLang="en-US" sz="1400" dirty="0"/>
              <a:t>同一份代码，部署在了多个</a:t>
            </a:r>
            <a:r>
              <a:rPr lang="en-US" altLang="zh-CN" sz="1400" dirty="0"/>
              <a:t>tomcat</a:t>
            </a:r>
            <a:r>
              <a:rPr lang="zh-CN" altLang="en-US" sz="1400" dirty="0"/>
              <a:t>中</a:t>
            </a:r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32" name="文本占位符 2"/>
          <p:cNvSpPr txBox="1"/>
          <p:nvPr/>
        </p:nvSpPr>
        <p:spPr>
          <a:xfrm>
            <a:off x="5116830" y="3021129"/>
            <a:ext cx="2174240" cy="59222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反向代理，负载均衡</a:t>
            </a:r>
            <a:endParaRPr lang="en-US" altLang="zh-CN" sz="1400" dirty="0"/>
          </a:p>
          <a:p>
            <a:endParaRPr lang="zh-CN" alt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抢券执行流程</a:t>
            </a:r>
            <a:endParaRPr lang="zh-CN" altLang="en-US" dirty="0"/>
          </a:p>
        </p:txBody>
      </p:sp>
      <p:sp>
        <p:nvSpPr>
          <p:cNvPr id="7" name="矩形: 圆角 6"/>
          <p:cNvSpPr/>
          <p:nvPr/>
        </p:nvSpPr>
        <p:spPr>
          <a:xfrm>
            <a:off x="1001284" y="158017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241598" y="212593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9" name="直线连接符 8"/>
          <p:cNvCxnSpPr>
            <a:stCxn id="8" idx="2"/>
          </p:cNvCxnSpPr>
          <p:nvPr/>
        </p:nvCxnSpPr>
        <p:spPr>
          <a:xfrm>
            <a:off x="1559230" y="250708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496058" y="2553322"/>
            <a:ext cx="114027" cy="2723406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50057" y="272591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2" name="肘形连接符 25"/>
          <p:cNvCxnSpPr/>
          <p:nvPr/>
        </p:nvCxnSpPr>
        <p:spPr>
          <a:xfrm rot="16200000" flipH="1">
            <a:off x="1530757" y="274450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870881" y="264963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获取互斥锁成功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48519" y="407623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/>
          <p:cNvCxnSpPr/>
          <p:nvPr/>
        </p:nvCxnSpPr>
        <p:spPr>
          <a:xfrm rot="16200000" flipH="1">
            <a:off x="1495399" y="414639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880130" y="412081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26897" y="212593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3" name="直线连接符 8"/>
          <p:cNvCxnSpPr>
            <a:stCxn id="22" idx="2"/>
          </p:cNvCxnSpPr>
          <p:nvPr/>
        </p:nvCxnSpPr>
        <p:spPr>
          <a:xfrm>
            <a:off x="3244529" y="250708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3192778" y="4896439"/>
            <a:ext cx="114027" cy="1537292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5376804" y="1286471"/>
            <a:ext cx="1322570" cy="277001"/>
            <a:chOff x="5307862" y="1460528"/>
            <a:chExt cx="1322570" cy="277001"/>
          </a:xfrm>
        </p:grpSpPr>
        <p:sp>
          <p:nvSpPr>
            <p:cNvPr id="76" name="矩形 75"/>
            <p:cNvSpPr/>
            <p:nvPr/>
          </p:nvSpPr>
          <p:spPr>
            <a:xfrm>
              <a:off x="5907770" y="1460528"/>
              <a:ext cx="722662" cy="2770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5307862" y="1460529"/>
              <a:ext cx="722662" cy="276999"/>
            </a:xfrm>
            <a:prstGeom prst="rect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ea typeface="阿里巴巴普惠体" panose="00020600040101010101" pitchFamily="18" charset="-122"/>
                </a:rPr>
                <a:t>库存</a:t>
              </a:r>
              <a:endPara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endParaRPr>
            </a:p>
          </p:txBody>
        </p:sp>
      </p:grpSp>
      <p:sp>
        <p:nvSpPr>
          <p:cNvPr id="78" name="文本框 77"/>
          <p:cNvSpPr txBox="1"/>
          <p:nvPr/>
        </p:nvSpPr>
        <p:spPr>
          <a:xfrm>
            <a:off x="6233639" y="126585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542200" y="343002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8" name="肘形连接符 25"/>
          <p:cNvCxnSpPr/>
          <p:nvPr/>
        </p:nvCxnSpPr>
        <p:spPr>
          <a:xfrm rot="16200000" flipH="1">
            <a:off x="1530011" y="346121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863023" y="340535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240159" y="581359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4" name="肘形连接符 25"/>
          <p:cNvCxnSpPr/>
          <p:nvPr/>
        </p:nvCxnSpPr>
        <p:spPr>
          <a:xfrm rot="16200000" flipH="1">
            <a:off x="3193135" y="588375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3571770" y="585817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56700" y="529692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37" name="肘形连接符 25"/>
          <p:cNvCxnSpPr/>
          <p:nvPr/>
        </p:nvCxnSpPr>
        <p:spPr>
          <a:xfrm rot="16200000" flipH="1">
            <a:off x="3226223" y="532811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3577523" y="527225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185158" y="2604637"/>
            <a:ext cx="114027" cy="954537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241697" y="290117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41" name="肘形连接符 25"/>
          <p:cNvCxnSpPr/>
          <p:nvPr/>
        </p:nvCxnSpPr>
        <p:spPr>
          <a:xfrm rot="16200000" flipH="1">
            <a:off x="3216301" y="291976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3562521" y="282489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获取互斥锁失败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3" name="箭头: 右弧形 42"/>
          <p:cNvSpPr/>
          <p:nvPr/>
        </p:nvSpPr>
        <p:spPr bwMode="auto">
          <a:xfrm>
            <a:off x="3276600" y="366522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箭头: 右弧形 43"/>
          <p:cNvSpPr/>
          <p:nvPr/>
        </p:nvSpPr>
        <p:spPr bwMode="auto">
          <a:xfrm>
            <a:off x="3276600" y="394716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箭头: 右弧形 44"/>
          <p:cNvSpPr/>
          <p:nvPr/>
        </p:nvSpPr>
        <p:spPr bwMode="auto">
          <a:xfrm>
            <a:off x="3276600" y="424434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箭头: 右弧形 45"/>
          <p:cNvSpPr/>
          <p:nvPr/>
        </p:nvSpPr>
        <p:spPr bwMode="auto">
          <a:xfrm>
            <a:off x="3276600" y="4541520"/>
            <a:ext cx="198120" cy="243840"/>
          </a:xfrm>
          <a:prstGeom prst="curvedLeftArrow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701044" y="154969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941358" y="209545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4" name="直线连接符 8"/>
          <p:cNvCxnSpPr>
            <a:stCxn id="4" idx="2"/>
          </p:cNvCxnSpPr>
          <p:nvPr/>
        </p:nvCxnSpPr>
        <p:spPr>
          <a:xfrm>
            <a:off x="7258990" y="247660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195818" y="2522842"/>
            <a:ext cx="114027" cy="2723406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249817" y="269543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0" name="肘形连接符 25"/>
          <p:cNvCxnSpPr/>
          <p:nvPr/>
        </p:nvCxnSpPr>
        <p:spPr>
          <a:xfrm rot="16200000" flipH="1">
            <a:off x="7230517" y="271402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7570641" y="261915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获取互斥锁成功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248279" y="404575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5" name="肘形连接符 25"/>
          <p:cNvCxnSpPr/>
          <p:nvPr/>
        </p:nvCxnSpPr>
        <p:spPr>
          <a:xfrm rot="16200000" flipH="1">
            <a:off x="7195159" y="411591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7579890" y="409033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626657" y="209545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31" name="直线连接符 8"/>
          <p:cNvCxnSpPr>
            <a:stCxn id="30" idx="2"/>
          </p:cNvCxnSpPr>
          <p:nvPr/>
        </p:nvCxnSpPr>
        <p:spPr>
          <a:xfrm>
            <a:off x="8944289" y="247660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8892538" y="4865959"/>
            <a:ext cx="114027" cy="1537292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241960" y="339954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48" name="肘形连接符 25"/>
          <p:cNvCxnSpPr/>
          <p:nvPr/>
        </p:nvCxnSpPr>
        <p:spPr>
          <a:xfrm rot="16200000" flipH="1">
            <a:off x="7229771" y="343073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7562783" y="33748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939919" y="578311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1" name="肘形连接符 25"/>
          <p:cNvCxnSpPr/>
          <p:nvPr/>
        </p:nvCxnSpPr>
        <p:spPr>
          <a:xfrm rot="16200000" flipH="1">
            <a:off x="8892895" y="585327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9271530" y="582769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956460" y="526644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5" name="肘形连接符 25"/>
          <p:cNvCxnSpPr/>
          <p:nvPr/>
        </p:nvCxnSpPr>
        <p:spPr>
          <a:xfrm rot="16200000" flipH="1">
            <a:off x="8925983" y="529763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9277283" y="52417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8884918" y="2574157"/>
            <a:ext cx="114027" cy="954537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941457" y="287069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9" name="肘形连接符 25"/>
          <p:cNvCxnSpPr/>
          <p:nvPr/>
        </p:nvCxnSpPr>
        <p:spPr>
          <a:xfrm rot="16200000" flipH="1">
            <a:off x="8916061" y="288928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9262281" y="279441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获取互斥锁失败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1" name="箭头: 右弧形 60"/>
          <p:cNvSpPr/>
          <p:nvPr/>
        </p:nvSpPr>
        <p:spPr bwMode="auto">
          <a:xfrm>
            <a:off x="8976360" y="363474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箭头: 右弧形 61"/>
          <p:cNvSpPr/>
          <p:nvPr/>
        </p:nvSpPr>
        <p:spPr bwMode="auto">
          <a:xfrm>
            <a:off x="8976360" y="391668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箭头: 右弧形 62"/>
          <p:cNvSpPr/>
          <p:nvPr/>
        </p:nvSpPr>
        <p:spPr bwMode="auto">
          <a:xfrm>
            <a:off x="8976360" y="421386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箭头: 右弧形 63"/>
          <p:cNvSpPr/>
          <p:nvPr/>
        </p:nvSpPr>
        <p:spPr bwMode="auto">
          <a:xfrm>
            <a:off x="8976360" y="4511040"/>
            <a:ext cx="198120" cy="243840"/>
          </a:xfrm>
          <a:prstGeom prst="curvedLeftArrow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331720" y="1603495"/>
            <a:ext cx="1569720" cy="30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8080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8163560" y="1573015"/>
            <a:ext cx="1569720" cy="30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8081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6233639" y="126585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233639" y="1265854"/>
            <a:ext cx="410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44444E-6 L -0.34649 0.3412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331" y="17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44444E-6 L 0.13516 0.3351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58" y="16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1"/>
      <p:bldP spid="69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抢券执行流程</a:t>
            </a:r>
            <a:endParaRPr lang="zh-CN" altLang="en-US" dirty="0"/>
          </a:p>
        </p:txBody>
      </p:sp>
      <p:sp>
        <p:nvSpPr>
          <p:cNvPr id="7" name="矩形: 圆角 6"/>
          <p:cNvSpPr/>
          <p:nvPr/>
        </p:nvSpPr>
        <p:spPr>
          <a:xfrm>
            <a:off x="1001284" y="158017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241598" y="212593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9" name="直线连接符 8"/>
          <p:cNvCxnSpPr>
            <a:stCxn id="8" idx="2"/>
          </p:cNvCxnSpPr>
          <p:nvPr/>
        </p:nvCxnSpPr>
        <p:spPr>
          <a:xfrm>
            <a:off x="1559230" y="250708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496058" y="2553322"/>
            <a:ext cx="119382" cy="227267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50057" y="272591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2" name="肘形连接符 25"/>
          <p:cNvCxnSpPr/>
          <p:nvPr/>
        </p:nvCxnSpPr>
        <p:spPr>
          <a:xfrm rot="16200000" flipH="1">
            <a:off x="1536853" y="274450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870881" y="264963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获取互斥锁成功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48519" y="363935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17" name="肘形连接符 25"/>
          <p:cNvCxnSpPr/>
          <p:nvPr/>
        </p:nvCxnSpPr>
        <p:spPr>
          <a:xfrm rot="16200000" flipH="1">
            <a:off x="1501495" y="3709517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880130" y="368393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26897" y="212593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23" name="直线连接符 8"/>
          <p:cNvCxnSpPr>
            <a:stCxn id="22" idx="2"/>
          </p:cNvCxnSpPr>
          <p:nvPr/>
        </p:nvCxnSpPr>
        <p:spPr>
          <a:xfrm>
            <a:off x="3244529" y="250708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542200" y="319634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8" name="肘形连接符 25"/>
          <p:cNvCxnSpPr/>
          <p:nvPr/>
        </p:nvCxnSpPr>
        <p:spPr>
          <a:xfrm rot="16200000" flipH="1">
            <a:off x="1536107" y="322753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863023" y="31716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185158" y="2836991"/>
            <a:ext cx="114027" cy="489829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241697" y="290117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41" name="肘形连接符 25"/>
          <p:cNvCxnSpPr/>
          <p:nvPr/>
        </p:nvCxnSpPr>
        <p:spPr>
          <a:xfrm rot="16200000" flipH="1">
            <a:off x="3216301" y="291976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3562521" y="282489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获取互斥锁失败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701044" y="1549698"/>
            <a:ext cx="4332716" cy="5011577"/>
          </a:xfrm>
          <a:prstGeom prst="roundRect">
            <a:avLst>
              <a:gd name="adj" fmla="val 547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941358" y="209545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14" name="直线连接符 8"/>
          <p:cNvCxnSpPr>
            <a:stCxn id="4" idx="2"/>
          </p:cNvCxnSpPr>
          <p:nvPr/>
        </p:nvCxnSpPr>
        <p:spPr>
          <a:xfrm>
            <a:off x="7258990" y="2476607"/>
            <a:ext cx="7077" cy="418691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195818" y="2564537"/>
            <a:ext cx="114027" cy="404817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249817" y="269543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20" name="肘形连接符 25"/>
          <p:cNvCxnSpPr/>
          <p:nvPr/>
        </p:nvCxnSpPr>
        <p:spPr>
          <a:xfrm rot="16200000" flipH="1">
            <a:off x="7230517" y="271402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7570641" y="261915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</a:t>
            </a:r>
            <a:r>
              <a:rPr lang="zh-CN" altLang="en-US" sz="105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失败</a:t>
            </a:r>
            <a:endParaRPr lang="zh-CN" altLang="en-US" sz="105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579890" y="5868334"/>
            <a:ext cx="1106910" cy="835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库存是否充足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是：扣减库存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否：抛出异常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626657" y="2095459"/>
            <a:ext cx="635264" cy="381148"/>
          </a:xfrm>
          <a:prstGeom prst="rect">
            <a:avLst/>
          </a:prstGeom>
          <a:noFill/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31" name="直线连接符 8"/>
          <p:cNvCxnSpPr>
            <a:stCxn id="30" idx="2"/>
          </p:cNvCxnSpPr>
          <p:nvPr/>
        </p:nvCxnSpPr>
        <p:spPr>
          <a:xfrm>
            <a:off x="8944289" y="2476607"/>
            <a:ext cx="12926" cy="406239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8884918" y="2782019"/>
            <a:ext cx="114027" cy="538812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941457" y="2870694"/>
            <a:ext cx="123200" cy="222154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59" name="肘形连接符 25"/>
          <p:cNvCxnSpPr/>
          <p:nvPr/>
        </p:nvCxnSpPr>
        <p:spPr>
          <a:xfrm rot="16200000" flipH="1">
            <a:off x="8916061" y="2889286"/>
            <a:ext cx="228407" cy="66754"/>
          </a:xfrm>
          <a:prstGeom prst="bentConnector4">
            <a:avLst>
              <a:gd name="adj1" fmla="val 25684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9262281" y="2794418"/>
            <a:ext cx="895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获取互斥锁失败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1" name="箭头: 右弧形 60"/>
          <p:cNvSpPr/>
          <p:nvPr/>
        </p:nvSpPr>
        <p:spPr bwMode="auto">
          <a:xfrm>
            <a:off x="8976360" y="346551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箭头: 右弧形 61"/>
          <p:cNvSpPr/>
          <p:nvPr/>
        </p:nvSpPr>
        <p:spPr bwMode="auto">
          <a:xfrm>
            <a:off x="8976360" y="374745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箭头: 右弧形 62"/>
          <p:cNvSpPr/>
          <p:nvPr/>
        </p:nvSpPr>
        <p:spPr bwMode="auto">
          <a:xfrm>
            <a:off x="8976360" y="404463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331720" y="1603495"/>
            <a:ext cx="1569720" cy="30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8080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8163560" y="1573015"/>
            <a:ext cx="1569720" cy="30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localhost: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8081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/>
          <p:cNvSpPr/>
          <p:nvPr/>
        </p:nvSpPr>
        <p:spPr bwMode="auto">
          <a:xfrm>
            <a:off x="5466080" y="853440"/>
            <a:ext cx="1127760" cy="85344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分布式锁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1544320" y="1280160"/>
            <a:ext cx="3921760" cy="83312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1300480" y="2182614"/>
            <a:ext cx="1249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线程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69" name="直接箭头连接符 68"/>
          <p:cNvCxnSpPr/>
          <p:nvPr/>
        </p:nvCxnSpPr>
        <p:spPr>
          <a:xfrm flipH="1" flipV="1">
            <a:off x="6593840" y="1280160"/>
            <a:ext cx="665150" cy="8152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5"/>
          <p:cNvCxnSpPr/>
          <p:nvPr/>
        </p:nvCxnSpPr>
        <p:spPr>
          <a:xfrm rot="16200000" flipH="1">
            <a:off x="7201255" y="5900013"/>
            <a:ext cx="313949" cy="88991"/>
          </a:xfrm>
          <a:prstGeom prst="bentConnector4">
            <a:avLst>
              <a:gd name="adj1" fmla="val 13275"/>
              <a:gd name="adj2" fmla="val 356880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连接符 25"/>
          <p:cNvCxnSpPr/>
          <p:nvPr/>
        </p:nvCxnSpPr>
        <p:spPr>
          <a:xfrm rot="16200000" flipH="1">
            <a:off x="7217579" y="5220930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7562783" y="51528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查询优惠券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7198358" y="5055216"/>
            <a:ext cx="114027" cy="1397538"/>
          </a:xfrm>
          <a:prstGeom prst="rect">
            <a:avLst/>
          </a:prstGeom>
          <a:solidFill>
            <a:srgbClr val="FFFFE4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241960" y="517754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248279" y="5823754"/>
            <a:ext cx="135592" cy="461189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sp>
        <p:nvSpPr>
          <p:cNvPr id="71" name="箭头: 右弧形 70"/>
          <p:cNvSpPr/>
          <p:nvPr/>
        </p:nvSpPr>
        <p:spPr bwMode="auto">
          <a:xfrm>
            <a:off x="7310120" y="314706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箭头: 右弧形 71"/>
          <p:cNvSpPr/>
          <p:nvPr/>
        </p:nvSpPr>
        <p:spPr bwMode="auto">
          <a:xfrm>
            <a:off x="7310120" y="342900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箭头: 右弧形 73"/>
          <p:cNvSpPr/>
          <p:nvPr/>
        </p:nvSpPr>
        <p:spPr bwMode="auto">
          <a:xfrm>
            <a:off x="7320280" y="374650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箭头: 右弧形 74"/>
          <p:cNvSpPr/>
          <p:nvPr/>
        </p:nvSpPr>
        <p:spPr bwMode="auto">
          <a:xfrm>
            <a:off x="7320280" y="402844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箭头: 右弧形 75"/>
          <p:cNvSpPr/>
          <p:nvPr/>
        </p:nvSpPr>
        <p:spPr bwMode="auto">
          <a:xfrm>
            <a:off x="7340600" y="4305300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1562520" y="4364747"/>
            <a:ext cx="123200" cy="268806"/>
          </a:xfrm>
          <a:prstGeom prst="rect">
            <a:avLst/>
          </a:prstGeom>
          <a:solidFill>
            <a:schemeClr val="bg1"/>
          </a:solidFill>
          <a:ln w="12700">
            <a:solidFill>
              <a:srgbClr val="AD2A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FFE4"/>
              </a:solidFill>
            </a:endParaRPr>
          </a:p>
        </p:txBody>
      </p:sp>
      <p:cxnSp>
        <p:nvCxnSpPr>
          <p:cNvPr id="80" name="肘形连接符 25"/>
          <p:cNvCxnSpPr/>
          <p:nvPr/>
        </p:nvCxnSpPr>
        <p:spPr>
          <a:xfrm rot="16200000" flipH="1">
            <a:off x="1532043" y="4395938"/>
            <a:ext cx="228409" cy="66754"/>
          </a:xfrm>
          <a:prstGeom prst="bentConnector4">
            <a:avLst>
              <a:gd name="adj1" fmla="val 20578"/>
              <a:gd name="adj2" fmla="val 442451"/>
            </a:avLst>
          </a:prstGeom>
          <a:ln w="12700">
            <a:solidFill>
              <a:srgbClr val="4C52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1730943" y="4340078"/>
            <a:ext cx="9959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4.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释放锁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1341120" y="4927600"/>
            <a:ext cx="9652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箭头: 右弧形 86"/>
          <p:cNvSpPr/>
          <p:nvPr/>
        </p:nvSpPr>
        <p:spPr bwMode="auto">
          <a:xfrm>
            <a:off x="7340600" y="4622800"/>
            <a:ext cx="198120" cy="243840"/>
          </a:xfrm>
          <a:prstGeom prst="curvedLeftArrow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箭头: 右弧形 87"/>
          <p:cNvSpPr/>
          <p:nvPr/>
        </p:nvSpPr>
        <p:spPr bwMode="auto">
          <a:xfrm>
            <a:off x="8976360" y="433927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箭头: 右弧形 88"/>
          <p:cNvSpPr/>
          <p:nvPr/>
        </p:nvSpPr>
        <p:spPr bwMode="auto">
          <a:xfrm>
            <a:off x="8976360" y="462121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箭头: 右弧形 91"/>
          <p:cNvSpPr/>
          <p:nvPr/>
        </p:nvSpPr>
        <p:spPr bwMode="auto">
          <a:xfrm>
            <a:off x="3286760" y="346551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箭头: 右弧形 92"/>
          <p:cNvSpPr/>
          <p:nvPr/>
        </p:nvSpPr>
        <p:spPr bwMode="auto">
          <a:xfrm>
            <a:off x="3286760" y="374745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箭头: 右弧形 93"/>
          <p:cNvSpPr/>
          <p:nvPr/>
        </p:nvSpPr>
        <p:spPr bwMode="auto">
          <a:xfrm>
            <a:off x="3286760" y="404463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箭头: 右弧形 94"/>
          <p:cNvSpPr/>
          <p:nvPr/>
        </p:nvSpPr>
        <p:spPr bwMode="auto">
          <a:xfrm>
            <a:off x="3286760" y="433927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箭头: 右弧形 95"/>
          <p:cNvSpPr/>
          <p:nvPr/>
        </p:nvSpPr>
        <p:spPr bwMode="auto">
          <a:xfrm>
            <a:off x="3286760" y="4621213"/>
            <a:ext cx="198120" cy="243840"/>
          </a:xfrm>
          <a:prstGeom prst="curvedLeftArrow">
            <a:avLst/>
          </a:pr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8" name="直接箭头连接符 97"/>
          <p:cNvCxnSpPr>
            <a:stCxn id="22" idx="0"/>
            <a:endCxn id="5" idx="1"/>
          </p:cNvCxnSpPr>
          <p:nvPr/>
        </p:nvCxnSpPr>
        <p:spPr>
          <a:xfrm flipV="1">
            <a:off x="3244529" y="1302026"/>
            <a:ext cx="2152419" cy="8239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stCxn id="30" idx="0"/>
            <a:endCxn id="5" idx="3"/>
          </p:cNvCxnSpPr>
          <p:nvPr/>
        </p:nvCxnSpPr>
        <p:spPr>
          <a:xfrm flipH="1" flipV="1">
            <a:off x="6593840" y="1280160"/>
            <a:ext cx="2350449" cy="8152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07407E-6 L 0.3638 -0.1176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90" y="-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000"/>
                            </p:stCondLst>
                            <p:childTnLst>
                              <p:par>
                                <p:cTn id="1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500"/>
                            </p:stCondLst>
                            <p:childTnLst>
                              <p:par>
                                <p:cTn id="1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000"/>
                            </p:stCondLst>
                            <p:childTnLst>
                              <p:par>
                                <p:cTn id="1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1500"/>
                            </p:stCondLst>
                            <p:childTnLst>
                              <p:par>
                                <p:cTn id="2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2000"/>
                            </p:stCondLst>
                            <p:childTnLst>
                              <p:par>
                                <p:cTn id="2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6" grpId="0" animBg="1"/>
      <p:bldP spid="18" grpId="0"/>
      <p:bldP spid="27" grpId="0" animBg="1"/>
      <p:bldP spid="29" grpId="0"/>
      <p:bldP spid="39" grpId="0" animBg="1"/>
      <p:bldP spid="40" grpId="0" animBg="1"/>
      <p:bldP spid="42" grpId="0"/>
      <p:bldP spid="15" grpId="0" animBg="1"/>
      <p:bldP spid="19" grpId="0" animBg="1"/>
      <p:bldP spid="21" grpId="0"/>
      <p:bldP spid="26" grpId="0"/>
      <p:bldP spid="57" grpId="0" animBg="1"/>
      <p:bldP spid="58" grpId="0" animBg="1"/>
      <p:bldP spid="60" grpId="0"/>
      <p:bldP spid="61" grpId="0" animBg="1"/>
      <p:bldP spid="62" grpId="0" animBg="1"/>
      <p:bldP spid="63" grpId="0" animBg="1"/>
      <p:bldP spid="68" grpId="0"/>
      <p:bldP spid="68" grpId="1"/>
      <p:bldP spid="49" grpId="0"/>
      <p:bldP spid="70" grpId="0" animBg="1"/>
      <p:bldP spid="47" grpId="0" animBg="1"/>
      <p:bldP spid="24" grpId="0" animBg="1"/>
      <p:bldP spid="71" grpId="0" animBg="1"/>
      <p:bldP spid="72" grpId="0" animBg="1"/>
      <p:bldP spid="74" grpId="0" animBg="1"/>
      <p:bldP spid="75" grpId="0" animBg="1"/>
      <p:bldP spid="76" grpId="0" animBg="1"/>
      <p:bldP spid="78" grpId="0" animBg="1"/>
      <p:bldP spid="82" grpId="0"/>
      <p:bldP spid="87" grpId="0" animBg="1"/>
      <p:bldP spid="88" grpId="0" animBg="1"/>
      <p:bldP spid="89" grpId="0" animBg="1"/>
      <p:bldP spid="92" grpId="0" animBg="1"/>
      <p:bldP spid="93" grpId="0" animBg="1"/>
      <p:bldP spid="94" grpId="0" animBg="1"/>
      <p:bldP spid="95" grpId="0" animBg="1"/>
      <p:bldP spid="9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</a:t>
            </a:r>
            <a:r>
              <a:rPr lang="zh-CN" altLang="en-US" dirty="0"/>
              <a:t>分布式锁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592222"/>
          </a:xfrm>
        </p:spPr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实现分布式锁主要利用</a:t>
            </a:r>
            <a:r>
              <a:rPr lang="en-US" altLang="zh-CN" dirty="0"/>
              <a:t>Redis</a:t>
            </a:r>
            <a:r>
              <a:rPr lang="zh-CN" altLang="en-US" dirty="0"/>
              <a:t>的</a:t>
            </a:r>
            <a:r>
              <a:rPr lang="en-US" altLang="zh-CN" dirty="0" err="1">
                <a:solidFill>
                  <a:srgbClr val="C00000"/>
                </a:solidFill>
              </a:rPr>
              <a:t>setnx</a:t>
            </a:r>
            <a:r>
              <a:rPr lang="zh-CN" altLang="en-US" dirty="0"/>
              <a:t>命令。</a:t>
            </a:r>
            <a:r>
              <a:rPr lang="en-US" altLang="zh-CN" dirty="0" err="1"/>
              <a:t>setnx</a:t>
            </a:r>
            <a:r>
              <a:rPr lang="zh-CN" altLang="en-US" dirty="0"/>
              <a:t>是</a:t>
            </a:r>
            <a:r>
              <a:rPr lang="en-US" altLang="zh-CN" dirty="0"/>
              <a:t>SET if not exists(</a:t>
            </a:r>
            <a:r>
              <a:rPr lang="zh-CN" altLang="en-US" dirty="0"/>
              <a:t>如果不存在，则 </a:t>
            </a:r>
            <a:r>
              <a:rPr lang="en-US" altLang="zh-CN" dirty="0"/>
              <a:t>SET)</a:t>
            </a:r>
            <a:r>
              <a:rPr lang="zh-CN" altLang="en-US" dirty="0"/>
              <a:t>的简写。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文本占位符 2"/>
          <p:cNvSpPr txBox="1"/>
          <p:nvPr/>
        </p:nvSpPr>
        <p:spPr>
          <a:xfrm>
            <a:off x="1581487" y="5470647"/>
            <a:ext cx="5450656" cy="43319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7667003" y="2036852"/>
            <a:ext cx="3150498" cy="4375209"/>
            <a:chOff x="8750369" y="2036852"/>
            <a:chExt cx="3150498" cy="4375209"/>
          </a:xfrm>
        </p:grpSpPr>
        <p:sp>
          <p:nvSpPr>
            <p:cNvPr id="8" name="椭圆 7"/>
            <p:cNvSpPr/>
            <p:nvPr/>
          </p:nvSpPr>
          <p:spPr>
            <a:xfrm>
              <a:off x="9213416" y="2036852"/>
              <a:ext cx="411403" cy="234204"/>
            </a:xfrm>
            <a:prstGeom prst="ellipse">
              <a:avLst/>
            </a:prstGeom>
            <a:solidFill>
              <a:srgbClr val="AD2A26"/>
            </a:solidFill>
            <a:ln>
              <a:solidFill>
                <a:srgbClr val="AD2A2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开始</a:t>
              </a:r>
              <a:endParaRPr lang="zh-CN" altLang="en-US" sz="11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矩形: 圆角 8"/>
            <p:cNvSpPr/>
            <p:nvPr/>
          </p:nvSpPr>
          <p:spPr>
            <a:xfrm>
              <a:off x="9054197" y="2649973"/>
              <a:ext cx="729843" cy="400110"/>
            </a:xfrm>
            <a:prstGeom prst="roundRect">
              <a:avLst/>
            </a:prstGeom>
            <a:solidFill>
              <a:srgbClr val="B60004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05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尝试获取锁</a:t>
              </a:r>
              <a:endPara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10" name="直接箭头连接符 9"/>
            <p:cNvCxnSpPr>
              <a:stCxn id="8" idx="4"/>
              <a:endCxn id="9" idx="0"/>
            </p:cNvCxnSpPr>
            <p:nvPr/>
          </p:nvCxnSpPr>
          <p:spPr>
            <a:xfrm>
              <a:off x="9419118" y="2271056"/>
              <a:ext cx="1" cy="3789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菱形 10"/>
            <p:cNvSpPr/>
            <p:nvPr/>
          </p:nvSpPr>
          <p:spPr>
            <a:xfrm>
              <a:off x="8839893" y="3429000"/>
              <a:ext cx="1159951" cy="479188"/>
            </a:xfrm>
            <a:prstGeom prst="diamond">
              <a:avLst/>
            </a:prstGeom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判断结果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999844" y="3414678"/>
              <a:ext cx="42511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>
                  <a:solidFill>
                    <a:srgbClr val="49504F"/>
                  </a:solidFill>
                  <a:latin typeface="+mn-lt"/>
                  <a:ea typeface="+mn-ea"/>
                </a:rPr>
                <a:t>nil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cxnSp>
          <p:nvCxnSpPr>
            <p:cNvPr id="13" name="直接箭头连接符 12"/>
            <p:cNvCxnSpPr>
              <a:stCxn id="11" idx="2"/>
              <a:endCxn id="15" idx="0"/>
            </p:cNvCxnSpPr>
            <p:nvPr/>
          </p:nvCxnSpPr>
          <p:spPr>
            <a:xfrm>
              <a:off x="9419869" y="3908188"/>
              <a:ext cx="2277" cy="4315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9429160" y="3935169"/>
              <a:ext cx="34496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>
                  <a:solidFill>
                    <a:srgbClr val="49504F"/>
                  </a:solidFill>
                  <a:latin typeface="+mn-lt"/>
                  <a:ea typeface="+mn-ea"/>
                </a:rPr>
                <a:t>ok</a:t>
              </a:r>
              <a:endParaRPr lang="zh-CN" altLang="en-US" sz="1050" dirty="0">
                <a:solidFill>
                  <a:srgbClr val="49504F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矩形: 圆角 14"/>
            <p:cNvSpPr/>
            <p:nvPr/>
          </p:nvSpPr>
          <p:spPr>
            <a:xfrm>
              <a:off x="9038485" y="4339691"/>
              <a:ext cx="767321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获取锁成功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16" name="直接箭头连接符 15"/>
            <p:cNvCxnSpPr>
              <a:stCxn id="15" idx="2"/>
              <a:endCxn id="18" idx="0"/>
            </p:cNvCxnSpPr>
            <p:nvPr/>
          </p:nvCxnSpPr>
          <p:spPr>
            <a:xfrm flipH="1">
              <a:off x="9421007" y="4739801"/>
              <a:ext cx="1139" cy="4315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9" idx="2"/>
              <a:endCxn id="11" idx="0"/>
            </p:cNvCxnSpPr>
            <p:nvPr/>
          </p:nvCxnSpPr>
          <p:spPr>
            <a:xfrm>
              <a:off x="9419119" y="3050083"/>
              <a:ext cx="750" cy="3789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矩形: 圆角 17"/>
            <p:cNvSpPr/>
            <p:nvPr/>
          </p:nvSpPr>
          <p:spPr>
            <a:xfrm>
              <a:off x="9026515" y="5171304"/>
              <a:ext cx="788984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执行业务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矩形: 圆角 18"/>
            <p:cNvSpPr/>
            <p:nvPr/>
          </p:nvSpPr>
          <p:spPr>
            <a:xfrm>
              <a:off x="9124262" y="6091866"/>
              <a:ext cx="593490" cy="32019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释放锁</a:t>
              </a:r>
              <a:endParaRPr lang="zh-CN" altLang="en-US" sz="11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0" name="直接箭头连接符 19"/>
            <p:cNvCxnSpPr>
              <a:stCxn id="18" idx="2"/>
              <a:endCxn id="19" idx="0"/>
            </p:cNvCxnSpPr>
            <p:nvPr/>
          </p:nvCxnSpPr>
          <p:spPr>
            <a:xfrm>
              <a:off x="9421007" y="5571414"/>
              <a:ext cx="0" cy="5204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矩形: 圆角 20"/>
            <p:cNvSpPr/>
            <p:nvPr/>
          </p:nvSpPr>
          <p:spPr>
            <a:xfrm>
              <a:off x="11133546" y="3468539"/>
              <a:ext cx="767321" cy="40011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AD2A2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获取锁失败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2" name="直接箭头连接符 21"/>
            <p:cNvCxnSpPr>
              <a:stCxn id="11" idx="3"/>
              <a:endCxn id="21" idx="1"/>
            </p:cNvCxnSpPr>
            <p:nvPr/>
          </p:nvCxnSpPr>
          <p:spPr>
            <a:xfrm>
              <a:off x="9999844" y="3668594"/>
              <a:ext cx="113370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矩形: 圆角 22"/>
            <p:cNvSpPr/>
            <p:nvPr/>
          </p:nvSpPr>
          <p:spPr>
            <a:xfrm>
              <a:off x="8750369" y="4189085"/>
              <a:ext cx="1317144" cy="1542389"/>
            </a:xfrm>
            <a:prstGeom prst="roundRect">
              <a:avLst>
                <a:gd name="adj" fmla="val 13260"/>
              </a:avLst>
            </a:prstGeom>
            <a:noFill/>
            <a:ln w="9525">
              <a:solidFill>
                <a:srgbClr val="49504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257371" y="4544532"/>
              <a:ext cx="88998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业务超时</a:t>
              </a:r>
              <a:endPara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或服务宕机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5" name="矩形: 圆角 24"/>
            <p:cNvSpPr/>
            <p:nvPr/>
          </p:nvSpPr>
          <p:spPr>
            <a:xfrm>
              <a:off x="11202555" y="4795454"/>
              <a:ext cx="698312" cy="32019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5720" rIns="0" bIns="45720" rtlCol="0" anchor="ctr"/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自动</a:t>
              </a:r>
              <a:endParaRPr lang="en-US" altLang="zh-CN" sz="11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释放锁</a:t>
              </a:r>
              <a:endParaRPr lang="zh-CN" altLang="en-US" sz="11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6" name="直接箭头连接符 25"/>
            <p:cNvCxnSpPr>
              <a:stCxn id="23" idx="3"/>
              <a:endCxn id="25" idx="1"/>
            </p:cNvCxnSpPr>
            <p:nvPr/>
          </p:nvCxnSpPr>
          <p:spPr>
            <a:xfrm flipV="1">
              <a:off x="10067513" y="4955552"/>
              <a:ext cx="1135042" cy="47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组合 41"/>
          <p:cNvGrpSpPr/>
          <p:nvPr/>
        </p:nvGrpSpPr>
        <p:grpSpPr>
          <a:xfrm>
            <a:off x="661185" y="2141040"/>
            <a:ext cx="6026251" cy="2232178"/>
            <a:chOff x="661185" y="2141040"/>
            <a:chExt cx="6026251" cy="2232178"/>
          </a:xfrm>
        </p:grpSpPr>
        <p:sp>
          <p:nvSpPr>
            <p:cNvPr id="30" name="文本占位符 3"/>
            <p:cNvSpPr txBox="1"/>
            <p:nvPr/>
          </p:nvSpPr>
          <p:spPr>
            <a:xfrm>
              <a:off x="661185" y="2141040"/>
              <a:ext cx="6026251" cy="2232178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获取锁：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释放锁：</a:t>
              </a:r>
              <a:endParaRPr lang="en-US" altLang="zh-CN" dirty="0"/>
            </a:p>
            <a:p>
              <a:pPr marL="632460" lvl="1" indent="0">
                <a:buNone/>
              </a:pPr>
              <a:endParaRPr lang="en-US" altLang="zh-CN" sz="14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zh-CN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698024" y="2583806"/>
              <a:ext cx="4651367" cy="461665"/>
            </a:xfrm>
            <a:prstGeom prst="rect">
              <a:avLst/>
            </a:prstGeom>
            <a:solidFill>
              <a:srgbClr val="011C2F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i="1" dirty="0">
                  <a:solidFill>
                    <a:srgbClr val="00B050"/>
                  </a:solidFill>
                  <a:latin typeface="+mn-lt"/>
                  <a:ea typeface="+mn-ea"/>
                </a:rPr>
                <a:t># </a:t>
              </a:r>
              <a:r>
                <a:rPr lang="zh-CN" altLang="en-US" sz="1200" i="1" dirty="0">
                  <a:solidFill>
                    <a:srgbClr val="00B050"/>
                  </a:solidFill>
                </a:rPr>
                <a:t>添加锁，</a:t>
              </a:r>
              <a:r>
                <a:rPr lang="en-US" altLang="zh-CN" sz="1200" i="1" dirty="0">
                  <a:solidFill>
                    <a:srgbClr val="00B050"/>
                  </a:solidFill>
                </a:rPr>
                <a:t>NX</a:t>
              </a:r>
              <a:r>
                <a:rPr lang="zh-CN" altLang="en-US" sz="1200" i="1" dirty="0">
                  <a:solidFill>
                    <a:srgbClr val="00B050"/>
                  </a:solidFill>
                </a:rPr>
                <a:t>是互斥、</a:t>
              </a:r>
              <a:r>
                <a:rPr lang="en-US" altLang="zh-CN" sz="1200" i="1" dirty="0">
                  <a:solidFill>
                    <a:srgbClr val="00B050"/>
                  </a:solidFill>
                </a:rPr>
                <a:t>EX</a:t>
              </a:r>
              <a:r>
                <a:rPr lang="zh-CN" altLang="en-US" sz="1200" i="1" dirty="0">
                  <a:solidFill>
                    <a:srgbClr val="00B050"/>
                  </a:solidFill>
                </a:rPr>
                <a:t>是设置超时时间</a:t>
              </a:r>
              <a:endParaRPr lang="en-US" altLang="zh-CN" sz="1200" i="1" dirty="0">
                <a:solidFill>
                  <a:srgbClr val="00B050"/>
                </a:solidFill>
                <a:latin typeface="+mn-lt"/>
                <a:ea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chemeClr val="bg1"/>
                  </a:solidFill>
                  <a:latin typeface="+mn-lt"/>
                  <a:ea typeface="+mn-ea"/>
                </a:rPr>
                <a:t>SET lock value NX EX 10</a:t>
              </a:r>
              <a:endParaRPr lang="zh-CN" altLang="en-US" sz="12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658268" y="3500438"/>
              <a:ext cx="4651367" cy="461665"/>
            </a:xfrm>
            <a:prstGeom prst="rect">
              <a:avLst/>
            </a:prstGeom>
            <a:solidFill>
              <a:srgbClr val="011C2F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i="1">
                  <a:solidFill>
                    <a:srgbClr val="00B050"/>
                  </a:solidFill>
                  <a:latin typeface="+mn-lt"/>
                  <a:ea typeface="+mn-ea"/>
                </a:rPr>
                <a:t># </a:t>
              </a:r>
              <a:r>
                <a:rPr lang="zh-CN" altLang="en-US" sz="1200" i="1">
                  <a:solidFill>
                    <a:srgbClr val="00B050"/>
                  </a:solidFill>
                  <a:latin typeface="+mn-lt"/>
                  <a:ea typeface="+mn-ea"/>
                </a:rPr>
                <a:t>释放锁，删除即可</a:t>
              </a:r>
              <a:endParaRPr lang="en-US" altLang="zh-CN" sz="1200" i="1">
                <a:solidFill>
                  <a:srgbClr val="00B050"/>
                </a:solidFill>
                <a:latin typeface="+mn-lt"/>
                <a:ea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chemeClr val="bg1"/>
                  </a:solidFill>
                  <a:latin typeface="+mn-lt"/>
                  <a:ea typeface="+mn-ea"/>
                </a:rPr>
                <a:t>DEL key</a:t>
              </a:r>
              <a:endParaRPr lang="zh-CN" altLang="en-US" sz="12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6" name="矩形: 圆角 35"/>
          <p:cNvSpPr/>
          <p:nvPr/>
        </p:nvSpPr>
        <p:spPr bwMode="auto">
          <a:xfrm>
            <a:off x="1908313" y="5645426"/>
            <a:ext cx="2415208" cy="4572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根据业务执行时间预估</a:t>
            </a:r>
            <a:endParaRPr lang="zh-CN" altLang="en-US" sz="14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7" name="矩形: 圆角 36"/>
          <p:cNvSpPr/>
          <p:nvPr/>
        </p:nvSpPr>
        <p:spPr bwMode="auto">
          <a:xfrm>
            <a:off x="4631633" y="5635487"/>
            <a:ext cx="1719469" cy="4572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给锁续期</a:t>
            </a:r>
            <a:endParaRPr lang="zh-CN" altLang="en-US" sz="14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pic>
        <p:nvPicPr>
          <p:cNvPr id="38" name="图形 37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268" y="4851683"/>
            <a:ext cx="867323" cy="1167060"/>
          </a:xfrm>
          <a:prstGeom prst="rect">
            <a:avLst/>
          </a:prstGeom>
        </p:spPr>
      </p:pic>
      <p:grpSp>
        <p:nvGrpSpPr>
          <p:cNvPr id="39" name="组合 38"/>
          <p:cNvGrpSpPr/>
          <p:nvPr/>
        </p:nvGrpSpPr>
        <p:grpSpPr>
          <a:xfrm>
            <a:off x="1222514" y="4760152"/>
            <a:ext cx="6042992" cy="557285"/>
            <a:chOff x="1415952" y="994435"/>
            <a:chExt cx="7907155" cy="745508"/>
          </a:xfrm>
        </p:grpSpPr>
        <p:sp>
          <p:nvSpPr>
            <p:cNvPr id="40" name="任意多边形: 形状 39"/>
            <p:cNvSpPr/>
            <p:nvPr/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-1" fmla="*/ 803381 w 5319528"/>
                <a:gd name="connsiteY0-2" fmla="*/ 0 h 787065"/>
                <a:gd name="connsiteX1-3" fmla="*/ 5216541 w 5319528"/>
                <a:gd name="connsiteY1-4" fmla="*/ 0 h 787065"/>
                <a:gd name="connsiteX2-5" fmla="*/ 5319528 w 5319528"/>
                <a:gd name="connsiteY2-6" fmla="*/ 102987 h 787065"/>
                <a:gd name="connsiteX3-7" fmla="*/ 5319528 w 5319528"/>
                <a:gd name="connsiteY3-8" fmla="*/ 514924 h 787065"/>
                <a:gd name="connsiteX4-9" fmla="*/ 5216541 w 5319528"/>
                <a:gd name="connsiteY4-10" fmla="*/ 617911 h 787065"/>
                <a:gd name="connsiteX5-11" fmla="*/ 875800 w 5319528"/>
                <a:gd name="connsiteY5-12" fmla="*/ 617911 h 787065"/>
                <a:gd name="connsiteX6-13" fmla="*/ 0 w 5319528"/>
                <a:gd name="connsiteY6-14" fmla="*/ 787065 h 787065"/>
                <a:gd name="connsiteX7-15" fmla="*/ 700394 w 5319528"/>
                <a:gd name="connsiteY7-16" fmla="*/ 498849 h 787065"/>
                <a:gd name="connsiteX8-17" fmla="*/ 700394 w 5319528"/>
                <a:gd name="connsiteY8-18" fmla="*/ 102987 h 787065"/>
                <a:gd name="connsiteX9-19" fmla="*/ 803381 w 5319528"/>
                <a:gd name="connsiteY9-20" fmla="*/ 0 h 78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占位符 6"/>
            <p:cNvSpPr txBox="1"/>
            <p:nvPr/>
          </p:nvSpPr>
          <p:spPr>
            <a:xfrm>
              <a:off x="2464262" y="994435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实现分布式锁如何合理的控制锁的有效时长？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C00000"/>
                </a:solidFill>
              </a:rPr>
              <a:t>redisson</a:t>
            </a:r>
            <a:r>
              <a:rPr lang="zh-CN" altLang="en-US" dirty="0">
                <a:solidFill>
                  <a:srgbClr val="C00000"/>
                </a:solidFill>
              </a:rPr>
              <a:t>实现的分布式锁</a:t>
            </a:r>
            <a:r>
              <a:rPr lang="en-US" altLang="zh-CN" dirty="0">
                <a:solidFill>
                  <a:srgbClr val="C00000"/>
                </a:solidFill>
              </a:rPr>
              <a:t>-</a:t>
            </a:r>
            <a:r>
              <a:rPr lang="zh-CN" altLang="en-US" dirty="0">
                <a:solidFill>
                  <a:srgbClr val="C00000"/>
                </a:solidFill>
              </a:rPr>
              <a:t>执行流程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4393097" y="1763351"/>
            <a:ext cx="1182756" cy="433197"/>
          </a:xfrm>
        </p:spPr>
        <p:txBody>
          <a:bodyPr/>
          <a:lstStyle/>
          <a:p>
            <a:r>
              <a:rPr lang="zh-CN" altLang="en-US" sz="1400" dirty="0"/>
              <a:t>加锁成功</a:t>
            </a:r>
            <a:endParaRPr lang="zh-CN" altLang="en-US" sz="1400" dirty="0"/>
          </a:p>
        </p:txBody>
      </p:sp>
      <p:sp>
        <p:nvSpPr>
          <p:cNvPr id="8" name="流程图: 决策 7"/>
          <p:cNvSpPr/>
          <p:nvPr/>
        </p:nvSpPr>
        <p:spPr bwMode="auto">
          <a:xfrm>
            <a:off x="3607905" y="2721981"/>
            <a:ext cx="1580322" cy="646043"/>
          </a:xfrm>
          <a:prstGeom prst="flowChartDecision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加锁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7890" y="2621250"/>
            <a:ext cx="1112361" cy="8574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/>
          <p:cNvSpPr/>
          <p:nvPr/>
        </p:nvSpPr>
        <p:spPr bwMode="auto">
          <a:xfrm>
            <a:off x="6167438" y="1838738"/>
            <a:ext cx="1580321" cy="64604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Watch dog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看门狗</a:t>
            </a:r>
            <a:endParaRPr lang="zh-CN" altLang="en-US" sz="14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226533" y="3690730"/>
            <a:ext cx="1580321" cy="646043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释放锁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 descr="卡通人物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9" y="2615964"/>
            <a:ext cx="858077" cy="8580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 descr="卡通人物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16" y="4792525"/>
            <a:ext cx="858077" cy="8580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流程图: 决策 15"/>
          <p:cNvSpPr/>
          <p:nvPr/>
        </p:nvSpPr>
        <p:spPr bwMode="auto">
          <a:xfrm>
            <a:off x="5877336" y="4931781"/>
            <a:ext cx="2521227" cy="584435"/>
          </a:xfrm>
          <a:prstGeom prst="flowChartDecision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是否加锁成功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/>
          <p:cNvCxnSpPr>
            <a:stCxn id="14" idx="3"/>
            <a:endCxn id="8" idx="1"/>
          </p:cNvCxnSpPr>
          <p:nvPr/>
        </p:nvCxnSpPr>
        <p:spPr>
          <a:xfrm>
            <a:off x="2001076" y="3045003"/>
            <a:ext cx="1606829" cy="0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/>
          <p:cNvCxnSpPr>
            <a:stCxn id="8" idx="0"/>
            <a:endCxn id="10" idx="1"/>
          </p:cNvCxnSpPr>
          <p:nvPr/>
        </p:nvCxnSpPr>
        <p:spPr>
          <a:xfrm rot="5400000" flipH="1" flipV="1">
            <a:off x="5002642" y="1557185"/>
            <a:ext cx="560221" cy="1769372"/>
          </a:xfrm>
          <a:prstGeom prst="bentConnector2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/>
          <p:cNvCxnSpPr>
            <a:stCxn id="10" idx="3"/>
            <a:endCxn id="9" idx="0"/>
          </p:cNvCxnSpPr>
          <p:nvPr/>
        </p:nvCxnSpPr>
        <p:spPr>
          <a:xfrm>
            <a:off x="7747759" y="2161760"/>
            <a:ext cx="2316312" cy="459490"/>
          </a:xfrm>
          <a:prstGeom prst="bentConnector2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/>
          <p:cNvCxnSpPr>
            <a:stCxn id="14" idx="2"/>
            <a:endCxn id="11" idx="1"/>
          </p:cNvCxnSpPr>
          <p:nvPr/>
        </p:nvCxnSpPr>
        <p:spPr>
          <a:xfrm rot="16200000" flipH="1">
            <a:off x="3129430" y="1916648"/>
            <a:ext cx="539711" cy="3654495"/>
          </a:xfrm>
          <a:prstGeom prst="bentConnector2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31"/>
          <p:cNvCxnSpPr>
            <a:stCxn id="11" idx="3"/>
            <a:endCxn id="9" idx="2"/>
          </p:cNvCxnSpPr>
          <p:nvPr/>
        </p:nvCxnSpPr>
        <p:spPr>
          <a:xfrm flipV="1">
            <a:off x="6806854" y="3478695"/>
            <a:ext cx="3257217" cy="535057"/>
          </a:xfrm>
          <a:prstGeom prst="bentConnector2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/>
          <p:cNvCxnSpPr>
            <a:stCxn id="16" idx="3"/>
            <a:endCxn id="9" idx="3"/>
          </p:cNvCxnSpPr>
          <p:nvPr/>
        </p:nvCxnSpPr>
        <p:spPr>
          <a:xfrm flipV="1">
            <a:off x="8398563" y="3049973"/>
            <a:ext cx="2221688" cy="2174026"/>
          </a:xfrm>
          <a:prstGeom prst="bentConnector3">
            <a:avLst>
              <a:gd name="adj1" fmla="val 110289"/>
            </a:avLst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占位符 5"/>
          <p:cNvSpPr txBox="1"/>
          <p:nvPr/>
        </p:nvSpPr>
        <p:spPr>
          <a:xfrm>
            <a:off x="5575853" y="1365785"/>
            <a:ext cx="3409121" cy="43319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每隔</a:t>
            </a:r>
            <a:r>
              <a:rPr lang="en-US" altLang="zh-CN" sz="1400" dirty="0"/>
              <a:t>(</a:t>
            </a:r>
            <a:r>
              <a:rPr lang="en-US" altLang="zh-CN" sz="1400" dirty="0" err="1"/>
              <a:t>releaseTime</a:t>
            </a:r>
            <a:r>
              <a:rPr lang="en-US" altLang="zh-CN" sz="1400" dirty="0"/>
              <a:t> / 3)</a:t>
            </a:r>
            <a:r>
              <a:rPr lang="zh-CN" altLang="en-US" sz="1400" dirty="0"/>
              <a:t>的时间做一次续期</a:t>
            </a:r>
            <a:endParaRPr lang="zh-CN" altLang="en-US" sz="1400" dirty="0"/>
          </a:p>
        </p:txBody>
      </p:sp>
      <p:grpSp>
        <p:nvGrpSpPr>
          <p:cNvPr id="75" name="组合 74"/>
          <p:cNvGrpSpPr/>
          <p:nvPr/>
        </p:nvGrpSpPr>
        <p:grpSpPr>
          <a:xfrm>
            <a:off x="4113146" y="5516216"/>
            <a:ext cx="3024805" cy="904462"/>
            <a:chOff x="4113146" y="5516216"/>
            <a:chExt cx="3024805" cy="904462"/>
          </a:xfrm>
        </p:grpSpPr>
        <p:cxnSp>
          <p:nvCxnSpPr>
            <p:cNvPr id="18" name="连接符: 肘形 17"/>
            <p:cNvCxnSpPr>
              <a:stCxn id="16" idx="2"/>
              <a:endCxn id="66" idx="2"/>
            </p:cNvCxnSpPr>
            <p:nvPr/>
          </p:nvCxnSpPr>
          <p:spPr>
            <a:xfrm rot="5400000">
              <a:off x="5609653" y="4019709"/>
              <a:ext cx="31791" cy="3024805"/>
            </a:xfrm>
            <a:prstGeom prst="bentConnector3">
              <a:avLst>
                <a:gd name="adj1" fmla="val 1381822"/>
              </a:avLst>
            </a:prstGeom>
            <a:ln w="19050"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占位符 5"/>
            <p:cNvSpPr txBox="1"/>
            <p:nvPr/>
          </p:nvSpPr>
          <p:spPr>
            <a:xfrm>
              <a:off x="4462670" y="5987481"/>
              <a:ext cx="2564294" cy="43319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/>
                <a:t>while</a:t>
              </a:r>
              <a:r>
                <a:rPr lang="zh-CN" altLang="en-US" sz="1400" dirty="0"/>
                <a:t>循环，不断尝试获取锁</a:t>
              </a:r>
              <a:endParaRPr lang="zh-CN" altLang="en-US" sz="1400" dirty="0"/>
            </a:p>
          </p:txBody>
        </p:sp>
      </p:grpSp>
      <p:cxnSp>
        <p:nvCxnSpPr>
          <p:cNvPr id="46" name="连接符: 肘形 45"/>
          <p:cNvCxnSpPr>
            <a:stCxn id="11" idx="0"/>
            <a:endCxn id="10" idx="2"/>
          </p:cNvCxnSpPr>
          <p:nvPr/>
        </p:nvCxnSpPr>
        <p:spPr>
          <a:xfrm rot="5400000" flipH="1" flipV="1">
            <a:off x="5884172" y="2617304"/>
            <a:ext cx="1205949" cy="940905"/>
          </a:xfrm>
          <a:prstGeom prst="bentConnector3">
            <a:avLst>
              <a:gd name="adj1" fmla="val 31868"/>
            </a:avLst>
          </a:prstGeom>
          <a:ln w="19050">
            <a:prstDash val="dash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15" idx="3"/>
            <a:endCxn id="66" idx="1"/>
          </p:cNvCxnSpPr>
          <p:nvPr/>
        </p:nvCxnSpPr>
        <p:spPr>
          <a:xfrm>
            <a:off x="1954693" y="5221564"/>
            <a:ext cx="1368291" cy="3422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/>
          <p:cNvGrpSpPr/>
          <p:nvPr/>
        </p:nvGrpSpPr>
        <p:grpSpPr>
          <a:xfrm>
            <a:off x="5188227" y="2637994"/>
            <a:ext cx="4319663" cy="433197"/>
            <a:chOff x="5188227" y="2637994"/>
            <a:chExt cx="4319663" cy="433197"/>
          </a:xfrm>
        </p:grpSpPr>
        <p:cxnSp>
          <p:nvCxnSpPr>
            <p:cNvPr id="23" name="直接箭头连接符 22"/>
            <p:cNvCxnSpPr>
              <a:stCxn id="8" idx="3"/>
              <a:endCxn id="9" idx="1"/>
            </p:cNvCxnSpPr>
            <p:nvPr/>
          </p:nvCxnSpPr>
          <p:spPr>
            <a:xfrm>
              <a:off x="5188227" y="3045003"/>
              <a:ext cx="4319663" cy="4970"/>
            </a:xfrm>
            <a:prstGeom prst="straightConnector1">
              <a:avLst/>
            </a:prstGeom>
            <a:ln w="19050"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占位符 5"/>
            <p:cNvSpPr txBox="1"/>
            <p:nvPr/>
          </p:nvSpPr>
          <p:spPr>
            <a:xfrm>
              <a:off x="5504622" y="2637994"/>
              <a:ext cx="1182756" cy="433197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操作</a:t>
              </a:r>
              <a:r>
                <a:rPr lang="en-US" altLang="zh-CN" sz="1400" dirty="0" err="1"/>
                <a:t>redis</a:t>
              </a:r>
              <a:endParaRPr lang="zh-CN" altLang="en-US" sz="1400" dirty="0"/>
            </a:p>
          </p:txBody>
        </p:sp>
      </p:grpSp>
      <p:sp>
        <p:nvSpPr>
          <p:cNvPr id="66" name="流程图: 决策 65"/>
          <p:cNvSpPr/>
          <p:nvPr/>
        </p:nvSpPr>
        <p:spPr bwMode="auto">
          <a:xfrm>
            <a:off x="3322984" y="4901964"/>
            <a:ext cx="1580322" cy="646043"/>
          </a:xfrm>
          <a:prstGeom prst="flowChartDecision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加锁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直接箭头连接符 69"/>
          <p:cNvCxnSpPr>
            <a:stCxn id="66" idx="3"/>
            <a:endCxn id="16" idx="1"/>
          </p:cNvCxnSpPr>
          <p:nvPr/>
        </p:nvCxnSpPr>
        <p:spPr>
          <a:xfrm flipV="1">
            <a:off x="4903306" y="5223999"/>
            <a:ext cx="974030" cy="987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图片 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009" y="2670947"/>
            <a:ext cx="5489091" cy="284844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文本占位符 5"/>
          <p:cNvSpPr txBox="1"/>
          <p:nvPr/>
        </p:nvSpPr>
        <p:spPr>
          <a:xfrm>
            <a:off x="8100392" y="3880385"/>
            <a:ext cx="3756991" cy="43319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rgbClr val="C00000"/>
                </a:solidFill>
              </a:rPr>
              <a:t>加锁、设置过期时间等操作都是基于</a:t>
            </a:r>
            <a:r>
              <a:rPr lang="en-US" altLang="zh-CN" sz="1200" dirty="0" err="1">
                <a:solidFill>
                  <a:srgbClr val="C00000"/>
                </a:solidFill>
              </a:rPr>
              <a:t>lua</a:t>
            </a:r>
            <a:r>
              <a:rPr lang="zh-CN" altLang="en-US" sz="1200" dirty="0">
                <a:solidFill>
                  <a:srgbClr val="C00000"/>
                </a:solidFill>
              </a:rPr>
              <a:t>脚本完成</a:t>
            </a:r>
            <a:endParaRPr lang="zh-CN" altLang="en-US" sz="1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animBg="1"/>
      <p:bldP spid="10" grpId="0" animBg="1"/>
      <p:bldP spid="11" grpId="0" animBg="1"/>
      <p:bldP spid="16" grpId="0" animBg="1"/>
      <p:bldP spid="43" grpId="0"/>
      <p:bldP spid="66" grpId="0" animBg="1"/>
      <p:bldP spid="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redisson</a:t>
            </a:r>
            <a:r>
              <a:rPr lang="zh-CN" altLang="en-US" dirty="0"/>
              <a:t>实现的分布式锁</a:t>
            </a:r>
            <a:r>
              <a:rPr lang="en-US" altLang="zh-CN" dirty="0"/>
              <a:t>-</a:t>
            </a:r>
            <a:r>
              <a:rPr lang="zh-CN" altLang="en-US" dirty="0"/>
              <a:t>可重入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97827" y="1793168"/>
            <a:ext cx="5781260" cy="592223"/>
          </a:xfrm>
        </p:spPr>
        <p:txBody>
          <a:bodyPr/>
          <a:lstStyle/>
          <a:p>
            <a:r>
              <a:rPr lang="zh-CN" altLang="en-US" sz="1600" dirty="0"/>
              <a:t>利用</a:t>
            </a:r>
            <a:r>
              <a:rPr lang="en-US" altLang="zh-CN" sz="1600" dirty="0">
                <a:solidFill>
                  <a:srgbClr val="C00000"/>
                </a:solidFill>
              </a:rPr>
              <a:t>hash</a:t>
            </a:r>
            <a:r>
              <a:rPr lang="zh-CN" altLang="en-US" sz="1600" dirty="0">
                <a:solidFill>
                  <a:srgbClr val="C00000"/>
                </a:solidFill>
              </a:rPr>
              <a:t>结构</a:t>
            </a:r>
            <a:r>
              <a:rPr lang="zh-CN" altLang="en-US" sz="1600" dirty="0"/>
              <a:t>记录</a:t>
            </a:r>
            <a:r>
              <a:rPr lang="zh-CN" altLang="en-US" sz="1600" dirty="0">
                <a:solidFill>
                  <a:srgbClr val="C00000"/>
                </a:solidFill>
              </a:rPr>
              <a:t>线程</a:t>
            </a:r>
            <a:r>
              <a:rPr lang="en-US" altLang="zh-CN" sz="1600" dirty="0">
                <a:solidFill>
                  <a:srgbClr val="C00000"/>
                </a:solidFill>
              </a:rPr>
              <a:t>id</a:t>
            </a:r>
            <a:r>
              <a:rPr lang="zh-CN" altLang="en-US" sz="1600" dirty="0"/>
              <a:t>和</a:t>
            </a:r>
            <a:r>
              <a:rPr lang="zh-CN" altLang="en-US" sz="1600" dirty="0">
                <a:solidFill>
                  <a:srgbClr val="C00000"/>
                </a:solidFill>
              </a:rPr>
              <a:t>重入次数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824948" y="1737156"/>
            <a:ext cx="4472608" cy="45565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add1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RLock lock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redissonClient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.getLock(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“</a:t>
            </a:r>
            <a:r>
              <a:rPr kumimoji="0" lang="en-US" altLang="zh-CN" sz="13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heima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lock"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boolean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isLock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lock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.tryLock();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执行业务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add2();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释放锁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lock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.unlock();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add2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RLock lock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redissonClient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.getLock(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“</a:t>
            </a:r>
            <a:r>
              <a:rPr kumimoji="0" lang="en-US" altLang="zh-CN" sz="13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heima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lock"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boolean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isLock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lock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.tryLock();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执行业务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//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释放锁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lock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.unlock();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5947480" y="2621819"/>
          <a:ext cx="2736738" cy="138754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105785"/>
                <a:gridCol w="871869"/>
                <a:gridCol w="759084"/>
              </a:tblGrid>
              <a:tr h="416031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KEY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VALUE</a:t>
                      </a:r>
                      <a:endParaRPr lang="zh-CN" altLang="en-US" sz="1600"/>
                    </a:p>
                  </a:txBody>
                  <a:tcPr anchor="ctr">
                    <a:solidFill>
                      <a:srgbClr val="AD2A26"/>
                    </a:solidFill>
                  </a:tcPr>
                </a:tc>
                <a:tc hMerge="1">
                  <a:tcPr/>
                </a:tc>
              </a:tr>
              <a:tr h="416031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field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value</a:t>
                      </a:r>
                      <a:endParaRPr lang="zh-CN" altLang="en-US" sz="140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555487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003486" y="3573324"/>
            <a:ext cx="554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1</a:t>
            </a:r>
            <a:endParaRPr lang="en-US" altLang="zh-CN" sz="1400" dirty="0"/>
          </a:p>
        </p:txBody>
      </p:sp>
      <p:sp>
        <p:nvSpPr>
          <p:cNvPr id="7" name="文本框 6"/>
          <p:cNvSpPr txBox="1"/>
          <p:nvPr/>
        </p:nvSpPr>
        <p:spPr>
          <a:xfrm>
            <a:off x="8003486" y="3573324"/>
            <a:ext cx="554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2</a:t>
            </a:r>
            <a:endParaRPr lang="en-US" altLang="zh-CN" sz="1400" dirty="0"/>
          </a:p>
        </p:txBody>
      </p:sp>
      <p:sp>
        <p:nvSpPr>
          <p:cNvPr id="8" name="文本框 7"/>
          <p:cNvSpPr txBox="1"/>
          <p:nvPr/>
        </p:nvSpPr>
        <p:spPr>
          <a:xfrm>
            <a:off x="8003486" y="3573324"/>
            <a:ext cx="554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0</a:t>
            </a:r>
            <a:endParaRPr lang="en-US" altLang="zh-CN" sz="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8003486" y="3573324"/>
            <a:ext cx="554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2</a:t>
            </a:r>
            <a:endParaRPr lang="en-US" altLang="zh-CN" sz="1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846142" y="3573324"/>
            <a:ext cx="13497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/>
              <a:t>heimalock</a:t>
            </a:r>
            <a:endParaRPr lang="en-US" altLang="zh-CN" sz="1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6909628" y="3573324"/>
            <a:ext cx="1141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thread1</a:t>
            </a:r>
            <a:endParaRPr lang="en-US" altLang="zh-CN" sz="14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xit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animBg="1"/>
      <p:bldP spid="6" grpId="0"/>
      <p:bldP spid="6" grpId="1"/>
      <p:bldP spid="6" grpId="2"/>
      <p:bldP spid="6" grpId="3"/>
      <p:bldP spid="7" grpId="0"/>
      <p:bldP spid="7" grpId="1"/>
      <p:bldP spid="8" grpId="0"/>
      <p:bldP spid="10" grpId="0"/>
      <p:bldP spid="10" grpId="1"/>
      <p:bldP spid="11" grpId="0"/>
      <p:bldP spid="1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/>
          <p:cNvSpPr txBox="1"/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400" dirty="0" err="1"/>
              <a:t>redisson</a:t>
            </a:r>
            <a:r>
              <a:rPr lang="zh-CN" altLang="en-US" sz="2400" dirty="0"/>
              <a:t>实现的分布式锁</a:t>
            </a:r>
            <a:r>
              <a:rPr lang="en-US" altLang="zh-CN" sz="2400" dirty="0"/>
              <a:t>-</a:t>
            </a:r>
            <a:r>
              <a:rPr lang="zh-CN" altLang="en-US" sz="2400" dirty="0"/>
              <a:t>主从一致性</a:t>
            </a:r>
            <a:endParaRPr lang="en-US" altLang="zh-CN" sz="2400" dirty="0"/>
          </a:p>
        </p:txBody>
      </p:sp>
      <p:sp>
        <p:nvSpPr>
          <p:cNvPr id="2" name="矩形: 圆角 1"/>
          <p:cNvSpPr/>
          <p:nvPr/>
        </p:nvSpPr>
        <p:spPr>
          <a:xfrm>
            <a:off x="5844209" y="3240156"/>
            <a:ext cx="1967948" cy="82494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Master</a:t>
            </a:r>
            <a:endParaRPr lang="zh-CN" altLang="en-US"/>
          </a:p>
        </p:txBody>
      </p:sp>
      <p:sp>
        <p:nvSpPr>
          <p:cNvPr id="55" name="矩形: 圆角 54"/>
          <p:cNvSpPr/>
          <p:nvPr/>
        </p:nvSpPr>
        <p:spPr>
          <a:xfrm>
            <a:off x="7407966" y="1712843"/>
            <a:ext cx="1967948" cy="82494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sp>
        <p:nvSpPr>
          <p:cNvPr id="56" name="矩形: 圆角 55"/>
          <p:cNvSpPr/>
          <p:nvPr/>
        </p:nvSpPr>
        <p:spPr>
          <a:xfrm>
            <a:off x="7407966" y="4767469"/>
            <a:ext cx="1967948" cy="82494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sp>
        <p:nvSpPr>
          <p:cNvPr id="58" name="矩形: 圆角 57"/>
          <p:cNvSpPr/>
          <p:nvPr/>
        </p:nvSpPr>
        <p:spPr>
          <a:xfrm>
            <a:off x="858079" y="3240155"/>
            <a:ext cx="1967948" cy="82494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</a:t>
            </a:r>
            <a:endParaRPr lang="zh-CN" altLang="en-US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5" name="直接箭头连接符 4"/>
          <p:cNvCxnSpPr>
            <a:stCxn id="58" idx="3"/>
            <a:endCxn id="2" idx="1"/>
          </p:cNvCxnSpPr>
          <p:nvPr/>
        </p:nvCxnSpPr>
        <p:spPr>
          <a:xfrm>
            <a:off x="2826027" y="3652629"/>
            <a:ext cx="30181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194048" y="3240155"/>
            <a:ext cx="19736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获取锁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 lock thread1 NX EX 10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0" y="3811186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cxnSp>
        <p:nvCxnSpPr>
          <p:cNvPr id="13" name="直接箭头连接符 12"/>
          <p:cNvCxnSpPr>
            <a:stCxn id="2" idx="0"/>
            <a:endCxn id="55" idx="2"/>
          </p:cNvCxnSpPr>
          <p:nvPr/>
        </p:nvCxnSpPr>
        <p:spPr>
          <a:xfrm flipV="1">
            <a:off x="6828183" y="2537790"/>
            <a:ext cx="1563757" cy="702366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9" idx="2"/>
            <a:endCxn id="56" idx="0"/>
          </p:cNvCxnSpPr>
          <p:nvPr/>
        </p:nvCxnSpPr>
        <p:spPr>
          <a:xfrm>
            <a:off x="6831496" y="4065102"/>
            <a:ext cx="1560444" cy="702367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808632" y="275793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主从同步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7808632" y="431086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主从同步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闪电形 16"/>
          <p:cNvSpPr/>
          <p:nvPr/>
        </p:nvSpPr>
        <p:spPr>
          <a:xfrm rot="276132">
            <a:off x="5836885" y="3253023"/>
            <a:ext cx="1838938" cy="739494"/>
          </a:xfrm>
          <a:prstGeom prst="lightningBol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5" grpId="0" animBg="1"/>
      <p:bldP spid="56" grpId="0" animBg="1"/>
      <p:bldP spid="58" grpId="0" animBg="1"/>
      <p:bldP spid="8" grpId="0"/>
      <p:bldP spid="9" grpId="0"/>
      <p:bldP spid="16" grpId="0"/>
      <p:bldP spid="72" grpId="0"/>
      <p:bldP spid="1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/>
          <p:cNvSpPr txBox="1"/>
          <p:nvPr/>
        </p:nvSpPr>
        <p:spPr>
          <a:xfrm>
            <a:off x="711200" y="1029643"/>
            <a:ext cx="10698163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400" dirty="0" err="1"/>
              <a:t>redisson</a:t>
            </a:r>
            <a:r>
              <a:rPr lang="zh-CN" altLang="en-US" sz="2400" dirty="0"/>
              <a:t>实现的分布式锁</a:t>
            </a:r>
            <a:r>
              <a:rPr lang="en-US" altLang="zh-CN" sz="2400" dirty="0"/>
              <a:t>-</a:t>
            </a:r>
            <a:r>
              <a:rPr lang="zh-CN" altLang="en-US" sz="2400" dirty="0"/>
              <a:t>主从一致性</a:t>
            </a:r>
            <a:endParaRPr lang="en-US" altLang="zh-CN" sz="2400" dirty="0"/>
          </a:p>
        </p:txBody>
      </p:sp>
      <p:sp>
        <p:nvSpPr>
          <p:cNvPr id="2" name="矩形: 圆角 1"/>
          <p:cNvSpPr/>
          <p:nvPr/>
        </p:nvSpPr>
        <p:spPr>
          <a:xfrm>
            <a:off x="5844209" y="3240156"/>
            <a:ext cx="1967948" cy="82494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Master</a:t>
            </a:r>
            <a:endParaRPr lang="zh-CN" altLang="en-US"/>
          </a:p>
        </p:txBody>
      </p:sp>
      <p:sp>
        <p:nvSpPr>
          <p:cNvPr id="55" name="矩形: 圆角 54"/>
          <p:cNvSpPr/>
          <p:nvPr/>
        </p:nvSpPr>
        <p:spPr>
          <a:xfrm>
            <a:off x="7407966" y="1712843"/>
            <a:ext cx="1967948" cy="82494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Redis Slave</a:t>
            </a:r>
            <a:endParaRPr lang="zh-CN" altLang="en-US"/>
          </a:p>
        </p:txBody>
      </p:sp>
      <p:sp>
        <p:nvSpPr>
          <p:cNvPr id="56" name="矩形: 圆角 55"/>
          <p:cNvSpPr/>
          <p:nvPr/>
        </p:nvSpPr>
        <p:spPr>
          <a:xfrm>
            <a:off x="7407966" y="4767469"/>
            <a:ext cx="1967948" cy="82494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Master</a:t>
            </a:r>
            <a:endParaRPr lang="zh-CN" altLang="en-US"/>
          </a:p>
        </p:txBody>
      </p:sp>
      <p:sp>
        <p:nvSpPr>
          <p:cNvPr id="58" name="矩形: 圆角 57"/>
          <p:cNvSpPr/>
          <p:nvPr/>
        </p:nvSpPr>
        <p:spPr>
          <a:xfrm>
            <a:off x="858079" y="3240155"/>
            <a:ext cx="1967948" cy="82494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</a:t>
            </a:r>
            <a:endParaRPr lang="zh-CN" altLang="en-US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5" name="直接箭头连接符 4"/>
          <p:cNvCxnSpPr>
            <a:stCxn id="58" idx="3"/>
            <a:endCxn id="2" idx="1"/>
          </p:cNvCxnSpPr>
          <p:nvPr/>
        </p:nvCxnSpPr>
        <p:spPr>
          <a:xfrm>
            <a:off x="2826027" y="3652629"/>
            <a:ext cx="30181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194048" y="3240155"/>
            <a:ext cx="19736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获取锁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 lock thread1 NX EX 10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0" y="3811186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cxnSp>
        <p:nvCxnSpPr>
          <p:cNvPr id="13" name="直接箭头连接符 12"/>
          <p:cNvCxnSpPr>
            <a:stCxn id="56" idx="0"/>
            <a:endCxn id="55" idx="2"/>
          </p:cNvCxnSpPr>
          <p:nvPr/>
        </p:nvCxnSpPr>
        <p:spPr>
          <a:xfrm flipV="1">
            <a:off x="8391940" y="2537790"/>
            <a:ext cx="0" cy="2229679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437699" y="381118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主从同步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闪电形 16"/>
          <p:cNvSpPr/>
          <p:nvPr/>
        </p:nvSpPr>
        <p:spPr>
          <a:xfrm rot="276132">
            <a:off x="5836885" y="3253023"/>
            <a:ext cx="1838938" cy="739494"/>
          </a:xfrm>
          <a:prstGeom prst="lightningBol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446643" y="4426729"/>
            <a:ext cx="2167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两个线程同时持有一把锁</a:t>
            </a:r>
            <a:endParaRPr lang="zh-CN" altLang="en-US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871331" y="4767469"/>
            <a:ext cx="1967948" cy="82494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</a:t>
            </a:r>
            <a:endParaRPr lang="zh-CN" altLang="en-US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839279" y="4691268"/>
            <a:ext cx="4568687" cy="488675"/>
            <a:chOff x="2839279" y="4691268"/>
            <a:chExt cx="4568687" cy="488675"/>
          </a:xfrm>
        </p:grpSpPr>
        <p:cxnSp>
          <p:nvCxnSpPr>
            <p:cNvPr id="7" name="直接箭头连接符 6"/>
            <p:cNvCxnSpPr>
              <a:stCxn id="3" idx="3"/>
              <a:endCxn id="56" idx="1"/>
            </p:cNvCxnSpPr>
            <p:nvPr/>
          </p:nvCxnSpPr>
          <p:spPr>
            <a:xfrm>
              <a:off x="2839279" y="5179943"/>
              <a:ext cx="45686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3233805" y="4691268"/>
              <a:ext cx="197361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获取锁</a:t>
              </a:r>
              <a:endPara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SET lock thread1 NX EX 10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redisson</a:t>
            </a:r>
            <a:r>
              <a:rPr lang="zh-CN" altLang="en-US" dirty="0"/>
              <a:t>实现的分布式锁</a:t>
            </a:r>
            <a:r>
              <a:rPr lang="en-US" altLang="zh-CN" dirty="0"/>
              <a:t>-</a:t>
            </a:r>
            <a:r>
              <a:rPr lang="zh-CN" altLang="en-US" dirty="0"/>
              <a:t>主从一致性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72213" y="1630017"/>
            <a:ext cx="10863474" cy="924339"/>
          </a:xfrm>
        </p:spPr>
        <p:txBody>
          <a:bodyPr/>
          <a:lstStyle/>
          <a:p>
            <a:r>
              <a:rPr lang="en-US" altLang="zh-CN" dirty="0" err="1"/>
              <a:t>RedLock</a:t>
            </a:r>
            <a:r>
              <a:rPr lang="en-US" altLang="zh-CN" dirty="0"/>
              <a:t>(</a:t>
            </a:r>
            <a:r>
              <a:rPr lang="zh-CN" altLang="en-US" dirty="0"/>
              <a:t>红锁</a:t>
            </a:r>
            <a:r>
              <a:rPr lang="en-US" altLang="zh-CN" dirty="0"/>
              <a:t>)</a:t>
            </a:r>
            <a:r>
              <a:rPr lang="zh-CN" altLang="en-US" dirty="0"/>
              <a:t>：不能只在一个</a:t>
            </a:r>
            <a:r>
              <a:rPr lang="en-US" altLang="zh-CN" dirty="0" err="1"/>
              <a:t>redis</a:t>
            </a:r>
            <a:r>
              <a:rPr lang="zh-CN" altLang="en-US" dirty="0"/>
              <a:t>实例上创建锁，应该是在多个</a:t>
            </a:r>
            <a:r>
              <a:rPr lang="en-US" altLang="zh-CN" dirty="0" err="1"/>
              <a:t>redis</a:t>
            </a:r>
            <a:r>
              <a:rPr lang="zh-CN" altLang="en-US" dirty="0"/>
              <a:t>实例上创建锁</a:t>
            </a:r>
            <a:r>
              <a:rPr lang="en-US" altLang="zh-CN" dirty="0">
                <a:solidFill>
                  <a:srgbClr val="C00000"/>
                </a:solidFill>
              </a:rPr>
              <a:t>(n / 2 + 1)</a:t>
            </a:r>
            <a:r>
              <a:rPr lang="zh-CN" altLang="en-US" dirty="0"/>
              <a:t>，避免在一个</a:t>
            </a:r>
            <a:r>
              <a:rPr lang="en-US" altLang="zh-CN" dirty="0" err="1"/>
              <a:t>redis</a:t>
            </a:r>
            <a:r>
              <a:rPr lang="zh-CN" altLang="en-US" dirty="0"/>
              <a:t>实例上加锁。</a:t>
            </a:r>
            <a:endParaRPr lang="zh-CN" altLang="en-US" dirty="0"/>
          </a:p>
        </p:txBody>
      </p:sp>
      <p:sp>
        <p:nvSpPr>
          <p:cNvPr id="7" name="矩形: 圆角 6"/>
          <p:cNvSpPr/>
          <p:nvPr/>
        </p:nvSpPr>
        <p:spPr>
          <a:xfrm>
            <a:off x="7914857" y="3786813"/>
            <a:ext cx="1967948" cy="82494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Node</a:t>
            </a:r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7914857" y="2259500"/>
            <a:ext cx="1967948" cy="82494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Redis Node</a:t>
            </a:r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7914857" y="5314126"/>
            <a:ext cx="1967948" cy="82494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Redis Node</a:t>
            </a:r>
            <a:endParaRPr lang="zh-CN" altLang="en-US" dirty="0"/>
          </a:p>
        </p:txBody>
      </p:sp>
      <p:sp>
        <p:nvSpPr>
          <p:cNvPr id="10" name="矩形: 圆角 9"/>
          <p:cNvSpPr/>
          <p:nvPr/>
        </p:nvSpPr>
        <p:spPr>
          <a:xfrm>
            <a:off x="1364970" y="3786812"/>
            <a:ext cx="1967948" cy="82494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</a:t>
            </a:r>
            <a:endParaRPr lang="zh-CN" altLang="en-US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箭头连接符 10"/>
          <p:cNvCxnSpPr>
            <a:stCxn id="10" idx="3"/>
            <a:endCxn id="7" idx="1"/>
          </p:cNvCxnSpPr>
          <p:nvPr/>
        </p:nvCxnSpPr>
        <p:spPr>
          <a:xfrm>
            <a:off x="3332918" y="4199286"/>
            <a:ext cx="45819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576129" y="3796750"/>
            <a:ext cx="19736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获取锁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 lock thread1 NX EX 10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421754" y="4357843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cxnSp>
        <p:nvCxnSpPr>
          <p:cNvPr id="14" name="直接箭头连接符 13"/>
          <p:cNvCxnSpPr>
            <a:stCxn id="10" idx="3"/>
            <a:endCxn id="9" idx="1"/>
          </p:cNvCxnSpPr>
          <p:nvPr/>
        </p:nvCxnSpPr>
        <p:spPr>
          <a:xfrm>
            <a:off x="3332918" y="4199286"/>
            <a:ext cx="4581939" cy="1527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0" idx="3"/>
            <a:endCxn id="8" idx="1"/>
          </p:cNvCxnSpPr>
          <p:nvPr/>
        </p:nvCxnSpPr>
        <p:spPr>
          <a:xfrm flipV="1">
            <a:off x="3332918" y="2671974"/>
            <a:ext cx="4581939" cy="1527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421753" y="2830531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421752" y="5885157"/>
            <a:ext cx="1470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rgbClr val="FFFF00"/>
                </a:solidFill>
                <a:latin typeface="+mn-lt"/>
                <a:ea typeface="+mn-ea"/>
              </a:rPr>
              <a:t>lock = thread1</a:t>
            </a:r>
            <a:endParaRPr lang="zh-CN" altLang="en-US" sz="1050" dirty="0">
              <a:solidFill>
                <a:srgbClr val="FFFF00"/>
              </a:solidFill>
              <a:latin typeface="+mn-lt"/>
              <a:ea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 rot="20412642">
            <a:off x="4563750" y="3018918"/>
            <a:ext cx="19736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获取锁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 lock thread1 NX EX 10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 rot="980350">
            <a:off x="4349560" y="4440240"/>
            <a:ext cx="19736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获取锁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 lock thread1 NX EX 10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椭圆 36"/>
          <p:cNvSpPr/>
          <p:nvPr/>
        </p:nvSpPr>
        <p:spPr bwMode="auto">
          <a:xfrm>
            <a:off x="2792896" y="5158409"/>
            <a:ext cx="1371600" cy="13716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性能差</a:t>
            </a:r>
            <a:endParaRPr lang="zh-CN" altLang="en-US" sz="2800" b="1" dirty="0">
              <a:solidFill>
                <a:srgbClr val="C00000"/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8" name="椭圆 37"/>
          <p:cNvSpPr/>
          <p:nvPr/>
        </p:nvSpPr>
        <p:spPr bwMode="auto">
          <a:xfrm>
            <a:off x="4485862" y="5151782"/>
            <a:ext cx="1371600" cy="13716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运维繁琐</a:t>
            </a:r>
            <a:endParaRPr lang="zh-CN" altLang="en-US" sz="2800" b="1" dirty="0">
              <a:solidFill>
                <a:srgbClr val="C00000"/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9" name="椭圆 38"/>
          <p:cNvSpPr/>
          <p:nvPr/>
        </p:nvSpPr>
        <p:spPr bwMode="auto">
          <a:xfrm>
            <a:off x="1007167" y="5151781"/>
            <a:ext cx="1371600" cy="13716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ea typeface="阿里巴巴普惠体" panose="00020600040101010101" pitchFamily="18" charset="-122"/>
              </a:rPr>
              <a:t>实现复杂</a:t>
            </a:r>
            <a:endParaRPr lang="zh-CN" altLang="en-US" sz="2800" b="1" dirty="0">
              <a:solidFill>
                <a:srgbClr val="C00000"/>
              </a:solidFill>
              <a:ea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413169" y="4158285"/>
            <a:ext cx="1275249" cy="1198907"/>
            <a:chOff x="10413169" y="4158285"/>
            <a:chExt cx="1275249" cy="1198907"/>
          </a:xfrm>
        </p:grpSpPr>
        <p:sp>
          <p:nvSpPr>
            <p:cNvPr id="41" name="文本占位符 2"/>
            <p:cNvSpPr txBox="1"/>
            <p:nvPr/>
          </p:nvSpPr>
          <p:spPr>
            <a:xfrm>
              <a:off x="10413169" y="4158285"/>
              <a:ext cx="1275249" cy="693874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400" dirty="0">
                  <a:solidFill>
                    <a:schemeClr val="accent1">
                      <a:lumMod val="50000"/>
                    </a:schemeClr>
                  </a:solidFill>
                </a:rPr>
                <a:t>CP</a:t>
              </a:r>
              <a:r>
                <a:rPr lang="zh-CN" altLang="en-US" sz="2400" dirty="0">
                  <a:solidFill>
                    <a:schemeClr val="accent1">
                      <a:lumMod val="50000"/>
                    </a:schemeClr>
                  </a:solidFill>
                </a:rPr>
                <a:t>思想</a:t>
              </a:r>
              <a:endParaRPr lang="zh-CN" altLang="en-US" sz="24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42" name="文本占位符 2"/>
            <p:cNvSpPr txBox="1"/>
            <p:nvPr/>
          </p:nvSpPr>
          <p:spPr>
            <a:xfrm>
              <a:off x="10482744" y="4880114"/>
              <a:ext cx="1205674" cy="477078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zookeeper</a:t>
              </a:r>
              <a:endParaRPr lang="zh-CN" altLang="en-US" dirty="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363473" y="2428877"/>
            <a:ext cx="1275249" cy="1169088"/>
            <a:chOff x="10363473" y="2428877"/>
            <a:chExt cx="1275249" cy="1169088"/>
          </a:xfrm>
        </p:grpSpPr>
        <p:sp>
          <p:nvSpPr>
            <p:cNvPr id="40" name="文本占位符 2"/>
            <p:cNvSpPr txBox="1"/>
            <p:nvPr/>
          </p:nvSpPr>
          <p:spPr>
            <a:xfrm>
              <a:off x="10363473" y="2428877"/>
              <a:ext cx="1275249" cy="693874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400" dirty="0">
                  <a:solidFill>
                    <a:schemeClr val="accent1">
                      <a:lumMod val="50000"/>
                    </a:schemeClr>
                  </a:solidFill>
                </a:rPr>
                <a:t>AP</a:t>
              </a:r>
              <a:r>
                <a:rPr lang="zh-CN" altLang="en-US" sz="2400" dirty="0">
                  <a:solidFill>
                    <a:schemeClr val="accent1">
                      <a:lumMod val="50000"/>
                    </a:schemeClr>
                  </a:solidFill>
                </a:rPr>
                <a:t>思想</a:t>
              </a:r>
              <a:endParaRPr lang="zh-CN" altLang="en-US" sz="24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45" name="文本占位符 2"/>
            <p:cNvSpPr txBox="1"/>
            <p:nvPr/>
          </p:nvSpPr>
          <p:spPr>
            <a:xfrm>
              <a:off x="10734260" y="3120887"/>
              <a:ext cx="725558" cy="477078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 err="1"/>
                <a:t>redis</a:t>
              </a:r>
              <a:endParaRPr lang="zh-CN" altLang="en-US" dirty="0"/>
            </a:p>
          </p:txBody>
        </p:sp>
      </p:grpSp>
    </p:spTree>
  </p:cSld>
  <p:clrMapOvr>
    <a:masterClrMapping/>
  </p:clrMapOvr>
  <p:transition spd="slow">
    <p:push dir="u"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5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6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7" grpId="0" animBg="1"/>
          <p:bldP spid="38" grpId="0" animBg="1"/>
          <p:bldP spid="39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7" grpId="0" animBg="1"/>
          <p:bldP spid="38" grpId="0" animBg="1"/>
          <p:bldP spid="39" grpId="0" animBg="1"/>
        </p:bldLst>
      </p:timing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625" y="1064873"/>
            <a:ext cx="867323" cy="1167060"/>
          </a:xfrm>
          <a:prstGeom prst="rect">
            <a:avLst/>
          </a:prstGeom>
        </p:spPr>
      </p:pic>
      <p:grpSp>
        <p:nvGrpSpPr>
          <p:cNvPr id="5" name="组合 4"/>
          <p:cNvGrpSpPr/>
          <p:nvPr>
            <p:custDataLst>
              <p:tags r:id="rId3"/>
            </p:custDataLst>
          </p:nvPr>
        </p:nvGrpSpPr>
        <p:grpSpPr>
          <a:xfrm>
            <a:off x="1491880" y="922703"/>
            <a:ext cx="5992285" cy="588045"/>
            <a:chOff x="1415952" y="1021955"/>
            <a:chExt cx="7919788" cy="717988"/>
          </a:xfrm>
        </p:grpSpPr>
        <p:sp>
          <p:nvSpPr>
            <p:cNvPr id="6" name="任意多边形: 形状 5"/>
            <p:cNvSpPr/>
            <p:nvPr>
              <p:custDataLst>
                <p:tags r:id="rId4"/>
              </p:custDataLst>
            </p:nvPr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-1" fmla="*/ 803381 w 5319528"/>
                <a:gd name="connsiteY0-2" fmla="*/ 0 h 787065"/>
                <a:gd name="connsiteX1-3" fmla="*/ 5216541 w 5319528"/>
                <a:gd name="connsiteY1-4" fmla="*/ 0 h 787065"/>
                <a:gd name="connsiteX2-5" fmla="*/ 5319528 w 5319528"/>
                <a:gd name="connsiteY2-6" fmla="*/ 102987 h 787065"/>
                <a:gd name="connsiteX3-7" fmla="*/ 5319528 w 5319528"/>
                <a:gd name="connsiteY3-8" fmla="*/ 514924 h 787065"/>
                <a:gd name="connsiteX4-9" fmla="*/ 5216541 w 5319528"/>
                <a:gd name="connsiteY4-10" fmla="*/ 617911 h 787065"/>
                <a:gd name="connsiteX5-11" fmla="*/ 875800 w 5319528"/>
                <a:gd name="connsiteY5-12" fmla="*/ 617911 h 787065"/>
                <a:gd name="connsiteX6-13" fmla="*/ 0 w 5319528"/>
                <a:gd name="connsiteY6-14" fmla="*/ 787065 h 787065"/>
                <a:gd name="connsiteX7-15" fmla="*/ 700394 w 5319528"/>
                <a:gd name="connsiteY7-16" fmla="*/ 498849 h 787065"/>
                <a:gd name="connsiteX8-17" fmla="*/ 700394 w 5319528"/>
                <a:gd name="connsiteY8-18" fmla="*/ 102987 h 787065"/>
                <a:gd name="connsiteX9-19" fmla="*/ 803381 w 5319528"/>
                <a:gd name="connsiteY9-20" fmla="*/ 0 h 78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/>
            <p:cNvSpPr txBox="1"/>
            <p:nvPr>
              <p:custDataLst>
                <p:tags r:id="rId5"/>
              </p:custDataLst>
            </p:nvPr>
          </p:nvSpPr>
          <p:spPr>
            <a:xfrm>
              <a:off x="2476895" y="104064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分布式锁，是如何实现的？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文本占位符 2"/>
          <p:cNvSpPr txBox="1"/>
          <p:nvPr>
            <p:custDataLst>
              <p:tags r:id="rId6"/>
            </p:custDataLst>
          </p:nvPr>
        </p:nvSpPr>
        <p:spPr>
          <a:xfrm>
            <a:off x="4051357" y="1573576"/>
            <a:ext cx="6991017" cy="8615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先按照自己简历上的业务进行描述分布式锁使用的场景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我们当使用的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实现的分布式锁，底层是</a:t>
            </a:r>
            <a:r>
              <a:rPr lang="en-US" altLang="zh-CN" sz="1400" dirty="0" err="1">
                <a:solidFill>
                  <a:srgbClr val="C00000"/>
                </a:solidFill>
              </a:rPr>
              <a:t>setnx</a:t>
            </a:r>
            <a:r>
              <a:rPr lang="zh-CN" altLang="en-US" sz="1400" dirty="0"/>
              <a:t>和</a:t>
            </a:r>
            <a:r>
              <a:rPr lang="en-US" altLang="zh-CN" sz="1400" dirty="0" err="1">
                <a:solidFill>
                  <a:srgbClr val="C00000"/>
                </a:solidFill>
              </a:rPr>
              <a:t>lua</a:t>
            </a:r>
            <a:r>
              <a:rPr lang="zh-CN" altLang="en-US" sz="1400" dirty="0">
                <a:solidFill>
                  <a:srgbClr val="C00000"/>
                </a:solidFill>
              </a:rPr>
              <a:t>脚本</a:t>
            </a:r>
            <a:r>
              <a:rPr lang="zh-CN" altLang="en-US" sz="1400" dirty="0"/>
              <a:t>（保证原子性）</a:t>
            </a:r>
            <a:endParaRPr lang="en-US" altLang="zh-CN" sz="1400" dirty="0">
              <a:solidFill>
                <a:srgbClr val="C00000"/>
              </a:solidFill>
            </a:endParaRPr>
          </a:p>
          <a:p>
            <a:endParaRPr lang="en-US" altLang="zh-CN" sz="1400" dirty="0">
              <a:solidFill>
                <a:srgbClr val="C00000"/>
              </a:solidFill>
            </a:endParaRPr>
          </a:p>
        </p:txBody>
      </p:sp>
      <p:pic>
        <p:nvPicPr>
          <p:cNvPr id="9" name="图形 8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807" y="2575623"/>
            <a:ext cx="867323" cy="1167060"/>
          </a:xfrm>
          <a:prstGeom prst="rect">
            <a:avLst/>
          </a:prstGeom>
        </p:spPr>
      </p:pic>
      <p:grpSp>
        <p:nvGrpSpPr>
          <p:cNvPr id="10" name="组合 9"/>
          <p:cNvGrpSpPr/>
          <p:nvPr>
            <p:custDataLst>
              <p:tags r:id="rId7"/>
            </p:custDataLst>
          </p:nvPr>
        </p:nvGrpSpPr>
        <p:grpSpPr>
          <a:xfrm>
            <a:off x="1441175" y="2543726"/>
            <a:ext cx="6042992" cy="557285"/>
            <a:chOff x="1415952" y="994435"/>
            <a:chExt cx="7907155" cy="745508"/>
          </a:xfrm>
        </p:grpSpPr>
        <p:sp>
          <p:nvSpPr>
            <p:cNvPr id="11" name="任意多边形: 形状 10"/>
            <p:cNvSpPr/>
            <p:nvPr>
              <p:custDataLst>
                <p:tags r:id="rId8"/>
              </p:custDataLst>
            </p:nvPr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-1" fmla="*/ 803381 w 5319528"/>
                <a:gd name="connsiteY0-2" fmla="*/ 0 h 787065"/>
                <a:gd name="connsiteX1-3" fmla="*/ 5216541 w 5319528"/>
                <a:gd name="connsiteY1-4" fmla="*/ 0 h 787065"/>
                <a:gd name="connsiteX2-5" fmla="*/ 5319528 w 5319528"/>
                <a:gd name="connsiteY2-6" fmla="*/ 102987 h 787065"/>
                <a:gd name="connsiteX3-7" fmla="*/ 5319528 w 5319528"/>
                <a:gd name="connsiteY3-8" fmla="*/ 514924 h 787065"/>
                <a:gd name="connsiteX4-9" fmla="*/ 5216541 w 5319528"/>
                <a:gd name="connsiteY4-10" fmla="*/ 617911 h 787065"/>
                <a:gd name="connsiteX5-11" fmla="*/ 875800 w 5319528"/>
                <a:gd name="connsiteY5-12" fmla="*/ 617911 h 787065"/>
                <a:gd name="connsiteX6-13" fmla="*/ 0 w 5319528"/>
                <a:gd name="connsiteY6-14" fmla="*/ 787065 h 787065"/>
                <a:gd name="connsiteX7-15" fmla="*/ 700394 w 5319528"/>
                <a:gd name="connsiteY7-16" fmla="*/ 498849 h 787065"/>
                <a:gd name="connsiteX8-17" fmla="*/ 700394 w 5319528"/>
                <a:gd name="connsiteY8-18" fmla="*/ 102987 h 787065"/>
                <a:gd name="connsiteX9-19" fmla="*/ 803381 w 5319528"/>
                <a:gd name="connsiteY9-20" fmla="*/ 0 h 78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占位符 6"/>
            <p:cNvSpPr txBox="1"/>
            <p:nvPr>
              <p:custDataLst>
                <p:tags r:id="rId9"/>
              </p:custDataLst>
            </p:nvPr>
          </p:nvSpPr>
          <p:spPr>
            <a:xfrm>
              <a:off x="2464262" y="994435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Redisson</a:t>
              </a:r>
              <a:r>
                <a:rPr lang="zh-CN" altLang="en-US" sz="1400" dirty="0">
                  <a:solidFill>
                    <a:schemeClr val="tx1"/>
                  </a:solidFill>
                </a:rPr>
                <a:t>实现分布式锁如何合理的控制锁的有效时长？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3" name="图形 12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729" y="3960475"/>
            <a:ext cx="867323" cy="1167060"/>
          </a:xfrm>
          <a:prstGeom prst="rect">
            <a:avLst/>
          </a:prstGeom>
        </p:spPr>
      </p:pic>
      <p:grpSp>
        <p:nvGrpSpPr>
          <p:cNvPr id="14" name="组合 13"/>
          <p:cNvGrpSpPr/>
          <p:nvPr>
            <p:custDataLst>
              <p:tags r:id="rId10"/>
            </p:custDataLst>
          </p:nvPr>
        </p:nvGrpSpPr>
        <p:grpSpPr>
          <a:xfrm>
            <a:off x="1345097" y="3928578"/>
            <a:ext cx="6042992" cy="557285"/>
            <a:chOff x="1415952" y="994435"/>
            <a:chExt cx="7907155" cy="745508"/>
          </a:xfrm>
        </p:grpSpPr>
        <p:sp>
          <p:nvSpPr>
            <p:cNvPr id="15" name="任意多边形: 形状 14"/>
            <p:cNvSpPr/>
            <p:nvPr>
              <p:custDataLst>
                <p:tags r:id="rId11"/>
              </p:custDataLst>
            </p:nvPr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-1" fmla="*/ 803381 w 5319528"/>
                <a:gd name="connsiteY0-2" fmla="*/ 0 h 787065"/>
                <a:gd name="connsiteX1-3" fmla="*/ 5216541 w 5319528"/>
                <a:gd name="connsiteY1-4" fmla="*/ 0 h 787065"/>
                <a:gd name="connsiteX2-5" fmla="*/ 5319528 w 5319528"/>
                <a:gd name="connsiteY2-6" fmla="*/ 102987 h 787065"/>
                <a:gd name="connsiteX3-7" fmla="*/ 5319528 w 5319528"/>
                <a:gd name="connsiteY3-8" fmla="*/ 514924 h 787065"/>
                <a:gd name="connsiteX4-9" fmla="*/ 5216541 w 5319528"/>
                <a:gd name="connsiteY4-10" fmla="*/ 617911 h 787065"/>
                <a:gd name="connsiteX5-11" fmla="*/ 875800 w 5319528"/>
                <a:gd name="connsiteY5-12" fmla="*/ 617911 h 787065"/>
                <a:gd name="connsiteX6-13" fmla="*/ 0 w 5319528"/>
                <a:gd name="connsiteY6-14" fmla="*/ 787065 h 787065"/>
                <a:gd name="connsiteX7-15" fmla="*/ 700394 w 5319528"/>
                <a:gd name="connsiteY7-16" fmla="*/ 498849 h 787065"/>
                <a:gd name="connsiteX8-17" fmla="*/ 700394 w 5319528"/>
                <a:gd name="connsiteY8-18" fmla="*/ 102987 h 787065"/>
                <a:gd name="connsiteX9-19" fmla="*/ 803381 w 5319528"/>
                <a:gd name="connsiteY9-20" fmla="*/ 0 h 78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占位符 6"/>
            <p:cNvSpPr txBox="1"/>
            <p:nvPr>
              <p:custDataLst>
                <p:tags r:id="rId12"/>
              </p:custDataLst>
            </p:nvPr>
          </p:nvSpPr>
          <p:spPr>
            <a:xfrm>
              <a:off x="2464262" y="994435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Redisson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的这个锁，可以重入吗？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7" name="图形 16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1103" y="5315509"/>
            <a:ext cx="867323" cy="1167060"/>
          </a:xfrm>
          <a:prstGeom prst="rect">
            <a:avLst/>
          </a:prstGeom>
        </p:spPr>
      </p:pic>
      <p:grpSp>
        <p:nvGrpSpPr>
          <p:cNvPr id="18" name="组合 17"/>
          <p:cNvGrpSpPr/>
          <p:nvPr>
            <p:custDataLst>
              <p:tags r:id="rId13"/>
            </p:custDataLst>
          </p:nvPr>
        </p:nvGrpSpPr>
        <p:grpSpPr>
          <a:xfrm>
            <a:off x="1338471" y="5283612"/>
            <a:ext cx="6042992" cy="557285"/>
            <a:chOff x="1415952" y="994435"/>
            <a:chExt cx="7907155" cy="745508"/>
          </a:xfrm>
        </p:grpSpPr>
        <p:sp>
          <p:nvSpPr>
            <p:cNvPr id="19" name="任意多边形: 形状 18"/>
            <p:cNvSpPr/>
            <p:nvPr>
              <p:custDataLst>
                <p:tags r:id="rId14"/>
              </p:custDataLst>
            </p:nvPr>
          </p:nvSpPr>
          <p:spPr bwMode="auto">
            <a:xfrm>
              <a:off x="1415952" y="1021955"/>
              <a:ext cx="6858846" cy="717988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-1" fmla="*/ 803381 w 5319528"/>
                <a:gd name="connsiteY0-2" fmla="*/ 0 h 787065"/>
                <a:gd name="connsiteX1-3" fmla="*/ 5216541 w 5319528"/>
                <a:gd name="connsiteY1-4" fmla="*/ 0 h 787065"/>
                <a:gd name="connsiteX2-5" fmla="*/ 5319528 w 5319528"/>
                <a:gd name="connsiteY2-6" fmla="*/ 102987 h 787065"/>
                <a:gd name="connsiteX3-7" fmla="*/ 5319528 w 5319528"/>
                <a:gd name="connsiteY3-8" fmla="*/ 514924 h 787065"/>
                <a:gd name="connsiteX4-9" fmla="*/ 5216541 w 5319528"/>
                <a:gd name="connsiteY4-10" fmla="*/ 617911 h 787065"/>
                <a:gd name="connsiteX5-11" fmla="*/ 875800 w 5319528"/>
                <a:gd name="connsiteY5-12" fmla="*/ 617911 h 787065"/>
                <a:gd name="connsiteX6-13" fmla="*/ 0 w 5319528"/>
                <a:gd name="connsiteY6-14" fmla="*/ 787065 h 787065"/>
                <a:gd name="connsiteX7-15" fmla="*/ 700394 w 5319528"/>
                <a:gd name="connsiteY7-16" fmla="*/ 498849 h 787065"/>
                <a:gd name="connsiteX8-17" fmla="*/ 700394 w 5319528"/>
                <a:gd name="connsiteY8-18" fmla="*/ 102987 h 787065"/>
                <a:gd name="connsiteX9-19" fmla="*/ 803381 w 5319528"/>
                <a:gd name="connsiteY9-20" fmla="*/ 0 h 78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5319528" h="787065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787065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占位符 6"/>
            <p:cNvSpPr txBox="1"/>
            <p:nvPr>
              <p:custDataLst>
                <p:tags r:id="rId15"/>
              </p:custDataLst>
            </p:nvPr>
          </p:nvSpPr>
          <p:spPr>
            <a:xfrm>
              <a:off x="2464262" y="994435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Redisson</a:t>
              </a:r>
              <a:r>
                <a:rPr lang="zh-CN" altLang="en-US" sz="1400" dirty="0">
                  <a:solidFill>
                    <a:schemeClr val="tx1"/>
                  </a:solidFill>
                </a:rPr>
                <a:t>锁能解决主从数据一致的问题吗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文本占位符 2"/>
          <p:cNvSpPr txBox="1"/>
          <p:nvPr>
            <p:custDataLst>
              <p:tags r:id="rId16"/>
            </p:custDataLst>
          </p:nvPr>
        </p:nvSpPr>
        <p:spPr>
          <a:xfrm>
            <a:off x="4021539" y="3034757"/>
            <a:ext cx="7408460" cy="8615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在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的分布式锁中，提供了一个</a:t>
            </a:r>
            <a:r>
              <a:rPr lang="en-US" altLang="zh-CN" sz="1400" dirty="0" err="1">
                <a:solidFill>
                  <a:srgbClr val="C00000"/>
                </a:solidFill>
              </a:rPr>
              <a:t>WatchDog</a:t>
            </a:r>
            <a:r>
              <a:rPr lang="en-US" altLang="zh-CN" sz="1400" dirty="0"/>
              <a:t>(</a:t>
            </a:r>
            <a:r>
              <a:rPr lang="zh-CN" altLang="en-US" sz="1400" dirty="0"/>
              <a:t>看门狗），一个线程获取锁成功以后，</a:t>
            </a:r>
            <a:r>
              <a:rPr lang="en-US" altLang="zh-CN" sz="1400" dirty="0"/>
              <a:t> </a:t>
            </a:r>
            <a:r>
              <a:rPr lang="en-US" altLang="zh-CN" sz="1400" dirty="0" err="1"/>
              <a:t>WatchDog</a:t>
            </a:r>
            <a:r>
              <a:rPr lang="zh-CN" altLang="en-US" sz="1400" dirty="0"/>
              <a:t>会给持有锁的线程</a:t>
            </a:r>
            <a:r>
              <a:rPr lang="zh-CN" altLang="en-US" sz="1400" dirty="0">
                <a:solidFill>
                  <a:srgbClr val="C00000"/>
                </a:solidFill>
              </a:rPr>
              <a:t>续期（默认是每隔</a:t>
            </a:r>
            <a:r>
              <a:rPr lang="en-US" altLang="zh-CN" sz="1400" dirty="0">
                <a:solidFill>
                  <a:srgbClr val="C00000"/>
                </a:solidFill>
              </a:rPr>
              <a:t>10</a:t>
            </a:r>
            <a:r>
              <a:rPr lang="zh-CN" altLang="en-US" sz="1400" dirty="0">
                <a:solidFill>
                  <a:srgbClr val="C00000"/>
                </a:solidFill>
              </a:rPr>
              <a:t>秒续期一次）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sp>
        <p:nvSpPr>
          <p:cNvPr id="22" name="文本占位符 2"/>
          <p:cNvSpPr txBox="1"/>
          <p:nvPr>
            <p:custDataLst>
              <p:tags r:id="rId17"/>
            </p:custDataLst>
          </p:nvPr>
        </p:nvSpPr>
        <p:spPr>
          <a:xfrm>
            <a:off x="4001661" y="4406357"/>
            <a:ext cx="7408460" cy="8615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可以重入，多个锁重入需要判断是否是当前线程，在</a:t>
            </a:r>
            <a:r>
              <a:rPr lang="en-US" altLang="zh-CN" sz="1400" dirty="0" err="1"/>
              <a:t>redis</a:t>
            </a:r>
            <a:r>
              <a:rPr lang="zh-CN" altLang="en-US" sz="1400" dirty="0"/>
              <a:t>中进行存储的时候使用的</a:t>
            </a:r>
            <a:r>
              <a:rPr lang="en-US" altLang="zh-CN" sz="1400" dirty="0">
                <a:solidFill>
                  <a:srgbClr val="C00000"/>
                </a:solidFill>
              </a:rPr>
              <a:t>hash</a:t>
            </a:r>
            <a:r>
              <a:rPr lang="zh-CN" altLang="en-US" sz="1400" dirty="0">
                <a:solidFill>
                  <a:srgbClr val="C00000"/>
                </a:solidFill>
              </a:rPr>
              <a:t>结构</a:t>
            </a:r>
            <a:r>
              <a:rPr lang="zh-CN" altLang="en-US" sz="1400" dirty="0"/>
              <a:t>，来存储</a:t>
            </a:r>
            <a:r>
              <a:rPr lang="zh-CN" altLang="en-US" sz="1400" dirty="0">
                <a:solidFill>
                  <a:srgbClr val="C00000"/>
                </a:solidFill>
              </a:rPr>
              <a:t>线程信息和重入的次数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sp>
        <p:nvSpPr>
          <p:cNvPr id="23" name="文本占位符 2"/>
          <p:cNvSpPr txBox="1"/>
          <p:nvPr>
            <p:custDataLst>
              <p:tags r:id="rId18"/>
            </p:custDataLst>
          </p:nvPr>
        </p:nvSpPr>
        <p:spPr>
          <a:xfrm>
            <a:off x="3981783" y="5748140"/>
            <a:ext cx="7408460" cy="8615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不能解决，但是可以使用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提供的</a:t>
            </a:r>
            <a:r>
              <a:rPr lang="zh-CN" altLang="en-US" sz="1400" dirty="0">
                <a:solidFill>
                  <a:srgbClr val="C00000"/>
                </a:solidFill>
              </a:rPr>
              <a:t>红锁</a:t>
            </a:r>
            <a:r>
              <a:rPr lang="zh-CN" altLang="en-US" sz="1400" dirty="0"/>
              <a:t>来解决，但是这样的话，</a:t>
            </a:r>
            <a:r>
              <a:rPr lang="zh-CN" altLang="en-US" sz="1400" dirty="0">
                <a:solidFill>
                  <a:srgbClr val="C00000"/>
                </a:solidFill>
              </a:rPr>
              <a:t>性能就太低了</a:t>
            </a:r>
            <a:r>
              <a:rPr lang="zh-CN" altLang="en-US" sz="1400" dirty="0"/>
              <a:t>，如果业务中非要</a:t>
            </a:r>
            <a:r>
              <a:rPr lang="zh-CN" altLang="en-US" sz="1400" dirty="0">
                <a:solidFill>
                  <a:srgbClr val="C00000"/>
                </a:solidFill>
              </a:rPr>
              <a:t>保证数据的强一致性</a:t>
            </a:r>
            <a:r>
              <a:rPr lang="zh-CN" altLang="en-US" sz="1400" dirty="0"/>
              <a:t>，建议采用</a:t>
            </a:r>
            <a:r>
              <a:rPr lang="en-US" altLang="zh-CN" sz="1400" dirty="0">
                <a:solidFill>
                  <a:srgbClr val="C00000"/>
                </a:solidFill>
              </a:rPr>
              <a:t>zookeeper</a:t>
            </a:r>
            <a:r>
              <a:rPr lang="zh-CN" altLang="en-US" sz="1400" dirty="0"/>
              <a:t>实现的分布式锁</a:t>
            </a:r>
            <a:endParaRPr lang="en-US" altLang="zh-CN" sz="1400" dirty="0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9596597" y="365666"/>
            <a:ext cx="5834608" cy="524097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22" grpId="0"/>
      <p:bldP spid="2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87436" y="2377441"/>
            <a:ext cx="5760538" cy="614238"/>
          </a:xfrm>
        </p:spPr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实现分布式锁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Redisson</a:t>
            </a:r>
            <a:r>
              <a:rPr lang="zh-CN" altLang="en-US" dirty="0"/>
              <a:t>实现的分布式锁</a:t>
            </a:r>
            <a:endParaRPr lang="zh-CN" altLang="en-US" dirty="0"/>
          </a:p>
        </p:txBody>
      </p:sp>
      <p:sp>
        <p:nvSpPr>
          <p:cNvPr id="3" name="文本占位符 2"/>
          <p:cNvSpPr txBox="1"/>
          <p:nvPr/>
        </p:nvSpPr>
        <p:spPr>
          <a:xfrm>
            <a:off x="5025393" y="2239498"/>
            <a:ext cx="6712721" cy="8615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先按照自己简历上的业务进行描述分布式锁使用的场景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我们当使用的</a:t>
            </a:r>
            <a:r>
              <a:rPr lang="en-US" altLang="zh-CN" sz="1400" dirty="0" err="1"/>
              <a:t>redisson</a:t>
            </a:r>
            <a:r>
              <a:rPr lang="zh-CN" altLang="en-US" sz="1400" dirty="0"/>
              <a:t>实现的分布式锁，底层是</a:t>
            </a:r>
            <a:r>
              <a:rPr lang="en-US" altLang="zh-CN" sz="1400" dirty="0" err="1"/>
              <a:t>setnx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lua</a:t>
            </a:r>
            <a:r>
              <a:rPr lang="zh-CN" altLang="en-US" sz="1400" dirty="0"/>
              <a:t>脚本（保证原子性）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5025392" y="4048419"/>
            <a:ext cx="6712721" cy="233159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底层基于</a:t>
            </a:r>
            <a:r>
              <a:rPr lang="en-US" altLang="zh-CN" sz="1400" dirty="0" err="1"/>
              <a:t>redis</a:t>
            </a:r>
            <a:r>
              <a:rPr lang="zh-CN" altLang="en-US" sz="1400" dirty="0"/>
              <a:t>的</a:t>
            </a:r>
            <a:r>
              <a:rPr lang="en-US" altLang="zh-CN" sz="1400" dirty="0" err="1"/>
              <a:t>setnx</a:t>
            </a:r>
            <a:r>
              <a:rPr lang="zh-CN" altLang="en-US" sz="1400" dirty="0"/>
              <a:t>命令做了改进封装，使用</a:t>
            </a:r>
            <a:r>
              <a:rPr lang="en-US" altLang="zh-CN" sz="1400" dirty="0" err="1"/>
              <a:t>lua</a:t>
            </a:r>
            <a:r>
              <a:rPr lang="zh-CN" altLang="en-US" sz="1400" dirty="0"/>
              <a:t>脚本保证命令的原子性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利用</a:t>
            </a:r>
            <a:r>
              <a:rPr lang="en-US" altLang="zh-CN" sz="1400" dirty="0"/>
              <a:t>hash</a:t>
            </a:r>
            <a:r>
              <a:rPr lang="zh-CN" altLang="en-US" sz="1400" dirty="0"/>
              <a:t>结构，记录线程标示和重入次数；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利用</a:t>
            </a:r>
            <a:r>
              <a:rPr lang="en-US" altLang="zh-CN" sz="1400" dirty="0" err="1"/>
              <a:t>watchDog</a:t>
            </a:r>
            <a:r>
              <a:rPr lang="zh-CN" altLang="en-US" sz="1400" dirty="0"/>
              <a:t>延续锁时间；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控制锁重试等待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 err="1"/>
              <a:t>Redlock</a:t>
            </a:r>
            <a:r>
              <a:rPr lang="zh-CN" altLang="en-US" sz="1400" dirty="0"/>
              <a:t>红锁解决主从数据一致的问题（不推荐）性能差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如果业务非要保证强一致性，建议采用</a:t>
            </a:r>
            <a:r>
              <a:rPr lang="en-US" altLang="zh-CN" sz="1400" dirty="0"/>
              <a:t>zookeeper</a:t>
            </a:r>
            <a:r>
              <a:rPr lang="zh-CN" altLang="en-US" sz="1400" dirty="0"/>
              <a:t>实现的分布式锁</a:t>
            </a:r>
            <a:endParaRPr lang="en-US" altLang="zh-CN" sz="1400" dirty="0"/>
          </a:p>
          <a:p>
            <a:endParaRPr lang="en-US" altLang="zh-CN" sz="1400" dirty="0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5923" y="1120074"/>
            <a:ext cx="5834608" cy="524097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 bwMode="auto">
          <a:xfrm>
            <a:off x="727088" y="1256757"/>
            <a:ext cx="4668661" cy="503092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46865" y="1354471"/>
            <a:ext cx="12291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使用场景</a:t>
            </a:r>
            <a:endParaRPr lang="zh-CN" altLang="en-US" sz="1600" b="1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6" name="矩形: 圆角 5"/>
          <p:cNvSpPr/>
          <p:nvPr/>
        </p:nvSpPr>
        <p:spPr bwMode="auto">
          <a:xfrm>
            <a:off x="6589335" y="1256757"/>
            <a:ext cx="4649333" cy="50309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79116" y="1351482"/>
            <a:ext cx="17910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其他面试题</a:t>
            </a:r>
            <a:endParaRPr lang="zh-CN" altLang="en-US" sz="1600" b="1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4458" y="1905409"/>
            <a:ext cx="4165424" cy="328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的数据持久化策略有哪些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什么是缓存穿透，怎么解决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什么是布隆过滤器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什么是缓存击穿，怎么解决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什么是缓存雪崩，怎么解决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双写问题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分布式锁如何实现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实现分布式锁如何合理的控制锁的有效时长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的数据过期策略有哪些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ea typeface="阿里巴巴普惠体" panose="00020600040101010101" pitchFamily="18" charset="-122"/>
              </a:rPr>
              <a:t>的数据淘汰策略有哪些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90992" y="1905409"/>
            <a:ext cx="4167342" cy="2643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集群有哪些方案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知道嘛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什么是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主从同步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你们使用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是单点还是集群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?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哪种集群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分片集群中数据是怎么存储和读取的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集群脑裂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怎么保证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的高并发高可用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你们用过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的事务吗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?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事务的命令有哪些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ea typeface="阿里巴巴普惠体" panose="00020600040101010101" pitchFamily="18" charset="-122"/>
              </a:rPr>
              <a:t>是单线程的，但是为什么还那么快？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7954" y="1398808"/>
            <a:ext cx="867323" cy="116706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415952" y="1021955"/>
            <a:ext cx="7624353" cy="859390"/>
            <a:chOff x="1415952" y="1021955"/>
            <a:chExt cx="7907155" cy="859390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集群有哪些方案</a:t>
              </a:r>
              <a:r>
                <a:rPr lang="en-US" altLang="zh-CN" sz="1400" dirty="0">
                  <a:solidFill>
                    <a:schemeClr val="tx1"/>
                  </a:solidFill>
                </a:rPr>
                <a:t>, </a:t>
              </a:r>
              <a:r>
                <a:rPr lang="zh-CN" altLang="en-US" sz="1400" dirty="0">
                  <a:solidFill>
                    <a:schemeClr val="tx1"/>
                  </a:solidFill>
                </a:rPr>
                <a:t>知道嘛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44787" y="1737343"/>
            <a:ext cx="5875387" cy="1799041"/>
            <a:chOff x="2266299" y="2633811"/>
            <a:chExt cx="8631088" cy="2694775"/>
          </a:xfrm>
        </p:grpSpPr>
        <p:sp>
          <p:nvSpPr>
            <p:cNvPr id="10" name="矩形: 圆角 9"/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占位符 6"/>
            <p:cNvSpPr txBox="1"/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在</a:t>
              </a:r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中提供的集群方案总共有三种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主从复制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哨兵模式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分片集群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304147" y="3749023"/>
            <a:ext cx="5915293" cy="2773697"/>
            <a:chOff x="2266299" y="2633811"/>
            <a:chExt cx="8631088" cy="2694775"/>
          </a:xfrm>
        </p:grpSpPr>
        <p:sp>
          <p:nvSpPr>
            <p:cNvPr id="13" name="矩形: 圆角 12"/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占位符 6"/>
            <p:cNvSpPr txBox="1"/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1.redis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主从数据同步的流程是什么？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2.</a:t>
              </a:r>
              <a:r>
                <a:rPr lang="zh-CN" altLang="en-US" sz="1400" dirty="0">
                  <a:solidFill>
                    <a:schemeClr val="tx1"/>
                  </a:solidFill>
                </a:rPr>
                <a:t>怎么保证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的高并发高可用？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3.</a:t>
              </a:r>
              <a:r>
                <a:rPr lang="zh-CN" altLang="en-US" sz="1400" dirty="0">
                  <a:solidFill>
                    <a:schemeClr val="tx1"/>
                  </a:solidFill>
                </a:rPr>
                <a:t>你们使用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是单点还是集群，哪种集群？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4.Redis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分片集群中数据是怎么存储和读取的？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5.Redis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集群脑裂，该怎么解决呢？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主从复制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62405"/>
          </a:xfrm>
        </p:spPr>
        <p:txBody>
          <a:bodyPr/>
          <a:lstStyle/>
          <a:p>
            <a:r>
              <a:rPr lang="zh-CN" altLang="en-US" dirty="0"/>
              <a:t>单节点</a:t>
            </a:r>
            <a:r>
              <a:rPr lang="en-US" altLang="zh-CN" dirty="0"/>
              <a:t>Redis</a:t>
            </a:r>
            <a:r>
              <a:rPr lang="zh-CN" altLang="en-US" dirty="0"/>
              <a:t>的并发能力是有上限的，要进一步提高</a:t>
            </a:r>
            <a:r>
              <a:rPr lang="en-US" altLang="zh-CN" dirty="0"/>
              <a:t>Redis</a:t>
            </a:r>
            <a:r>
              <a:rPr lang="zh-CN" altLang="en-US" dirty="0"/>
              <a:t>的并发能力，就需要搭建主从集群，实现读写分离。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iconfont-11805-5604182"/>
          <p:cNvSpPr/>
          <p:nvPr/>
        </p:nvSpPr>
        <p:spPr>
          <a:xfrm>
            <a:off x="1816506" y="4157049"/>
            <a:ext cx="609685" cy="494392"/>
          </a:xfrm>
          <a:custGeom>
            <a:avLst/>
            <a:gdLst>
              <a:gd name="connsiteX0" fmla="*/ 188429 w 517726"/>
              <a:gd name="connsiteY0" fmla="*/ 370045 h 462174"/>
              <a:gd name="connsiteX1" fmla="*/ 340297 w 517726"/>
              <a:gd name="connsiteY1" fmla="*/ 370045 h 462174"/>
              <a:gd name="connsiteX2" fmla="*/ 340297 w 517726"/>
              <a:gd name="connsiteY2" fmla="*/ 370073 h 462174"/>
              <a:gd name="connsiteX3" fmla="*/ 324817 w 517726"/>
              <a:gd name="connsiteY3" fmla="*/ 370073 h 462174"/>
              <a:gd name="connsiteX4" fmla="*/ 324817 w 517726"/>
              <a:gd name="connsiteY4" fmla="*/ 379044 h 462174"/>
              <a:gd name="connsiteX5" fmla="*/ 192909 w 517726"/>
              <a:gd name="connsiteY5" fmla="*/ 379044 h 462174"/>
              <a:gd name="connsiteX6" fmla="*/ 192909 w 517726"/>
              <a:gd name="connsiteY6" fmla="*/ 370311 h 462174"/>
              <a:gd name="connsiteX7" fmla="*/ 188429 w 517726"/>
              <a:gd name="connsiteY7" fmla="*/ 370311 h 462174"/>
              <a:gd name="connsiteX8" fmla="*/ 258768 w 517726"/>
              <a:gd name="connsiteY8" fmla="*/ 312479 h 462174"/>
              <a:gd name="connsiteX9" fmla="*/ 250481 w 517726"/>
              <a:gd name="connsiteY9" fmla="*/ 320764 h 462174"/>
              <a:gd name="connsiteX10" fmla="*/ 258768 w 517726"/>
              <a:gd name="connsiteY10" fmla="*/ 329097 h 462174"/>
              <a:gd name="connsiteX11" fmla="*/ 267054 w 517726"/>
              <a:gd name="connsiteY11" fmla="*/ 320764 h 462174"/>
              <a:gd name="connsiteX12" fmla="*/ 258768 w 517726"/>
              <a:gd name="connsiteY12" fmla="*/ 312479 h 462174"/>
              <a:gd name="connsiteX13" fmla="*/ 258768 w 517726"/>
              <a:gd name="connsiteY13" fmla="*/ 303337 h 462174"/>
              <a:gd name="connsiteX14" fmla="*/ 276007 w 517726"/>
              <a:gd name="connsiteY14" fmla="*/ 320574 h 462174"/>
              <a:gd name="connsiteX15" fmla="*/ 258768 w 517726"/>
              <a:gd name="connsiteY15" fmla="*/ 337810 h 462174"/>
              <a:gd name="connsiteX16" fmla="*/ 241481 w 517726"/>
              <a:gd name="connsiteY16" fmla="*/ 320574 h 462174"/>
              <a:gd name="connsiteX17" fmla="*/ 258768 w 517726"/>
              <a:gd name="connsiteY17" fmla="*/ 303337 h 462174"/>
              <a:gd name="connsiteX18" fmla="*/ 9000 w 517726"/>
              <a:gd name="connsiteY18" fmla="*/ 277768 h 462174"/>
              <a:gd name="connsiteX19" fmla="*/ 508726 w 517726"/>
              <a:gd name="connsiteY19" fmla="*/ 277768 h 462174"/>
              <a:gd name="connsiteX20" fmla="*/ 508726 w 517726"/>
              <a:gd name="connsiteY20" fmla="*/ 286720 h 462174"/>
              <a:gd name="connsiteX21" fmla="*/ 9000 w 517726"/>
              <a:gd name="connsiteY21" fmla="*/ 286720 h 462174"/>
              <a:gd name="connsiteX22" fmla="*/ 282722 w 517726"/>
              <a:gd name="connsiteY22" fmla="*/ 133545 h 462174"/>
              <a:gd name="connsiteX23" fmla="*/ 249767 w 517726"/>
              <a:gd name="connsiteY23" fmla="*/ 166446 h 462174"/>
              <a:gd name="connsiteX24" fmla="*/ 249767 w 517726"/>
              <a:gd name="connsiteY24" fmla="*/ 176778 h 462174"/>
              <a:gd name="connsiteX25" fmla="*/ 260101 w 517726"/>
              <a:gd name="connsiteY25" fmla="*/ 176778 h 462174"/>
              <a:gd name="connsiteX26" fmla="*/ 293008 w 517726"/>
              <a:gd name="connsiteY26" fmla="*/ 143829 h 462174"/>
              <a:gd name="connsiteX27" fmla="*/ 295056 w 517726"/>
              <a:gd name="connsiteY27" fmla="*/ 138687 h 462174"/>
              <a:gd name="connsiteX28" fmla="*/ 293008 w 517726"/>
              <a:gd name="connsiteY28" fmla="*/ 133545 h 462174"/>
              <a:gd name="connsiteX29" fmla="*/ 282722 w 517726"/>
              <a:gd name="connsiteY29" fmla="*/ 133545 h 462174"/>
              <a:gd name="connsiteX30" fmla="*/ 287865 w 517726"/>
              <a:gd name="connsiteY30" fmla="*/ 122546 h 462174"/>
              <a:gd name="connsiteX31" fmla="*/ 299294 w 517726"/>
              <a:gd name="connsiteY31" fmla="*/ 127260 h 462174"/>
              <a:gd name="connsiteX32" fmla="*/ 304009 w 517726"/>
              <a:gd name="connsiteY32" fmla="*/ 138687 h 462174"/>
              <a:gd name="connsiteX33" fmla="*/ 299294 w 517726"/>
              <a:gd name="connsiteY33" fmla="*/ 150114 h 462174"/>
              <a:gd name="connsiteX34" fmla="*/ 266387 w 517726"/>
              <a:gd name="connsiteY34" fmla="*/ 183016 h 462174"/>
              <a:gd name="connsiteX35" fmla="*/ 254958 w 517726"/>
              <a:gd name="connsiteY35" fmla="*/ 187730 h 462174"/>
              <a:gd name="connsiteX36" fmla="*/ 243529 w 517726"/>
              <a:gd name="connsiteY36" fmla="*/ 183016 h 462174"/>
              <a:gd name="connsiteX37" fmla="*/ 243529 w 517726"/>
              <a:gd name="connsiteY37" fmla="*/ 160209 h 462174"/>
              <a:gd name="connsiteX38" fmla="*/ 276436 w 517726"/>
              <a:gd name="connsiteY38" fmla="*/ 127260 h 462174"/>
              <a:gd name="connsiteX39" fmla="*/ 287865 w 517726"/>
              <a:gd name="connsiteY39" fmla="*/ 122546 h 462174"/>
              <a:gd name="connsiteX40" fmla="*/ 276436 w 517726"/>
              <a:gd name="connsiteY40" fmla="*/ 81359 h 462174"/>
              <a:gd name="connsiteX41" fmla="*/ 271292 w 517726"/>
              <a:gd name="connsiteY41" fmla="*/ 83359 h 462174"/>
              <a:gd name="connsiteX42" fmla="*/ 188429 w 517726"/>
              <a:gd name="connsiteY42" fmla="*/ 166256 h 462174"/>
              <a:gd name="connsiteX43" fmla="*/ 188429 w 517726"/>
              <a:gd name="connsiteY43" fmla="*/ 176540 h 462174"/>
              <a:gd name="connsiteX44" fmla="*/ 198716 w 517726"/>
              <a:gd name="connsiteY44" fmla="*/ 176540 h 462174"/>
              <a:gd name="connsiteX45" fmla="*/ 281579 w 517726"/>
              <a:gd name="connsiteY45" fmla="*/ 93644 h 462174"/>
              <a:gd name="connsiteX46" fmla="*/ 283627 w 517726"/>
              <a:gd name="connsiteY46" fmla="*/ 88501 h 462174"/>
              <a:gd name="connsiteX47" fmla="*/ 281579 w 517726"/>
              <a:gd name="connsiteY47" fmla="*/ 83359 h 462174"/>
              <a:gd name="connsiteX48" fmla="*/ 276436 w 517726"/>
              <a:gd name="connsiteY48" fmla="*/ 81359 h 462174"/>
              <a:gd name="connsiteX49" fmla="*/ 276435 w 517726"/>
              <a:gd name="connsiteY49" fmla="*/ 72598 h 462174"/>
              <a:gd name="connsiteX50" fmla="*/ 287865 w 517726"/>
              <a:gd name="connsiteY50" fmla="*/ 77312 h 462174"/>
              <a:gd name="connsiteX51" fmla="*/ 292580 w 517726"/>
              <a:gd name="connsiteY51" fmla="*/ 88740 h 462174"/>
              <a:gd name="connsiteX52" fmla="*/ 287865 w 517726"/>
              <a:gd name="connsiteY52" fmla="*/ 100167 h 462174"/>
              <a:gd name="connsiteX53" fmla="*/ 205002 w 517726"/>
              <a:gd name="connsiteY53" fmla="*/ 183016 h 462174"/>
              <a:gd name="connsiteX54" fmla="*/ 193573 w 517726"/>
              <a:gd name="connsiteY54" fmla="*/ 187730 h 462174"/>
              <a:gd name="connsiteX55" fmla="*/ 182143 w 517726"/>
              <a:gd name="connsiteY55" fmla="*/ 183016 h 462174"/>
              <a:gd name="connsiteX56" fmla="*/ 182143 w 517726"/>
              <a:gd name="connsiteY56" fmla="*/ 160209 h 462174"/>
              <a:gd name="connsiteX57" fmla="*/ 265006 w 517726"/>
              <a:gd name="connsiteY57" fmla="*/ 77312 h 462174"/>
              <a:gd name="connsiteX58" fmla="*/ 276435 w 517726"/>
              <a:gd name="connsiteY58" fmla="*/ 72598 h 462174"/>
              <a:gd name="connsiteX59" fmla="*/ 35191 w 517726"/>
              <a:gd name="connsiteY59" fmla="*/ 8953 h 462174"/>
              <a:gd name="connsiteX60" fmla="*/ 9000 w 517726"/>
              <a:gd name="connsiteY60" fmla="*/ 35193 h 462174"/>
              <a:gd name="connsiteX61" fmla="*/ 9000 w 517726"/>
              <a:gd name="connsiteY61" fmla="*/ 277768 h 462174"/>
              <a:gd name="connsiteX62" fmla="*/ 4464 w 517726"/>
              <a:gd name="connsiteY62" fmla="*/ 277768 h 462174"/>
              <a:gd name="connsiteX63" fmla="*/ 4464 w 517726"/>
              <a:gd name="connsiteY63" fmla="*/ 286720 h 462174"/>
              <a:gd name="connsiteX64" fmla="*/ 9000 w 517726"/>
              <a:gd name="connsiteY64" fmla="*/ 286720 h 462174"/>
              <a:gd name="connsiteX65" fmla="*/ 9000 w 517726"/>
              <a:gd name="connsiteY65" fmla="*/ 344118 h 462174"/>
              <a:gd name="connsiteX66" fmla="*/ 35191 w 517726"/>
              <a:gd name="connsiteY66" fmla="*/ 370311 h 462174"/>
              <a:gd name="connsiteX67" fmla="*/ 188429 w 517726"/>
              <a:gd name="connsiteY67" fmla="*/ 370311 h 462174"/>
              <a:gd name="connsiteX68" fmla="*/ 188429 w 517726"/>
              <a:gd name="connsiteY68" fmla="*/ 379044 h 462174"/>
              <a:gd name="connsiteX69" fmla="*/ 192909 w 517726"/>
              <a:gd name="connsiteY69" fmla="*/ 379044 h 462174"/>
              <a:gd name="connsiteX70" fmla="*/ 192909 w 517726"/>
              <a:gd name="connsiteY70" fmla="*/ 397217 h 462174"/>
              <a:gd name="connsiteX71" fmla="*/ 151242 w 517726"/>
              <a:gd name="connsiteY71" fmla="*/ 438887 h 462174"/>
              <a:gd name="connsiteX72" fmla="*/ 117622 w 517726"/>
              <a:gd name="connsiteY72" fmla="*/ 438887 h 462174"/>
              <a:gd name="connsiteX73" fmla="*/ 117622 w 517726"/>
              <a:gd name="connsiteY73" fmla="*/ 438649 h 462174"/>
              <a:gd name="connsiteX74" fmla="*/ 110431 w 517726"/>
              <a:gd name="connsiteY74" fmla="*/ 445792 h 462174"/>
              <a:gd name="connsiteX75" fmla="*/ 117622 w 517726"/>
              <a:gd name="connsiteY75" fmla="*/ 452983 h 462174"/>
              <a:gd name="connsiteX76" fmla="*/ 400342 w 517726"/>
              <a:gd name="connsiteY76" fmla="*/ 452983 h 462174"/>
              <a:gd name="connsiteX77" fmla="*/ 407485 w 517726"/>
              <a:gd name="connsiteY77" fmla="*/ 445792 h 462174"/>
              <a:gd name="connsiteX78" fmla="*/ 400342 w 517726"/>
              <a:gd name="connsiteY78" fmla="*/ 438649 h 462174"/>
              <a:gd name="connsiteX79" fmla="*/ 366484 w 517726"/>
              <a:gd name="connsiteY79" fmla="*/ 438649 h 462174"/>
              <a:gd name="connsiteX80" fmla="*/ 324817 w 517726"/>
              <a:gd name="connsiteY80" fmla="*/ 396979 h 462174"/>
              <a:gd name="connsiteX81" fmla="*/ 324817 w 517726"/>
              <a:gd name="connsiteY81" fmla="*/ 379044 h 462174"/>
              <a:gd name="connsiteX82" fmla="*/ 340297 w 517726"/>
              <a:gd name="connsiteY82" fmla="*/ 379044 h 462174"/>
              <a:gd name="connsiteX83" fmla="*/ 340297 w 517726"/>
              <a:gd name="connsiteY83" fmla="*/ 370073 h 462174"/>
              <a:gd name="connsiteX84" fmla="*/ 482535 w 517726"/>
              <a:gd name="connsiteY84" fmla="*/ 370073 h 462174"/>
              <a:gd name="connsiteX85" fmla="*/ 508726 w 517726"/>
              <a:gd name="connsiteY85" fmla="*/ 343880 h 462174"/>
              <a:gd name="connsiteX86" fmla="*/ 508726 w 517726"/>
              <a:gd name="connsiteY86" fmla="*/ 286720 h 462174"/>
              <a:gd name="connsiteX87" fmla="*/ 513262 w 517726"/>
              <a:gd name="connsiteY87" fmla="*/ 286720 h 462174"/>
              <a:gd name="connsiteX88" fmla="*/ 513262 w 517726"/>
              <a:gd name="connsiteY88" fmla="*/ 277768 h 462174"/>
              <a:gd name="connsiteX89" fmla="*/ 508726 w 517726"/>
              <a:gd name="connsiteY89" fmla="*/ 277768 h 462174"/>
              <a:gd name="connsiteX90" fmla="*/ 508726 w 517726"/>
              <a:gd name="connsiteY90" fmla="*/ 35193 h 462174"/>
              <a:gd name="connsiteX91" fmla="*/ 482535 w 517726"/>
              <a:gd name="connsiteY91" fmla="*/ 8953 h 462174"/>
              <a:gd name="connsiteX92" fmla="*/ 35191 w 517726"/>
              <a:gd name="connsiteY92" fmla="*/ 0 h 462174"/>
              <a:gd name="connsiteX93" fmla="*/ 482535 w 517726"/>
              <a:gd name="connsiteY93" fmla="*/ 0 h 462174"/>
              <a:gd name="connsiteX94" fmla="*/ 517726 w 517726"/>
              <a:gd name="connsiteY94" fmla="*/ 35193 h 462174"/>
              <a:gd name="connsiteX95" fmla="*/ 517726 w 517726"/>
              <a:gd name="connsiteY95" fmla="*/ 344118 h 462174"/>
              <a:gd name="connsiteX96" fmla="*/ 482535 w 517726"/>
              <a:gd name="connsiteY96" fmla="*/ 379264 h 462174"/>
              <a:gd name="connsiteX97" fmla="*/ 333817 w 517726"/>
              <a:gd name="connsiteY97" fmla="*/ 379264 h 462174"/>
              <a:gd name="connsiteX98" fmla="*/ 333817 w 517726"/>
              <a:gd name="connsiteY98" fmla="*/ 397217 h 462174"/>
              <a:gd name="connsiteX99" fmla="*/ 366484 w 517726"/>
              <a:gd name="connsiteY99" fmla="*/ 429886 h 462174"/>
              <a:gd name="connsiteX100" fmla="*/ 400342 w 517726"/>
              <a:gd name="connsiteY100" fmla="*/ 429886 h 462174"/>
              <a:gd name="connsiteX101" fmla="*/ 416438 w 517726"/>
              <a:gd name="connsiteY101" fmla="*/ 446030 h 462174"/>
              <a:gd name="connsiteX102" fmla="*/ 400342 w 517726"/>
              <a:gd name="connsiteY102" fmla="*/ 462174 h 462174"/>
              <a:gd name="connsiteX103" fmla="*/ 117622 w 517726"/>
              <a:gd name="connsiteY103" fmla="*/ 462174 h 462174"/>
              <a:gd name="connsiteX104" fmla="*/ 101478 w 517726"/>
              <a:gd name="connsiteY104" fmla="*/ 446030 h 462174"/>
              <a:gd name="connsiteX105" fmla="*/ 117622 w 517726"/>
              <a:gd name="connsiteY105" fmla="*/ 429886 h 462174"/>
              <a:gd name="connsiteX106" fmla="*/ 151432 w 517726"/>
              <a:gd name="connsiteY106" fmla="*/ 429886 h 462174"/>
              <a:gd name="connsiteX107" fmla="*/ 184147 w 517726"/>
              <a:gd name="connsiteY107" fmla="*/ 397217 h 462174"/>
              <a:gd name="connsiteX108" fmla="*/ 184147 w 517726"/>
              <a:gd name="connsiteY108" fmla="*/ 379264 h 462174"/>
              <a:gd name="connsiteX109" fmla="*/ 35191 w 517726"/>
              <a:gd name="connsiteY109" fmla="*/ 379264 h 462174"/>
              <a:gd name="connsiteX110" fmla="*/ 0 w 517726"/>
              <a:gd name="connsiteY110" fmla="*/ 344118 h 462174"/>
              <a:gd name="connsiteX111" fmla="*/ 0 w 517726"/>
              <a:gd name="connsiteY111" fmla="*/ 35193 h 462174"/>
              <a:gd name="connsiteX112" fmla="*/ 35191 w 517726"/>
              <a:gd name="connsiteY112" fmla="*/ 0 h 46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517726" h="462174">
                <a:moveTo>
                  <a:pt x="188429" y="370045"/>
                </a:moveTo>
                <a:lnTo>
                  <a:pt x="340297" y="370045"/>
                </a:lnTo>
                <a:lnTo>
                  <a:pt x="340297" y="370073"/>
                </a:lnTo>
                <a:lnTo>
                  <a:pt x="324817" y="370073"/>
                </a:lnTo>
                <a:lnTo>
                  <a:pt x="324817" y="379044"/>
                </a:lnTo>
                <a:lnTo>
                  <a:pt x="192909" y="379044"/>
                </a:lnTo>
                <a:lnTo>
                  <a:pt x="192909" y="370311"/>
                </a:lnTo>
                <a:lnTo>
                  <a:pt x="188429" y="370311"/>
                </a:lnTo>
                <a:close/>
                <a:moveTo>
                  <a:pt x="258768" y="312479"/>
                </a:moveTo>
                <a:cubicBezTo>
                  <a:pt x="254291" y="312479"/>
                  <a:pt x="250481" y="316098"/>
                  <a:pt x="250481" y="320764"/>
                </a:cubicBezTo>
                <a:cubicBezTo>
                  <a:pt x="250481" y="325478"/>
                  <a:pt x="254053" y="329097"/>
                  <a:pt x="258768" y="329097"/>
                </a:cubicBezTo>
                <a:cubicBezTo>
                  <a:pt x="263244" y="329097"/>
                  <a:pt x="267054" y="325478"/>
                  <a:pt x="267054" y="320764"/>
                </a:cubicBezTo>
                <a:cubicBezTo>
                  <a:pt x="267054" y="316098"/>
                  <a:pt x="263244" y="312479"/>
                  <a:pt x="258768" y="312479"/>
                </a:cubicBezTo>
                <a:close/>
                <a:moveTo>
                  <a:pt x="258768" y="303337"/>
                </a:moveTo>
                <a:cubicBezTo>
                  <a:pt x="268387" y="303337"/>
                  <a:pt x="276007" y="310908"/>
                  <a:pt x="276007" y="320574"/>
                </a:cubicBezTo>
                <a:cubicBezTo>
                  <a:pt x="276007" y="330192"/>
                  <a:pt x="268149" y="337810"/>
                  <a:pt x="258768" y="337810"/>
                </a:cubicBezTo>
                <a:cubicBezTo>
                  <a:pt x="249339" y="337810"/>
                  <a:pt x="241481" y="330192"/>
                  <a:pt x="241481" y="320574"/>
                </a:cubicBezTo>
                <a:cubicBezTo>
                  <a:pt x="241481" y="310908"/>
                  <a:pt x="249100" y="303337"/>
                  <a:pt x="258768" y="303337"/>
                </a:cubicBezTo>
                <a:close/>
                <a:moveTo>
                  <a:pt x="9000" y="277768"/>
                </a:moveTo>
                <a:lnTo>
                  <a:pt x="508726" y="277768"/>
                </a:lnTo>
                <a:lnTo>
                  <a:pt x="508726" y="286720"/>
                </a:lnTo>
                <a:lnTo>
                  <a:pt x="9000" y="286720"/>
                </a:lnTo>
                <a:close/>
                <a:moveTo>
                  <a:pt x="282722" y="133545"/>
                </a:moveTo>
                <a:lnTo>
                  <a:pt x="249767" y="166446"/>
                </a:lnTo>
                <a:cubicBezTo>
                  <a:pt x="246862" y="169351"/>
                  <a:pt x="246862" y="173874"/>
                  <a:pt x="249767" y="176778"/>
                </a:cubicBezTo>
                <a:cubicBezTo>
                  <a:pt x="252482" y="179445"/>
                  <a:pt x="257387" y="179445"/>
                  <a:pt x="260101" y="176778"/>
                </a:cubicBezTo>
                <a:lnTo>
                  <a:pt x="293008" y="143829"/>
                </a:lnTo>
                <a:cubicBezTo>
                  <a:pt x="294389" y="142496"/>
                  <a:pt x="295056" y="140687"/>
                  <a:pt x="295056" y="138687"/>
                </a:cubicBezTo>
                <a:cubicBezTo>
                  <a:pt x="295056" y="136687"/>
                  <a:pt x="294389" y="134878"/>
                  <a:pt x="293008" y="133545"/>
                </a:cubicBezTo>
                <a:cubicBezTo>
                  <a:pt x="290103" y="130640"/>
                  <a:pt x="285627" y="130640"/>
                  <a:pt x="282722" y="133545"/>
                </a:cubicBezTo>
                <a:close/>
                <a:moveTo>
                  <a:pt x="287865" y="122546"/>
                </a:moveTo>
                <a:cubicBezTo>
                  <a:pt x="292008" y="122546"/>
                  <a:pt x="296151" y="124117"/>
                  <a:pt x="299294" y="127260"/>
                </a:cubicBezTo>
                <a:cubicBezTo>
                  <a:pt x="302438" y="130402"/>
                  <a:pt x="304009" y="134449"/>
                  <a:pt x="304009" y="138687"/>
                </a:cubicBezTo>
                <a:cubicBezTo>
                  <a:pt x="304009" y="142925"/>
                  <a:pt x="302199" y="147210"/>
                  <a:pt x="299294" y="150114"/>
                </a:cubicBezTo>
                <a:lnTo>
                  <a:pt x="266387" y="183016"/>
                </a:lnTo>
                <a:cubicBezTo>
                  <a:pt x="263244" y="186158"/>
                  <a:pt x="259196" y="187730"/>
                  <a:pt x="254958" y="187730"/>
                </a:cubicBezTo>
                <a:cubicBezTo>
                  <a:pt x="250672" y="187730"/>
                  <a:pt x="246434" y="185968"/>
                  <a:pt x="243529" y="183016"/>
                </a:cubicBezTo>
                <a:cubicBezTo>
                  <a:pt x="237242" y="176778"/>
                  <a:pt x="237242" y="166446"/>
                  <a:pt x="243529" y="160209"/>
                </a:cubicBezTo>
                <a:lnTo>
                  <a:pt x="276436" y="127260"/>
                </a:lnTo>
                <a:cubicBezTo>
                  <a:pt x="279579" y="124117"/>
                  <a:pt x="283722" y="122546"/>
                  <a:pt x="287865" y="122546"/>
                </a:cubicBezTo>
                <a:close/>
                <a:moveTo>
                  <a:pt x="276436" y="81359"/>
                </a:moveTo>
                <a:cubicBezTo>
                  <a:pt x="274674" y="81359"/>
                  <a:pt x="272626" y="82026"/>
                  <a:pt x="271292" y="83359"/>
                </a:cubicBezTo>
                <a:lnTo>
                  <a:pt x="188429" y="166256"/>
                </a:lnTo>
                <a:cubicBezTo>
                  <a:pt x="185477" y="169160"/>
                  <a:pt x="185477" y="173636"/>
                  <a:pt x="188429" y="176540"/>
                </a:cubicBezTo>
                <a:cubicBezTo>
                  <a:pt x="191096" y="179207"/>
                  <a:pt x="196001" y="179207"/>
                  <a:pt x="198716" y="176540"/>
                </a:cubicBezTo>
                <a:lnTo>
                  <a:pt x="281579" y="93644"/>
                </a:lnTo>
                <a:cubicBezTo>
                  <a:pt x="282960" y="92311"/>
                  <a:pt x="283627" y="90549"/>
                  <a:pt x="283627" y="88501"/>
                </a:cubicBezTo>
                <a:cubicBezTo>
                  <a:pt x="283627" y="86502"/>
                  <a:pt x="282960" y="84692"/>
                  <a:pt x="281579" y="83359"/>
                </a:cubicBezTo>
                <a:cubicBezTo>
                  <a:pt x="280055" y="82264"/>
                  <a:pt x="278245" y="81359"/>
                  <a:pt x="276436" y="81359"/>
                </a:cubicBezTo>
                <a:close/>
                <a:moveTo>
                  <a:pt x="276435" y="72598"/>
                </a:moveTo>
                <a:cubicBezTo>
                  <a:pt x="280579" y="72598"/>
                  <a:pt x="284722" y="74170"/>
                  <a:pt x="287865" y="77312"/>
                </a:cubicBezTo>
                <a:cubicBezTo>
                  <a:pt x="291008" y="80455"/>
                  <a:pt x="292580" y="84502"/>
                  <a:pt x="292580" y="88740"/>
                </a:cubicBezTo>
                <a:cubicBezTo>
                  <a:pt x="292580" y="92977"/>
                  <a:pt x="290770" y="97262"/>
                  <a:pt x="287865" y="100167"/>
                </a:cubicBezTo>
                <a:lnTo>
                  <a:pt x="205002" y="183016"/>
                </a:lnTo>
                <a:cubicBezTo>
                  <a:pt x="201859" y="186158"/>
                  <a:pt x="197811" y="187730"/>
                  <a:pt x="193573" y="187730"/>
                </a:cubicBezTo>
                <a:cubicBezTo>
                  <a:pt x="189287" y="187730"/>
                  <a:pt x="185048" y="185968"/>
                  <a:pt x="182143" y="183016"/>
                </a:cubicBezTo>
                <a:cubicBezTo>
                  <a:pt x="175857" y="176778"/>
                  <a:pt x="175857" y="166446"/>
                  <a:pt x="182143" y="160209"/>
                </a:cubicBezTo>
                <a:lnTo>
                  <a:pt x="265006" y="77312"/>
                </a:lnTo>
                <a:cubicBezTo>
                  <a:pt x="268149" y="74170"/>
                  <a:pt x="272292" y="72598"/>
                  <a:pt x="276435" y="72598"/>
                </a:cubicBezTo>
                <a:close/>
                <a:moveTo>
                  <a:pt x="35191" y="8953"/>
                </a:moveTo>
                <a:cubicBezTo>
                  <a:pt x="20620" y="8953"/>
                  <a:pt x="9000" y="20859"/>
                  <a:pt x="9000" y="35193"/>
                </a:cubicBezTo>
                <a:lnTo>
                  <a:pt x="9000" y="277768"/>
                </a:lnTo>
                <a:lnTo>
                  <a:pt x="4464" y="277768"/>
                </a:lnTo>
                <a:lnTo>
                  <a:pt x="4464" y="286720"/>
                </a:lnTo>
                <a:lnTo>
                  <a:pt x="9000" y="286720"/>
                </a:lnTo>
                <a:lnTo>
                  <a:pt x="9000" y="344118"/>
                </a:lnTo>
                <a:cubicBezTo>
                  <a:pt x="9000" y="358643"/>
                  <a:pt x="20858" y="370311"/>
                  <a:pt x="35191" y="370311"/>
                </a:cubicBezTo>
                <a:lnTo>
                  <a:pt x="188429" y="370311"/>
                </a:lnTo>
                <a:lnTo>
                  <a:pt x="188429" y="379044"/>
                </a:lnTo>
                <a:lnTo>
                  <a:pt x="192909" y="379044"/>
                </a:lnTo>
                <a:lnTo>
                  <a:pt x="192909" y="397217"/>
                </a:lnTo>
                <a:cubicBezTo>
                  <a:pt x="192909" y="420028"/>
                  <a:pt x="174290" y="438887"/>
                  <a:pt x="151242" y="438887"/>
                </a:cubicBezTo>
                <a:lnTo>
                  <a:pt x="117622" y="438887"/>
                </a:lnTo>
                <a:lnTo>
                  <a:pt x="117622" y="438649"/>
                </a:lnTo>
                <a:cubicBezTo>
                  <a:pt x="113574" y="438649"/>
                  <a:pt x="110431" y="441982"/>
                  <a:pt x="110431" y="445792"/>
                </a:cubicBezTo>
                <a:cubicBezTo>
                  <a:pt x="110431" y="449602"/>
                  <a:pt x="113812" y="452983"/>
                  <a:pt x="117622" y="452983"/>
                </a:cubicBezTo>
                <a:lnTo>
                  <a:pt x="400342" y="452983"/>
                </a:lnTo>
                <a:cubicBezTo>
                  <a:pt x="404342" y="452983"/>
                  <a:pt x="407485" y="449602"/>
                  <a:pt x="407485" y="445792"/>
                </a:cubicBezTo>
                <a:cubicBezTo>
                  <a:pt x="407485" y="441982"/>
                  <a:pt x="404152" y="438649"/>
                  <a:pt x="400342" y="438649"/>
                </a:cubicBezTo>
                <a:lnTo>
                  <a:pt x="366484" y="438649"/>
                </a:lnTo>
                <a:cubicBezTo>
                  <a:pt x="343674" y="438649"/>
                  <a:pt x="324817" y="420028"/>
                  <a:pt x="324817" y="396979"/>
                </a:cubicBezTo>
                <a:lnTo>
                  <a:pt x="324817" y="379044"/>
                </a:lnTo>
                <a:lnTo>
                  <a:pt x="340297" y="379044"/>
                </a:lnTo>
                <a:lnTo>
                  <a:pt x="340297" y="370073"/>
                </a:lnTo>
                <a:lnTo>
                  <a:pt x="482535" y="370073"/>
                </a:lnTo>
                <a:cubicBezTo>
                  <a:pt x="497107" y="370073"/>
                  <a:pt x="508726" y="358215"/>
                  <a:pt x="508726" y="343880"/>
                </a:cubicBezTo>
                <a:lnTo>
                  <a:pt x="508726" y="286720"/>
                </a:lnTo>
                <a:lnTo>
                  <a:pt x="513262" y="286720"/>
                </a:lnTo>
                <a:lnTo>
                  <a:pt x="513262" y="277768"/>
                </a:lnTo>
                <a:lnTo>
                  <a:pt x="508726" y="277768"/>
                </a:lnTo>
                <a:lnTo>
                  <a:pt x="508726" y="35193"/>
                </a:lnTo>
                <a:cubicBezTo>
                  <a:pt x="508726" y="20620"/>
                  <a:pt x="496868" y="8953"/>
                  <a:pt x="482535" y="8953"/>
                </a:cubicBezTo>
                <a:close/>
                <a:moveTo>
                  <a:pt x="35191" y="0"/>
                </a:moveTo>
                <a:lnTo>
                  <a:pt x="482535" y="0"/>
                </a:lnTo>
                <a:cubicBezTo>
                  <a:pt x="502011" y="0"/>
                  <a:pt x="517726" y="15668"/>
                  <a:pt x="517726" y="35193"/>
                </a:cubicBezTo>
                <a:lnTo>
                  <a:pt x="517726" y="344118"/>
                </a:lnTo>
                <a:cubicBezTo>
                  <a:pt x="517726" y="363596"/>
                  <a:pt x="502011" y="379264"/>
                  <a:pt x="482535" y="379264"/>
                </a:cubicBezTo>
                <a:lnTo>
                  <a:pt x="333817" y="379264"/>
                </a:lnTo>
                <a:lnTo>
                  <a:pt x="333817" y="397217"/>
                </a:lnTo>
                <a:cubicBezTo>
                  <a:pt x="333817" y="415123"/>
                  <a:pt x="348341" y="429886"/>
                  <a:pt x="366484" y="429886"/>
                </a:cubicBezTo>
                <a:lnTo>
                  <a:pt x="400342" y="429886"/>
                </a:lnTo>
                <a:cubicBezTo>
                  <a:pt x="409295" y="429886"/>
                  <a:pt x="416438" y="437077"/>
                  <a:pt x="416438" y="446030"/>
                </a:cubicBezTo>
                <a:cubicBezTo>
                  <a:pt x="416438" y="454793"/>
                  <a:pt x="409057" y="462174"/>
                  <a:pt x="400342" y="462174"/>
                </a:cubicBezTo>
                <a:lnTo>
                  <a:pt x="117622" y="462174"/>
                </a:lnTo>
                <a:cubicBezTo>
                  <a:pt x="108669" y="462174"/>
                  <a:pt x="101478" y="454983"/>
                  <a:pt x="101478" y="446030"/>
                </a:cubicBezTo>
                <a:cubicBezTo>
                  <a:pt x="101478" y="437077"/>
                  <a:pt x="108669" y="429886"/>
                  <a:pt x="117622" y="429886"/>
                </a:cubicBezTo>
                <a:lnTo>
                  <a:pt x="151432" y="429886"/>
                </a:lnTo>
                <a:cubicBezTo>
                  <a:pt x="169385" y="429886"/>
                  <a:pt x="184147" y="415361"/>
                  <a:pt x="184147" y="397217"/>
                </a:cubicBezTo>
                <a:lnTo>
                  <a:pt x="184147" y="379264"/>
                </a:lnTo>
                <a:lnTo>
                  <a:pt x="35191" y="379264"/>
                </a:lnTo>
                <a:cubicBezTo>
                  <a:pt x="15715" y="379264"/>
                  <a:pt x="0" y="363596"/>
                  <a:pt x="0" y="344118"/>
                </a:cubicBezTo>
                <a:lnTo>
                  <a:pt x="0" y="35193"/>
                </a:lnTo>
                <a:cubicBezTo>
                  <a:pt x="0" y="15668"/>
                  <a:pt x="15715" y="0"/>
                  <a:pt x="35191" y="0"/>
                </a:cubicBezTo>
                <a:close/>
              </a:path>
            </a:pathLst>
          </a:cu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516" y="2432986"/>
            <a:ext cx="863177" cy="8380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矩形: 圆角 5"/>
          <p:cNvSpPr/>
          <p:nvPr/>
        </p:nvSpPr>
        <p:spPr>
          <a:xfrm>
            <a:off x="3953433" y="4116708"/>
            <a:ext cx="1452283" cy="681009"/>
          </a:xfrm>
          <a:prstGeom prst="roundRect">
            <a:avLst/>
          </a:prstGeom>
          <a:solidFill>
            <a:srgbClr val="48504F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RedisClient</a:t>
            </a:r>
            <a:endParaRPr lang="zh-CN" altLang="en-US" sz="1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516" y="4039888"/>
            <a:ext cx="863177" cy="8380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516" y="5646790"/>
            <a:ext cx="863177" cy="8380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文本框 8"/>
          <p:cNvSpPr txBox="1"/>
          <p:nvPr/>
        </p:nvSpPr>
        <p:spPr>
          <a:xfrm>
            <a:off x="8760227" y="430332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60227" y="2694725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slave/replica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760227" y="5910226"/>
            <a:ext cx="1627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slave/replica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2" name="直接箭头连接符 11"/>
          <p:cNvCxnSpPr>
            <a:stCxn id="4" idx="88"/>
            <a:endCxn id="6" idx="1"/>
          </p:cNvCxnSpPr>
          <p:nvPr/>
        </p:nvCxnSpPr>
        <p:spPr>
          <a:xfrm>
            <a:off x="2420934" y="4454180"/>
            <a:ext cx="1532499" cy="3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3"/>
            <a:endCxn id="7" idx="1"/>
          </p:cNvCxnSpPr>
          <p:nvPr/>
        </p:nvCxnSpPr>
        <p:spPr>
          <a:xfrm>
            <a:off x="5405716" y="4457213"/>
            <a:ext cx="2444800" cy="1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6" idx="3"/>
            <a:endCxn id="5" idx="1"/>
          </p:cNvCxnSpPr>
          <p:nvPr/>
        </p:nvCxnSpPr>
        <p:spPr>
          <a:xfrm flipV="1">
            <a:off x="5405716" y="2852004"/>
            <a:ext cx="2444800" cy="1605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6" idx="3"/>
            <a:endCxn id="8" idx="1"/>
          </p:cNvCxnSpPr>
          <p:nvPr/>
        </p:nvCxnSpPr>
        <p:spPr>
          <a:xfrm>
            <a:off x="5405716" y="4457213"/>
            <a:ext cx="2444800" cy="1608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628116" y="445418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写操作</a:t>
            </a:r>
            <a:endParaRPr lang="zh-CN" altLang="en-US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71288" y="307101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读操作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271288" y="548542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读操作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9" name="直接箭头连接符 18"/>
          <p:cNvCxnSpPr>
            <a:stCxn id="7" idx="0"/>
            <a:endCxn id="5" idx="2"/>
          </p:cNvCxnSpPr>
          <p:nvPr/>
        </p:nvCxnSpPr>
        <p:spPr>
          <a:xfrm flipV="1">
            <a:off x="8282105" y="3271022"/>
            <a:ext cx="0" cy="76886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7" idx="2"/>
            <a:endCxn id="8" idx="0"/>
          </p:cNvCxnSpPr>
          <p:nvPr/>
        </p:nvCxnSpPr>
        <p:spPr>
          <a:xfrm>
            <a:off x="8282105" y="4877924"/>
            <a:ext cx="0" cy="76886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8288296" y="344353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288296" y="497218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/>
      <p:bldP spid="10" grpId="0"/>
      <p:bldP spid="11" grpId="0"/>
      <p:bldP spid="16" grpId="0"/>
      <p:bldP spid="17" grpId="0"/>
      <p:bldP spid="18" grpId="0"/>
      <p:bldP spid="21" grpId="0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主从数据同步原理</a:t>
            </a:r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>
          <a:xfrm>
            <a:off x="3045212" y="2345551"/>
            <a:ext cx="721673" cy="4247481"/>
          </a:xfrm>
          <a:prstGeom prst="roundRect">
            <a:avLst/>
          </a:prstGeom>
          <a:gradFill flip="none" rotWithShape="1">
            <a:gsLst>
              <a:gs pos="0">
                <a:srgbClr val="DB4642"/>
              </a:gs>
              <a:gs pos="70000">
                <a:srgbClr val="AD2A26"/>
              </a:gs>
            </a:gsLst>
            <a:lin ang="5400000" scaled="1"/>
            <a:tileRect/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8381210" y="2345551"/>
            <a:ext cx="721672" cy="4247479"/>
          </a:xfrm>
          <a:prstGeom prst="roundRect">
            <a:avLst/>
          </a:prstGeom>
          <a:gradFill flip="none" rotWithShape="1">
            <a:gsLst>
              <a:gs pos="0">
                <a:srgbClr val="DB4642"/>
              </a:gs>
              <a:gs pos="70000">
                <a:srgbClr val="AD2A26"/>
              </a:gs>
            </a:gsLst>
            <a:lin ang="5400000" scaled="1"/>
            <a:tileRect/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989246" y="2037774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81210" y="206064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3770722" y="2735520"/>
            <a:ext cx="46104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531595" y="2482659"/>
            <a:ext cx="1234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请求数据同步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箭头: 右弧形 11"/>
          <p:cNvSpPr/>
          <p:nvPr/>
        </p:nvSpPr>
        <p:spPr>
          <a:xfrm>
            <a:off x="3791535" y="2828839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920591" y="2898151"/>
            <a:ext cx="18501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判断是否是第一次同步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3771900" y="3468833"/>
            <a:ext cx="4609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738209" y="3217990"/>
            <a:ext cx="29678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是第一次，返回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的数据版本信息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箭头: 右弧形 22"/>
          <p:cNvSpPr/>
          <p:nvPr/>
        </p:nvSpPr>
        <p:spPr>
          <a:xfrm>
            <a:off x="3791535" y="4121752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057621" y="4219345"/>
            <a:ext cx="19117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6.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bgsave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，生成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3771900" y="4738638"/>
            <a:ext cx="46339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4980908" y="4469753"/>
            <a:ext cx="1241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7.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发送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102882" y="2502748"/>
            <a:ext cx="1851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replicaof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命令，建立连接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277551" y="348002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保存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版本信息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304612" y="4725723"/>
            <a:ext cx="1272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清空本地数据，加载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箭头: 右弧形 31"/>
          <p:cNvSpPr/>
          <p:nvPr/>
        </p:nvSpPr>
        <p:spPr>
          <a:xfrm>
            <a:off x="9123461" y="4728478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箭头: 右弧形 32"/>
          <p:cNvSpPr/>
          <p:nvPr/>
        </p:nvSpPr>
        <p:spPr>
          <a:xfrm>
            <a:off x="9102882" y="3468833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箭头: 左弧形 33"/>
          <p:cNvSpPr/>
          <p:nvPr/>
        </p:nvSpPr>
        <p:spPr>
          <a:xfrm>
            <a:off x="2789933" y="4467330"/>
            <a:ext cx="249776" cy="591543"/>
          </a:xfrm>
          <a:prstGeom prst="curvedRigh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084352" y="4850398"/>
            <a:ext cx="638863" cy="4015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t"/>
          <a:lstStyle/>
          <a:p>
            <a:pPr algn="ctr"/>
            <a:r>
              <a:rPr lang="en-US" altLang="zh-CN" sz="1100" i="0">
                <a:solidFill>
                  <a:srgbClr val="555555"/>
                </a:solidFill>
                <a:effectLst/>
              </a:rPr>
              <a:t>repl_</a:t>
            </a:r>
            <a:endParaRPr lang="en-US" altLang="zh-CN" sz="1100" i="0">
              <a:solidFill>
                <a:srgbClr val="555555"/>
              </a:solidFill>
              <a:effectLst/>
            </a:endParaRPr>
          </a:p>
          <a:p>
            <a:pPr algn="ctr"/>
            <a:r>
              <a:rPr lang="en-US" altLang="zh-CN" sz="1100" i="0">
                <a:solidFill>
                  <a:srgbClr val="555555"/>
                </a:solidFill>
                <a:effectLst/>
              </a:rPr>
              <a:t>baklog</a:t>
            </a:r>
            <a:endParaRPr lang="zh-CN" altLang="en-US" sz="1100"/>
          </a:p>
        </p:txBody>
      </p:sp>
      <p:sp>
        <p:nvSpPr>
          <p:cNvPr id="38" name="文本框 37"/>
          <p:cNvSpPr txBox="1"/>
          <p:nvPr/>
        </p:nvSpPr>
        <p:spPr>
          <a:xfrm>
            <a:off x="1630835" y="4528576"/>
            <a:ext cx="1190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9.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记录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期间的所有命令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3771900" y="5629689"/>
            <a:ext cx="46148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4772689" y="5306039"/>
            <a:ext cx="2177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发送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repl_baklog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中的命令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284033" y="5807513"/>
            <a:ext cx="771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执行接收到的命令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箭头: 右弧形 41"/>
          <p:cNvSpPr/>
          <p:nvPr/>
        </p:nvSpPr>
        <p:spPr>
          <a:xfrm>
            <a:off x="9102882" y="5747737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364852"/>
          </a:xfrm>
        </p:spPr>
        <p:txBody>
          <a:bodyPr/>
          <a:lstStyle/>
          <a:p>
            <a:r>
              <a:rPr lang="zh-CN" altLang="en-US" dirty="0"/>
              <a:t>主从</a:t>
            </a:r>
            <a:r>
              <a:rPr lang="zh-CN" altLang="en-US" b="1" dirty="0">
                <a:solidFill>
                  <a:srgbClr val="AD2A26"/>
                </a:solidFill>
              </a:rPr>
              <a:t>全量同步</a:t>
            </a:r>
            <a:r>
              <a:rPr lang="zh-CN" altLang="en-US" dirty="0"/>
              <a:t>：</a:t>
            </a:r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3817855" y="1046623"/>
            <a:ext cx="79373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Replication 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：简称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，是数据集的标记，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一致则说明是同一数据集。每一个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都有唯一的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则会继承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节点的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811572" y="1558574"/>
            <a:ext cx="792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：偏移量，随着记录在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repl_baklog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中的数据增多而逐渐增大。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完成同步时也会记录当前同步的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。如果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小于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，说明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数据落后于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，需要更新。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57189" y="2472975"/>
            <a:ext cx="18916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endParaRPr lang="en-US" altLang="zh-CN" sz="12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734641" y="2887754"/>
            <a:ext cx="2231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zh-CN" altLang="en-US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是否一致</a:t>
            </a:r>
            <a:endParaRPr lang="en-US" altLang="zh-CN" sz="12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583049" y="3217990"/>
            <a:ext cx="18916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endParaRPr lang="en-US" altLang="zh-CN" sz="12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11" grpId="0"/>
      <p:bldP spid="12" grpId="0" animBg="1"/>
      <p:bldP spid="13" grpId="0"/>
      <p:bldP spid="16" grpId="0"/>
      <p:bldP spid="23" grpId="0" animBg="1"/>
      <p:bldP spid="24" grpId="0"/>
      <p:bldP spid="28" grpId="0"/>
      <p:bldP spid="29" grpId="0"/>
      <p:bldP spid="30" grpId="0"/>
      <p:bldP spid="31" grpId="0"/>
      <p:bldP spid="32" grpId="0" animBg="1"/>
      <p:bldP spid="33" grpId="0" animBg="1"/>
      <p:bldP spid="34" grpId="0" animBg="1"/>
      <p:bldP spid="36" grpId="0" animBg="1"/>
      <p:bldP spid="38" grpId="0"/>
      <p:bldP spid="40" grpId="0"/>
      <p:bldP spid="41" grpId="0"/>
      <p:bldP spid="42" grpId="0" animBg="1"/>
      <p:bldP spid="8" grpId="0"/>
      <p:bldP spid="14" grpId="0"/>
      <p:bldP spid="26" grpId="0"/>
      <p:bldP spid="35" grpId="0"/>
      <p:bldP spid="3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主从数据同步原理</a:t>
            </a:r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>
          <a:xfrm>
            <a:off x="3196041" y="2310200"/>
            <a:ext cx="721673" cy="3162752"/>
          </a:xfrm>
          <a:prstGeom prst="roundRect">
            <a:avLst/>
          </a:prstGeom>
          <a:gradFill flip="none" rotWithShape="1">
            <a:gsLst>
              <a:gs pos="0">
                <a:srgbClr val="DB4642"/>
              </a:gs>
              <a:gs pos="70000">
                <a:srgbClr val="AD2A26"/>
              </a:gs>
            </a:gsLst>
            <a:lin ang="5400000" scaled="1"/>
            <a:tileRect/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8381210" y="2310200"/>
            <a:ext cx="721672" cy="3162753"/>
          </a:xfrm>
          <a:prstGeom prst="roundRect">
            <a:avLst/>
          </a:prstGeom>
          <a:gradFill flip="none" rotWithShape="1">
            <a:gsLst>
              <a:gs pos="0">
                <a:srgbClr val="DB4642"/>
              </a:gs>
              <a:gs pos="70000">
                <a:srgbClr val="AD2A26"/>
              </a:gs>
            </a:gsLst>
            <a:lin ang="5400000" scaled="1"/>
            <a:tileRect/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140075" y="2002422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81210" y="2025292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3926840" y="2700168"/>
            <a:ext cx="44543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箭头: 右弧形 11"/>
          <p:cNvSpPr/>
          <p:nvPr/>
        </p:nvSpPr>
        <p:spPr>
          <a:xfrm>
            <a:off x="3942364" y="2793487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3931920" y="3433481"/>
            <a:ext cx="44492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箭头: 右弧形 22"/>
          <p:cNvSpPr/>
          <p:nvPr/>
        </p:nvSpPr>
        <p:spPr>
          <a:xfrm>
            <a:off x="3942365" y="4066036"/>
            <a:ext cx="176186" cy="513038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157831" y="4096802"/>
            <a:ext cx="1816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6.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去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repl_baklog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中获取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后的数据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3921760" y="4815254"/>
            <a:ext cx="44840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5161538" y="4557209"/>
            <a:ext cx="1640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7.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发送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后的命令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102882" y="2467396"/>
            <a:ext cx="1232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重启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277551" y="344467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6.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保存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版本信息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386421" y="4760173"/>
            <a:ext cx="88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执行命令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箭头: 右弧形 31"/>
          <p:cNvSpPr/>
          <p:nvPr/>
        </p:nvSpPr>
        <p:spPr>
          <a:xfrm>
            <a:off x="9123461" y="4730448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箭头: 右弧形 32"/>
          <p:cNvSpPr/>
          <p:nvPr/>
        </p:nvSpPr>
        <p:spPr>
          <a:xfrm>
            <a:off x="9102882" y="3433481"/>
            <a:ext cx="200689" cy="492674"/>
          </a:xfrm>
          <a:prstGeom prst="curvedLeftArrow">
            <a:avLst/>
          </a:prstGeom>
          <a:solidFill>
            <a:srgbClr val="48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12926" y="4388024"/>
            <a:ext cx="638863" cy="4015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t"/>
          <a:lstStyle/>
          <a:p>
            <a:pPr algn="ctr"/>
            <a:r>
              <a:rPr lang="en-US" altLang="zh-CN" sz="1100" i="0" dirty="0" err="1">
                <a:solidFill>
                  <a:srgbClr val="555555"/>
                </a:solidFill>
                <a:effectLst/>
              </a:rPr>
              <a:t>repl</a:t>
            </a:r>
            <a:r>
              <a:rPr lang="en-US" altLang="zh-CN" sz="1100" i="0" dirty="0">
                <a:solidFill>
                  <a:srgbClr val="555555"/>
                </a:solidFill>
                <a:effectLst/>
              </a:rPr>
              <a:t>_</a:t>
            </a:r>
            <a:endParaRPr lang="en-US" altLang="zh-CN" sz="1100" i="0" dirty="0">
              <a:solidFill>
                <a:srgbClr val="555555"/>
              </a:solidFill>
              <a:effectLst/>
            </a:endParaRPr>
          </a:p>
          <a:p>
            <a:pPr algn="ctr"/>
            <a:r>
              <a:rPr lang="en-US" altLang="zh-CN" sz="1100" i="0" dirty="0" err="1">
                <a:solidFill>
                  <a:srgbClr val="555555"/>
                </a:solidFill>
                <a:effectLst/>
              </a:rPr>
              <a:t>baklog</a:t>
            </a:r>
            <a:endParaRPr lang="zh-CN" altLang="en-US" sz="1100" dirty="0"/>
          </a:p>
        </p:txBody>
      </p:sp>
      <p:sp>
        <p:nvSpPr>
          <p:cNvPr id="50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583864"/>
            <a:ext cx="5020617" cy="418558"/>
          </a:xfrm>
        </p:spPr>
        <p:txBody>
          <a:bodyPr/>
          <a:lstStyle/>
          <a:p>
            <a:r>
              <a:rPr lang="zh-CN" altLang="en-US" dirty="0"/>
              <a:t>主从</a:t>
            </a:r>
            <a:r>
              <a:rPr lang="zh-CN" altLang="en-US" b="1" dirty="0">
                <a:solidFill>
                  <a:srgbClr val="AD2A26"/>
                </a:solidFill>
              </a:rPr>
              <a:t>增量同步</a:t>
            </a:r>
            <a:r>
              <a:rPr lang="en-US" altLang="zh-CN" dirty="0"/>
              <a:t>(slave</a:t>
            </a:r>
            <a:r>
              <a:rPr lang="zh-CN" altLang="en-US" dirty="0"/>
              <a:t>重启或后期数据变化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5357647" y="2449029"/>
            <a:ext cx="2405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psync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replid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offset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132431" y="2912866"/>
            <a:ext cx="19650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判断请求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是否一致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528211" y="3191077"/>
            <a:ext cx="2842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是第一次，返回主节点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replid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532427" y="3200769"/>
            <a:ext cx="2231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不是第一次，回复 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continue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8" grpId="0"/>
      <p:bldP spid="30" grpId="0"/>
      <p:bldP spid="31" grpId="0"/>
      <p:bldP spid="32" grpId="0" animBg="1"/>
      <p:bldP spid="33" grpId="0" animBg="1"/>
      <p:bldP spid="44" grpId="0"/>
      <p:bldP spid="4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7954" y="1398808"/>
            <a:ext cx="867323" cy="116706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415952" y="1021955"/>
            <a:ext cx="7624353" cy="859390"/>
            <a:chOff x="1415952" y="1021955"/>
            <a:chExt cx="7907155" cy="859390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介绍一下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的主从同步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图形 7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6994" y="2932968"/>
            <a:ext cx="867323" cy="116706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395632" y="2569610"/>
            <a:ext cx="7624353" cy="859390"/>
            <a:chOff x="1415952" y="1021955"/>
            <a:chExt cx="7907155" cy="859390"/>
          </a:xfrm>
        </p:grpSpPr>
        <p:sp>
          <p:nvSpPr>
            <p:cNvPr id="10" name="任意多边形: 形状 9"/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能说一下，主从同步数据的流程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316160" y="1725804"/>
            <a:ext cx="9398320" cy="885316"/>
          </a:xfrm>
        </p:spPr>
        <p:txBody>
          <a:bodyPr/>
          <a:lstStyle/>
          <a:p>
            <a:r>
              <a:rPr lang="zh-CN" altLang="en-US" sz="1400" dirty="0"/>
              <a:t>单节点</a:t>
            </a:r>
            <a:r>
              <a:rPr lang="en-US" altLang="zh-CN" sz="1400" dirty="0"/>
              <a:t>Redis</a:t>
            </a:r>
            <a:r>
              <a:rPr lang="zh-CN" altLang="en-US" sz="1400" dirty="0"/>
              <a:t>的并发能力是有上限的，要进一步提高</a:t>
            </a:r>
            <a:r>
              <a:rPr lang="en-US" altLang="zh-CN" sz="1400" dirty="0"/>
              <a:t>Redis</a:t>
            </a:r>
            <a:r>
              <a:rPr lang="zh-CN" altLang="en-US" sz="1400" dirty="0"/>
              <a:t>的并发能力，就需要搭建主从集群，实现读写分离。</a:t>
            </a:r>
            <a:endParaRPr lang="en-US" altLang="zh-CN" sz="1400" dirty="0"/>
          </a:p>
          <a:p>
            <a:r>
              <a:rPr lang="zh-CN" altLang="en-US" sz="1400" dirty="0"/>
              <a:t>一般都是一主多从，主节点负责写数据，从节点负责读数据</a:t>
            </a:r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15" name="文本占位符 2"/>
          <p:cNvSpPr txBox="1"/>
          <p:nvPr/>
        </p:nvSpPr>
        <p:spPr>
          <a:xfrm>
            <a:off x="2295840" y="3199004"/>
            <a:ext cx="9398320" cy="228739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全量同步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en-US" altLang="zh-CN" sz="1400" dirty="0"/>
              <a:t>1.</a:t>
            </a:r>
            <a:r>
              <a:rPr lang="zh-CN" altLang="en-US" sz="1400" dirty="0"/>
              <a:t>从节点请求主节点同步数据（</a:t>
            </a:r>
            <a:r>
              <a:rPr lang="en-US" altLang="zh-CN" sz="1400" dirty="0"/>
              <a:t>replication id</a:t>
            </a:r>
            <a:r>
              <a:rPr lang="zh-CN" altLang="en-US" sz="1400" dirty="0"/>
              <a:t>、</a:t>
            </a:r>
            <a:r>
              <a:rPr lang="en-US" altLang="zh-CN" sz="1400" dirty="0"/>
              <a:t> offset 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en-US" altLang="zh-CN" sz="1400" dirty="0"/>
              <a:t>2.</a:t>
            </a:r>
            <a:r>
              <a:rPr lang="zh-CN" altLang="en-US" sz="1400" dirty="0"/>
              <a:t>主节点判断是否是第一次请求，是第一次就与从节点同步版本信息（</a:t>
            </a:r>
            <a:r>
              <a:rPr lang="en-US" altLang="zh-CN" sz="1400" dirty="0"/>
              <a:t>replication id</a:t>
            </a:r>
            <a:r>
              <a:rPr lang="zh-CN" altLang="en-US" sz="1400" dirty="0"/>
              <a:t>和</a:t>
            </a:r>
            <a:r>
              <a:rPr lang="en-US" altLang="zh-CN" sz="1400" dirty="0"/>
              <a:t>offset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en-US" altLang="zh-CN" sz="1400" dirty="0"/>
              <a:t>3.</a:t>
            </a:r>
            <a:r>
              <a:rPr lang="zh-CN" altLang="en-US" sz="1400" dirty="0"/>
              <a:t>主节点执行</a:t>
            </a:r>
            <a:r>
              <a:rPr lang="en-US" altLang="zh-CN" sz="1400" dirty="0" err="1"/>
              <a:t>bgsave</a:t>
            </a:r>
            <a:r>
              <a:rPr lang="zh-CN" altLang="en-US" sz="1400" dirty="0"/>
              <a:t>，生成</a:t>
            </a:r>
            <a:r>
              <a:rPr lang="en-US" altLang="zh-CN" sz="1400" dirty="0" err="1"/>
              <a:t>rdb</a:t>
            </a:r>
            <a:r>
              <a:rPr lang="zh-CN" altLang="en-US" sz="1400" dirty="0"/>
              <a:t>文件后，发送给从节点去执行</a:t>
            </a:r>
            <a:endParaRPr lang="en-US" altLang="zh-CN" sz="1400" dirty="0"/>
          </a:p>
          <a:p>
            <a:r>
              <a:rPr lang="en-US" altLang="zh-CN" sz="1400" dirty="0"/>
              <a:t>4.</a:t>
            </a:r>
            <a:r>
              <a:rPr lang="zh-CN" altLang="en-US" sz="1400" dirty="0"/>
              <a:t>在</a:t>
            </a:r>
            <a:r>
              <a:rPr lang="en-US" altLang="zh-CN" sz="1400" dirty="0" err="1"/>
              <a:t>rdb</a:t>
            </a:r>
            <a:r>
              <a:rPr lang="zh-CN" altLang="en-US" sz="1400" dirty="0"/>
              <a:t>生成执行期间，主节点会以命令的方式记录到缓冲区（一个日志文件）</a:t>
            </a:r>
            <a:endParaRPr lang="en-US" altLang="zh-CN" sz="1400" dirty="0"/>
          </a:p>
          <a:p>
            <a:r>
              <a:rPr lang="en-US" altLang="zh-CN" sz="1400" dirty="0"/>
              <a:t>5.</a:t>
            </a:r>
            <a:r>
              <a:rPr lang="zh-CN" altLang="en-US" sz="1400" dirty="0"/>
              <a:t>把生成之后的命令日志文件发送给从节点进行同步</a:t>
            </a:r>
            <a:endParaRPr lang="zh-CN" altLang="en-US" sz="1400" dirty="0"/>
          </a:p>
        </p:txBody>
      </p:sp>
      <p:sp>
        <p:nvSpPr>
          <p:cNvPr id="16" name="文本占位符 2"/>
          <p:cNvSpPr txBox="1"/>
          <p:nvPr/>
        </p:nvSpPr>
        <p:spPr>
          <a:xfrm>
            <a:off x="2224720" y="5403724"/>
            <a:ext cx="9398320" cy="119011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增量同步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en-US" altLang="zh-CN" sz="1400" dirty="0"/>
              <a:t>1.</a:t>
            </a:r>
            <a:r>
              <a:rPr lang="zh-CN" altLang="en-US" sz="1400" dirty="0"/>
              <a:t>从节点请求主节点同步数据，主节点判断不是第一次请求，不是第一次就获取从节点的</a:t>
            </a:r>
            <a:r>
              <a:rPr lang="en-US" altLang="zh-CN" sz="1400" dirty="0"/>
              <a:t>offset</a:t>
            </a:r>
            <a:r>
              <a:rPr lang="zh-CN" altLang="en-US" sz="1400" dirty="0"/>
              <a:t>值</a:t>
            </a:r>
            <a:endParaRPr lang="en-US" altLang="zh-CN" sz="1400" dirty="0"/>
          </a:p>
          <a:p>
            <a:r>
              <a:rPr lang="en-US" altLang="zh-CN" sz="1400" dirty="0"/>
              <a:t>2.</a:t>
            </a:r>
            <a:r>
              <a:rPr lang="zh-CN" altLang="en-US" sz="1400" dirty="0"/>
              <a:t>主节点从命令日志中获取</a:t>
            </a:r>
            <a:r>
              <a:rPr lang="en-US" altLang="zh-CN" sz="1400" dirty="0"/>
              <a:t>offset</a:t>
            </a:r>
            <a:r>
              <a:rPr lang="zh-CN" altLang="en-US" sz="1400" dirty="0"/>
              <a:t>值之后的数据，发送给从节点进行数据同步</a:t>
            </a:r>
            <a:endParaRPr lang="zh-CN" altLang="en-US" sz="1400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107" y="743639"/>
            <a:ext cx="6082824" cy="56915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/>
          <p:cNvSpPr/>
          <p:nvPr/>
        </p:nvSpPr>
        <p:spPr>
          <a:xfrm>
            <a:off x="8500969" y="3905207"/>
            <a:ext cx="2474257" cy="2499668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>
            <a:off x="5768786" y="2245660"/>
            <a:ext cx="5244353" cy="8789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哨兵的作用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61761"/>
          </a:xfrm>
        </p:spPr>
        <p:txBody>
          <a:bodyPr/>
          <a:lstStyle/>
          <a:p>
            <a:r>
              <a:rPr lang="en-US" altLang="zh-CN" dirty="0"/>
              <a:t>Redis</a:t>
            </a:r>
            <a:r>
              <a:rPr lang="zh-CN" altLang="en-US" dirty="0"/>
              <a:t>提供了哨兵（</a:t>
            </a:r>
            <a:r>
              <a:rPr lang="en-US" altLang="zh-CN" dirty="0"/>
              <a:t>Sentinel</a:t>
            </a:r>
            <a:r>
              <a:rPr lang="zh-CN" altLang="en-US" dirty="0"/>
              <a:t>）机制来实现主从集群的自动故障恢复。哨兵的结构和作用如下：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16" y="3939986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矩形: 圆角 4"/>
          <p:cNvSpPr/>
          <p:nvPr/>
        </p:nvSpPr>
        <p:spPr>
          <a:xfrm>
            <a:off x="5701555" y="4763708"/>
            <a:ext cx="1452283" cy="681009"/>
          </a:xfrm>
          <a:prstGeom prst="roundRect">
            <a:avLst/>
          </a:prstGeom>
          <a:solidFill>
            <a:srgbClr val="48504F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RedisClient</a:t>
            </a:r>
            <a:endParaRPr lang="zh-CN" altLang="en-US" sz="1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583" y="4751892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929" y="5537296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/>
          <p:cNvSpPr txBox="1"/>
          <p:nvPr/>
        </p:nvSpPr>
        <p:spPr>
          <a:xfrm>
            <a:off x="8693695" y="500115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739482" y="4198269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743091" y="5808843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11" name="直接箭头连接符 10"/>
          <p:cNvCxnSpPr>
            <a:stCxn id="5" idx="3"/>
            <a:endCxn id="6" idx="1"/>
          </p:cNvCxnSpPr>
          <p:nvPr/>
        </p:nvCxnSpPr>
        <p:spPr>
          <a:xfrm flipV="1">
            <a:off x="7153838" y="5102219"/>
            <a:ext cx="1570745" cy="1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5" idx="3"/>
            <a:endCxn id="4" idx="1"/>
          </p:cNvCxnSpPr>
          <p:nvPr/>
        </p:nvCxnSpPr>
        <p:spPr>
          <a:xfrm flipV="1">
            <a:off x="7153838" y="4290313"/>
            <a:ext cx="2569178" cy="813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5" idx="3"/>
            <a:endCxn id="7" idx="1"/>
          </p:cNvCxnSpPr>
          <p:nvPr/>
        </p:nvCxnSpPr>
        <p:spPr>
          <a:xfrm>
            <a:off x="7153838" y="5104213"/>
            <a:ext cx="2559091" cy="783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6" idx="3"/>
            <a:endCxn id="4" idx="2"/>
          </p:cNvCxnSpPr>
          <p:nvPr/>
        </p:nvCxnSpPr>
        <p:spPr>
          <a:xfrm flipV="1">
            <a:off x="9446256" y="4640639"/>
            <a:ext cx="637597" cy="46158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6" idx="3"/>
            <a:endCxn id="7" idx="0"/>
          </p:cNvCxnSpPr>
          <p:nvPr/>
        </p:nvCxnSpPr>
        <p:spPr>
          <a:xfrm>
            <a:off x="9446256" y="5102219"/>
            <a:ext cx="627510" cy="43507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9925391" y="4941123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6127770" y="2434802"/>
            <a:ext cx="1129551" cy="49754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21" name="矩形: 圆角 20"/>
          <p:cNvSpPr/>
          <p:nvPr/>
        </p:nvSpPr>
        <p:spPr>
          <a:xfrm>
            <a:off x="7826187" y="2434802"/>
            <a:ext cx="1129551" cy="49754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22" name="矩形: 圆角 21"/>
          <p:cNvSpPr/>
          <p:nvPr/>
        </p:nvSpPr>
        <p:spPr>
          <a:xfrm>
            <a:off x="9524603" y="2434802"/>
            <a:ext cx="1129551" cy="49754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35" name="文本占位符 2"/>
          <p:cNvSpPr txBox="1"/>
          <p:nvPr/>
        </p:nvSpPr>
        <p:spPr>
          <a:xfrm>
            <a:off x="710879" y="2121743"/>
            <a:ext cx="4724003" cy="4736257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监控</a:t>
            </a:r>
            <a:r>
              <a:rPr lang="zh-CN" altLang="en-US" dirty="0"/>
              <a:t>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Sentinel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会不断检查您的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master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slave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是否按预期工作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自动故障恢复</a:t>
            </a:r>
            <a:r>
              <a:rPr lang="zh-CN" altLang="en-US" dirty="0"/>
              <a:t>：如果</a:t>
            </a:r>
            <a:r>
              <a:rPr lang="en-US" altLang="zh-CN" dirty="0"/>
              <a:t>master</a:t>
            </a:r>
            <a:r>
              <a:rPr lang="zh-CN" altLang="en-US" dirty="0"/>
              <a:t>故障，</a:t>
            </a:r>
            <a:r>
              <a:rPr lang="en-US" altLang="zh-CN" dirty="0"/>
              <a:t>Sentinel</a:t>
            </a:r>
            <a:r>
              <a:rPr lang="zh-CN" altLang="en-US" dirty="0"/>
              <a:t>会将一个</a:t>
            </a:r>
            <a:r>
              <a:rPr lang="en-US" altLang="zh-CN" dirty="0"/>
              <a:t>slave</a:t>
            </a:r>
            <a:r>
              <a:rPr lang="zh-CN" altLang="en-US" dirty="0"/>
              <a:t>提升为</a:t>
            </a:r>
            <a:r>
              <a:rPr lang="en-US" altLang="zh-CN" dirty="0"/>
              <a:t>master</a:t>
            </a:r>
            <a:r>
              <a:rPr lang="zh-CN" altLang="en-US" dirty="0"/>
              <a:t>。当故障实例恢复后也以新的</a:t>
            </a:r>
            <a:r>
              <a:rPr lang="en-US" altLang="zh-CN" dirty="0"/>
              <a:t>master</a:t>
            </a:r>
            <a:r>
              <a:rPr lang="zh-CN" altLang="en-US" dirty="0"/>
              <a:t>为主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通知</a:t>
            </a:r>
            <a:r>
              <a:rPr lang="zh-CN" altLang="en-US" dirty="0"/>
              <a:t>：</a:t>
            </a:r>
            <a:r>
              <a:rPr lang="en-US" altLang="zh-CN" dirty="0"/>
              <a:t>Sentinel</a:t>
            </a:r>
            <a:r>
              <a:rPr lang="zh-CN" altLang="en-US" dirty="0"/>
              <a:t>充当</a:t>
            </a:r>
            <a:r>
              <a:rPr lang="en-US" altLang="zh-CN" dirty="0"/>
              <a:t>Redis</a:t>
            </a:r>
            <a:r>
              <a:rPr lang="zh-CN" altLang="en-US" dirty="0"/>
              <a:t>客户端的服务发现来源，当集群发生故障转移时，会将最新信息推送给</a:t>
            </a:r>
            <a:r>
              <a:rPr lang="en-US" altLang="zh-CN" dirty="0"/>
              <a:t>Redis</a:t>
            </a:r>
            <a:r>
              <a:rPr lang="zh-CN" altLang="en-US" dirty="0"/>
              <a:t>的客户端</a:t>
            </a:r>
            <a:endParaRPr lang="en-US" altLang="zh-CN" dirty="0"/>
          </a:p>
        </p:txBody>
      </p:sp>
      <p:cxnSp>
        <p:nvCxnSpPr>
          <p:cNvPr id="49" name="连接符: 肘形 48"/>
          <p:cNvCxnSpPr>
            <a:stCxn id="24" idx="2"/>
            <a:endCxn id="25" idx="0"/>
          </p:cNvCxnSpPr>
          <p:nvPr/>
        </p:nvCxnSpPr>
        <p:spPr>
          <a:xfrm rot="16200000" flipH="1">
            <a:off x="8674209" y="2841317"/>
            <a:ext cx="780643" cy="13471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8848300" y="328010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监控集群状态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52" name="连接符: 肘形 51"/>
          <p:cNvCxnSpPr>
            <a:stCxn id="24" idx="2"/>
            <a:endCxn id="5" idx="0"/>
          </p:cNvCxnSpPr>
          <p:nvPr/>
        </p:nvCxnSpPr>
        <p:spPr>
          <a:xfrm flipH="1">
            <a:off x="6427697" y="3124564"/>
            <a:ext cx="1963266" cy="163914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6656794" y="3685148"/>
            <a:ext cx="833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服务状态变更通知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4" grpId="0" animBg="1"/>
      <p:bldP spid="5" grpId="0" animBg="1"/>
      <p:bldP spid="8" grpId="0"/>
      <p:bldP spid="9" grpId="0"/>
      <p:bldP spid="10" grpId="0"/>
      <p:bldP spid="19" grpId="0"/>
      <p:bldP spid="20" grpId="0" animBg="1"/>
      <p:bldP spid="21" grpId="0" animBg="1"/>
      <p:bldP spid="22" grpId="0" animBg="1"/>
      <p:bldP spid="50" grpId="0"/>
      <p:bldP spid="5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服务状态监控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2719196"/>
          </a:xfrm>
        </p:spPr>
        <p:txBody>
          <a:bodyPr/>
          <a:lstStyle/>
          <a:p>
            <a:r>
              <a:rPr lang="en-US" altLang="zh-CN" dirty="0"/>
              <a:t>Sentinel</a:t>
            </a:r>
            <a:r>
              <a:rPr lang="zh-CN" altLang="en-US" dirty="0"/>
              <a:t>基于心跳机制监测服务状态，每隔</a:t>
            </a:r>
            <a:r>
              <a:rPr lang="en-US" altLang="zh-CN" dirty="0"/>
              <a:t>1</a:t>
            </a:r>
            <a:r>
              <a:rPr lang="zh-CN" altLang="en-US" dirty="0"/>
              <a:t>秒向集群的每个实例发送</a:t>
            </a:r>
            <a:r>
              <a:rPr lang="en-US" altLang="zh-CN" dirty="0"/>
              <a:t>ping</a:t>
            </a:r>
            <a:r>
              <a:rPr lang="zh-CN" altLang="en-US" dirty="0"/>
              <a:t>命令：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主观下线：如果某</a:t>
            </a:r>
            <a:r>
              <a:rPr lang="en-US" altLang="zh-CN" dirty="0"/>
              <a:t>sentinel</a:t>
            </a:r>
            <a:r>
              <a:rPr lang="zh-CN" altLang="en-US" dirty="0"/>
              <a:t>节点发现某实例未在规定时间响应，则认为该实例</a:t>
            </a:r>
            <a:r>
              <a:rPr lang="zh-CN" altLang="en-US" b="1" dirty="0"/>
              <a:t>主观下线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客观下线：若超过指定数量（</a:t>
            </a:r>
            <a:r>
              <a:rPr lang="en-US" altLang="zh-CN" dirty="0"/>
              <a:t>quorum</a:t>
            </a:r>
            <a:r>
              <a:rPr lang="zh-CN" altLang="en-US" dirty="0"/>
              <a:t>）的</a:t>
            </a:r>
            <a:r>
              <a:rPr lang="en-US" altLang="zh-CN" dirty="0"/>
              <a:t>sentinel</a:t>
            </a:r>
            <a:r>
              <a:rPr lang="zh-CN" altLang="en-US" dirty="0"/>
              <a:t>都认为该实例主观下线，则该实例</a:t>
            </a:r>
            <a:r>
              <a:rPr lang="zh-CN" altLang="en-US" b="1" dirty="0"/>
              <a:t>客观下线</a:t>
            </a:r>
            <a:r>
              <a:rPr lang="zh-CN" altLang="en-US" dirty="0"/>
              <a:t>。</a:t>
            </a:r>
            <a:r>
              <a:rPr lang="en-US" altLang="zh-CN" dirty="0"/>
              <a:t>quorum</a:t>
            </a:r>
            <a:r>
              <a:rPr lang="zh-CN" altLang="en-US" dirty="0"/>
              <a:t>值最好超过</a:t>
            </a:r>
            <a:r>
              <a:rPr lang="en-US" altLang="zh-CN" dirty="0"/>
              <a:t>Sentinel</a:t>
            </a:r>
            <a:r>
              <a:rPr lang="zh-CN" altLang="en-US" dirty="0"/>
              <a:t>实例数量的一半。</a:t>
            </a:r>
            <a:endParaRPr lang="en-US" altLang="zh-CN" dirty="0"/>
          </a:p>
        </p:txBody>
      </p:sp>
      <p:sp>
        <p:nvSpPr>
          <p:cNvPr id="27" name="矩形: 圆角 26"/>
          <p:cNvSpPr/>
          <p:nvPr/>
        </p:nvSpPr>
        <p:spPr>
          <a:xfrm>
            <a:off x="6339255" y="5233796"/>
            <a:ext cx="5098861" cy="1212752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/>
          <p:cNvSpPr/>
          <p:nvPr/>
        </p:nvSpPr>
        <p:spPr>
          <a:xfrm>
            <a:off x="6258573" y="3146847"/>
            <a:ext cx="5244353" cy="8789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8434849" y="5457119"/>
            <a:ext cx="829073" cy="700653"/>
            <a:chOff x="8692999" y="4751892"/>
            <a:chExt cx="829073" cy="700653"/>
          </a:xfrm>
        </p:grpSpPr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4583" y="4751892"/>
              <a:ext cx="721673" cy="700653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3" name="文本框 32"/>
            <p:cNvSpPr txBox="1"/>
            <p:nvPr/>
          </p:nvSpPr>
          <p:spPr>
            <a:xfrm>
              <a:off x="8692999" y="5064211"/>
              <a:ext cx="8290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master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168811" y="5457119"/>
            <a:ext cx="738138" cy="700653"/>
            <a:chOff x="9723016" y="3939986"/>
            <a:chExt cx="738138" cy="700653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23016" y="3939986"/>
              <a:ext cx="721673" cy="700653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4" name="文本框 33"/>
            <p:cNvSpPr txBox="1"/>
            <p:nvPr/>
          </p:nvSpPr>
          <p:spPr>
            <a:xfrm>
              <a:off x="9739482" y="4252057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slave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755892" y="5457119"/>
            <a:ext cx="745299" cy="700653"/>
            <a:chOff x="9689303" y="5537296"/>
            <a:chExt cx="745299" cy="700653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2929" y="5537296"/>
              <a:ext cx="721673" cy="700653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6" name="文本框 35"/>
            <p:cNvSpPr txBox="1"/>
            <p:nvPr/>
          </p:nvSpPr>
          <p:spPr>
            <a:xfrm>
              <a:off x="9689303" y="5849184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slave</a:t>
              </a:r>
              <a:endParaRPr lang="zh-CN" altLang="en-US" sz="14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40" name="直接箭头连接符 39"/>
          <p:cNvCxnSpPr>
            <a:stCxn id="31" idx="3"/>
            <a:endCxn id="29" idx="1"/>
          </p:cNvCxnSpPr>
          <p:nvPr/>
        </p:nvCxnSpPr>
        <p:spPr>
          <a:xfrm>
            <a:off x="9188106" y="5807446"/>
            <a:ext cx="98070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31" idx="1"/>
            <a:endCxn id="32" idx="3"/>
          </p:cNvCxnSpPr>
          <p:nvPr/>
        </p:nvCxnSpPr>
        <p:spPr>
          <a:xfrm flipH="1">
            <a:off x="7501191" y="5807446"/>
            <a:ext cx="96524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7714785" y="592332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6563769" y="3335989"/>
            <a:ext cx="1129551" cy="49754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4" name="矩形: 圆角 43"/>
          <p:cNvSpPr/>
          <p:nvPr/>
        </p:nvSpPr>
        <p:spPr>
          <a:xfrm>
            <a:off x="8262186" y="3335989"/>
            <a:ext cx="1129551" cy="49754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5" name="矩形: 圆角 44"/>
          <p:cNvSpPr/>
          <p:nvPr/>
        </p:nvSpPr>
        <p:spPr>
          <a:xfrm>
            <a:off x="9960602" y="3335989"/>
            <a:ext cx="1129551" cy="49754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57" name="文本框 56"/>
          <p:cNvSpPr txBox="1"/>
          <p:nvPr/>
        </p:nvSpPr>
        <p:spPr>
          <a:xfrm>
            <a:off x="9448051" y="591021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64" name="直接箭头连接符 63"/>
          <p:cNvCxnSpPr>
            <a:stCxn id="43" idx="2"/>
            <a:endCxn id="31" idx="0"/>
          </p:cNvCxnSpPr>
          <p:nvPr/>
        </p:nvCxnSpPr>
        <p:spPr>
          <a:xfrm>
            <a:off x="7128545" y="3833530"/>
            <a:ext cx="1698725" cy="1623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stCxn id="44" idx="2"/>
            <a:endCxn id="31" idx="0"/>
          </p:cNvCxnSpPr>
          <p:nvPr/>
        </p:nvCxnSpPr>
        <p:spPr>
          <a:xfrm>
            <a:off x="8826962" y="3833530"/>
            <a:ext cx="308" cy="1623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endCxn id="31" idx="0"/>
          </p:cNvCxnSpPr>
          <p:nvPr/>
        </p:nvCxnSpPr>
        <p:spPr>
          <a:xfrm flipH="1">
            <a:off x="8827270" y="4779420"/>
            <a:ext cx="721365" cy="677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7044566" y="455162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主观下线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530074" y="4464413"/>
            <a:ext cx="3706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up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74" name="直接箭头连接符 73"/>
          <p:cNvCxnSpPr>
            <a:stCxn id="45" idx="2"/>
          </p:cNvCxnSpPr>
          <p:nvPr/>
        </p:nvCxnSpPr>
        <p:spPr>
          <a:xfrm flipH="1">
            <a:off x="9751030" y="3833530"/>
            <a:ext cx="774348" cy="769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0" name="等号 79"/>
          <p:cNvSpPr/>
          <p:nvPr/>
        </p:nvSpPr>
        <p:spPr>
          <a:xfrm rot="2897490">
            <a:off x="9326774" y="4529816"/>
            <a:ext cx="701673" cy="318924"/>
          </a:xfrm>
          <a:prstGeom prst="mathEqual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9897438" y="450682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主观下线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等号 29"/>
          <p:cNvSpPr/>
          <p:nvPr/>
        </p:nvSpPr>
        <p:spPr>
          <a:xfrm rot="8419327">
            <a:off x="7691506" y="4530665"/>
            <a:ext cx="701673" cy="318924"/>
          </a:xfrm>
          <a:prstGeom prst="mathEqual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占位符 2"/>
          <p:cNvSpPr txBox="1"/>
          <p:nvPr/>
        </p:nvSpPr>
        <p:spPr>
          <a:xfrm>
            <a:off x="627610" y="3709448"/>
            <a:ext cx="10698800" cy="271919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哨兵选主规则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首先判断主与从节点断开时间长短，如超过指定值就排该从节点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然后判断从节点的</a:t>
            </a:r>
            <a:r>
              <a:rPr lang="en-US" altLang="zh-CN" sz="1400" dirty="0">
                <a:solidFill>
                  <a:srgbClr val="555555"/>
                </a:solidFill>
                <a:latin typeface="Lato" panose="020F0502020204030203" pitchFamily="34" charset="0"/>
              </a:rPr>
              <a:t>slave-priority</a:t>
            </a:r>
            <a:r>
              <a:rPr lang="zh-CN" altLang="en-US" sz="1400" dirty="0">
                <a:solidFill>
                  <a:srgbClr val="555555"/>
                </a:solidFill>
                <a:latin typeface="Lato" panose="020F0502020204030203" pitchFamily="34" charset="0"/>
              </a:rPr>
              <a:t>值，越小优先级越高</a:t>
            </a:r>
            <a:endParaRPr lang="en-US" altLang="zh-CN" sz="1400" dirty="0">
              <a:solidFill>
                <a:srgbClr val="555555"/>
              </a:solidFill>
              <a:latin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Lato" panose="020F0502020204030203" pitchFamily="34" charset="0"/>
              </a:rPr>
              <a:t>如果</a:t>
            </a:r>
            <a:r>
              <a:rPr lang="en-US" altLang="zh-CN" sz="1400" dirty="0">
                <a:solidFill>
                  <a:srgbClr val="C00000"/>
                </a:solidFill>
                <a:latin typeface="Lato" panose="020F0502020204030203" pitchFamily="34" charset="0"/>
              </a:rPr>
              <a:t>slave-</a:t>
            </a:r>
            <a:r>
              <a:rPr lang="en-US" altLang="zh-CN" sz="1400" dirty="0" err="1">
                <a:solidFill>
                  <a:srgbClr val="C00000"/>
                </a:solidFill>
                <a:latin typeface="Lato" panose="020F0502020204030203" pitchFamily="34" charset="0"/>
              </a:rPr>
              <a:t>prority</a:t>
            </a:r>
            <a:r>
              <a:rPr lang="zh-CN" altLang="en-US" sz="1400" dirty="0">
                <a:solidFill>
                  <a:srgbClr val="C00000"/>
                </a:solidFill>
                <a:latin typeface="Lato" panose="020F0502020204030203" pitchFamily="34" charset="0"/>
              </a:rPr>
              <a:t>一样，则判断</a:t>
            </a:r>
            <a:r>
              <a:rPr lang="en-US" altLang="zh-CN" sz="1400" dirty="0">
                <a:solidFill>
                  <a:srgbClr val="C00000"/>
                </a:solidFill>
                <a:latin typeface="Lato" panose="020F0502020204030203" pitchFamily="34" charset="0"/>
              </a:rPr>
              <a:t>slave</a:t>
            </a:r>
            <a:r>
              <a:rPr lang="zh-CN" altLang="en-US" sz="1400" dirty="0">
                <a:solidFill>
                  <a:srgbClr val="C00000"/>
                </a:solidFill>
                <a:latin typeface="Lato" panose="020F0502020204030203" pitchFamily="34" charset="0"/>
              </a:rPr>
              <a:t>节点的</a:t>
            </a:r>
            <a:r>
              <a:rPr lang="en-US" altLang="zh-CN" sz="1400" dirty="0">
                <a:solidFill>
                  <a:srgbClr val="C00000"/>
                </a:solidFill>
                <a:latin typeface="Lato" panose="020F0502020204030203" pitchFamily="34" charset="0"/>
              </a:rPr>
              <a:t>offset</a:t>
            </a:r>
            <a:r>
              <a:rPr lang="zh-CN" altLang="en-US" sz="1400" dirty="0">
                <a:solidFill>
                  <a:srgbClr val="C00000"/>
                </a:solidFill>
                <a:latin typeface="Lato" panose="020F0502020204030203" pitchFamily="34" charset="0"/>
              </a:rPr>
              <a:t>值，越大优先级越高</a:t>
            </a:r>
            <a:endParaRPr lang="en-US" altLang="zh-CN" sz="1400" dirty="0">
              <a:solidFill>
                <a:srgbClr val="C00000"/>
              </a:solidFill>
              <a:latin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555555"/>
                </a:solidFill>
                <a:latin typeface="Lato" panose="020F0502020204030203" pitchFamily="34" charset="0"/>
              </a:rPr>
              <a:t>最后是判断</a:t>
            </a:r>
            <a:r>
              <a:rPr lang="en-US" altLang="zh-CN" sz="1400" dirty="0">
                <a:solidFill>
                  <a:srgbClr val="555555"/>
                </a:solidFill>
                <a:latin typeface="Lato" panose="020F0502020204030203" pitchFamily="34" charset="0"/>
              </a:rPr>
              <a:t>slave</a:t>
            </a:r>
            <a:r>
              <a:rPr lang="zh-CN" altLang="en-US" sz="1400" dirty="0">
                <a:solidFill>
                  <a:srgbClr val="555555"/>
                </a:solidFill>
                <a:latin typeface="Lato" panose="020F0502020204030203" pitchFamily="34" charset="0"/>
              </a:rPr>
              <a:t>节点的运行</a:t>
            </a:r>
            <a:r>
              <a:rPr lang="en-US" altLang="zh-CN" sz="1400" dirty="0">
                <a:solidFill>
                  <a:srgbClr val="555555"/>
                </a:solidFill>
                <a:latin typeface="Lato" panose="020F0502020204030203" pitchFamily="34" charset="0"/>
              </a:rPr>
              <a:t>id</a:t>
            </a:r>
            <a:r>
              <a:rPr lang="zh-CN" altLang="en-US" sz="1400" dirty="0">
                <a:solidFill>
                  <a:srgbClr val="555555"/>
                </a:solidFill>
                <a:latin typeface="Lato" panose="020F0502020204030203" pitchFamily="34" charset="0"/>
              </a:rPr>
              <a:t>大小，越小优先级越高。</a:t>
            </a:r>
            <a:endParaRPr lang="en-US" altLang="zh-CN" sz="1400" dirty="0">
              <a:solidFill>
                <a:srgbClr val="555555"/>
              </a:solidFill>
              <a:latin typeface="Lato" panose="020F0502020204030203" pitchFamily="34" charset="0"/>
            </a:endParaRPr>
          </a:p>
          <a:p>
            <a:endParaRPr lang="en-US" altLang="zh-CN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42" grpId="0"/>
      <p:bldP spid="43" grpId="0" animBg="1"/>
      <p:bldP spid="44" grpId="0" animBg="1"/>
      <p:bldP spid="45" grpId="0" animBg="1"/>
      <p:bldP spid="57" grpId="0"/>
      <p:bldP spid="71" grpId="0"/>
      <p:bldP spid="72" grpId="0"/>
      <p:bldP spid="80" grpId="0" animBg="1"/>
      <p:bldP spid="80" grpId="1" animBg="1"/>
      <p:bldP spid="81" grpId="0"/>
      <p:bldP spid="30" grpId="0" animBg="1"/>
      <p:bldP spid="30" grpId="1" animBg="1"/>
      <p:bldP spid="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</a:t>
            </a:r>
            <a:r>
              <a:rPr lang="zh-CN" altLang="en-US" dirty="0"/>
              <a:t>集群（哨兵模式）脑裂</a:t>
            </a:r>
            <a:endParaRPr lang="zh-CN" altLang="en-US" dirty="0"/>
          </a:p>
        </p:txBody>
      </p:sp>
      <p:sp>
        <p:nvSpPr>
          <p:cNvPr id="26" name="矩形: 圆角 25"/>
          <p:cNvSpPr/>
          <p:nvPr/>
        </p:nvSpPr>
        <p:spPr>
          <a:xfrm>
            <a:off x="4467449" y="3852385"/>
            <a:ext cx="2474257" cy="2499668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/>
          <p:cNvSpPr/>
          <p:nvPr/>
        </p:nvSpPr>
        <p:spPr>
          <a:xfrm>
            <a:off x="3086546" y="1829100"/>
            <a:ext cx="5244353" cy="8789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96" y="388716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9" name="矩形: 圆角 28"/>
          <p:cNvSpPr/>
          <p:nvPr/>
        </p:nvSpPr>
        <p:spPr>
          <a:xfrm>
            <a:off x="1688355" y="4709976"/>
            <a:ext cx="1452283" cy="681009"/>
          </a:xfrm>
          <a:prstGeom prst="roundRect">
            <a:avLst/>
          </a:prstGeom>
          <a:solidFill>
            <a:srgbClr val="48504F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RedisClient</a:t>
            </a:r>
            <a:endParaRPr lang="zh-CN" altLang="en-US" sz="140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063" y="4699070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409" y="548447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2" name="文本框 31"/>
          <p:cNvSpPr txBox="1"/>
          <p:nvPr/>
        </p:nvSpPr>
        <p:spPr>
          <a:xfrm>
            <a:off x="4660175" y="49483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705962" y="414544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709571" y="5756021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35" name="直接箭头连接符 34"/>
          <p:cNvCxnSpPr>
            <a:stCxn id="29" idx="3"/>
            <a:endCxn id="30" idx="1"/>
          </p:cNvCxnSpPr>
          <p:nvPr/>
        </p:nvCxnSpPr>
        <p:spPr>
          <a:xfrm flipV="1">
            <a:off x="3140638" y="5049397"/>
            <a:ext cx="1550425" cy="1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29" idx="3"/>
            <a:endCxn id="28" idx="1"/>
          </p:cNvCxnSpPr>
          <p:nvPr/>
        </p:nvCxnSpPr>
        <p:spPr>
          <a:xfrm flipV="1">
            <a:off x="3140638" y="4237491"/>
            <a:ext cx="2548858" cy="812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29" idx="3"/>
            <a:endCxn id="31" idx="1"/>
          </p:cNvCxnSpPr>
          <p:nvPr/>
        </p:nvCxnSpPr>
        <p:spPr>
          <a:xfrm>
            <a:off x="3140638" y="5050481"/>
            <a:ext cx="2538771" cy="78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30" idx="3"/>
            <a:endCxn id="28" idx="2"/>
          </p:cNvCxnSpPr>
          <p:nvPr/>
        </p:nvCxnSpPr>
        <p:spPr>
          <a:xfrm flipV="1">
            <a:off x="5412736" y="4587817"/>
            <a:ext cx="637597" cy="46158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30" idx="3"/>
            <a:endCxn id="31" idx="0"/>
          </p:cNvCxnSpPr>
          <p:nvPr/>
        </p:nvCxnSpPr>
        <p:spPr>
          <a:xfrm>
            <a:off x="5412736" y="5049397"/>
            <a:ext cx="627510" cy="43507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891871" y="488830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3445530" y="2018242"/>
            <a:ext cx="1129551" cy="49754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2" name="矩形: 圆角 41"/>
          <p:cNvSpPr/>
          <p:nvPr/>
        </p:nvSpPr>
        <p:spPr>
          <a:xfrm>
            <a:off x="5143947" y="2018242"/>
            <a:ext cx="1129551" cy="49754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3" name="矩形: 圆角 42"/>
          <p:cNvSpPr/>
          <p:nvPr/>
        </p:nvSpPr>
        <p:spPr>
          <a:xfrm>
            <a:off x="6842363" y="2018242"/>
            <a:ext cx="1129551" cy="49754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cxnSp>
        <p:nvCxnSpPr>
          <p:cNvPr id="44" name="连接符: 肘形 43"/>
          <p:cNvCxnSpPr>
            <a:stCxn id="27" idx="2"/>
            <a:endCxn id="26" idx="0"/>
          </p:cNvCxnSpPr>
          <p:nvPr/>
        </p:nvCxnSpPr>
        <p:spPr>
          <a:xfrm rot="5400000">
            <a:off x="5134461" y="3278122"/>
            <a:ext cx="1144381" cy="41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686465" y="3152001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监控集群状态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46" name="连接符: 肘形 51"/>
          <p:cNvCxnSpPr>
            <a:stCxn id="27" idx="2"/>
            <a:endCxn id="29" idx="0"/>
          </p:cNvCxnSpPr>
          <p:nvPr/>
        </p:nvCxnSpPr>
        <p:spPr>
          <a:xfrm flipH="1">
            <a:off x="2414497" y="2708004"/>
            <a:ext cx="3294226" cy="2001972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3131274" y="3198167"/>
            <a:ext cx="833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服务状态变更通知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745905" y="479792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745905" y="522464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745905" y="451344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</a:t>
            </a:r>
            <a:r>
              <a:rPr lang="zh-CN" altLang="en-US" dirty="0"/>
              <a:t>集群（哨兵模式）脑裂</a:t>
            </a:r>
            <a:endParaRPr lang="zh-CN" altLang="en-US" dirty="0"/>
          </a:p>
        </p:txBody>
      </p:sp>
      <p:sp>
        <p:nvSpPr>
          <p:cNvPr id="26" name="矩形: 圆角 25"/>
          <p:cNvSpPr/>
          <p:nvPr/>
        </p:nvSpPr>
        <p:spPr>
          <a:xfrm>
            <a:off x="5056729" y="3852385"/>
            <a:ext cx="1272951" cy="2499668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/>
          <p:cNvSpPr/>
          <p:nvPr/>
        </p:nvSpPr>
        <p:spPr>
          <a:xfrm>
            <a:off x="3086546" y="1829100"/>
            <a:ext cx="5244353" cy="8789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/>
          <p:cNvSpPr/>
          <p:nvPr/>
        </p:nvSpPr>
        <p:spPr>
          <a:xfrm>
            <a:off x="1688355" y="4723068"/>
            <a:ext cx="1452283" cy="681009"/>
          </a:xfrm>
          <a:prstGeom prst="roundRect">
            <a:avLst/>
          </a:prstGeom>
          <a:solidFill>
            <a:srgbClr val="48504F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RedisClient</a:t>
            </a:r>
            <a:endParaRPr lang="zh-CN" altLang="en-US" sz="140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343" y="4699070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2" name="文本框 31"/>
          <p:cNvSpPr txBox="1"/>
          <p:nvPr/>
        </p:nvSpPr>
        <p:spPr>
          <a:xfrm>
            <a:off x="5249455" y="49483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35" name="直接箭头连接符 34"/>
          <p:cNvCxnSpPr>
            <a:stCxn id="29" idx="3"/>
            <a:endCxn id="30" idx="1"/>
          </p:cNvCxnSpPr>
          <p:nvPr/>
        </p:nvCxnSpPr>
        <p:spPr>
          <a:xfrm flipV="1">
            <a:off x="3140638" y="5049397"/>
            <a:ext cx="2139705" cy="14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矩形: 圆角 40"/>
          <p:cNvSpPr/>
          <p:nvPr/>
        </p:nvSpPr>
        <p:spPr>
          <a:xfrm>
            <a:off x="3445530" y="2018242"/>
            <a:ext cx="1129551" cy="49754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2" name="矩形: 圆角 41"/>
          <p:cNvSpPr/>
          <p:nvPr/>
        </p:nvSpPr>
        <p:spPr>
          <a:xfrm>
            <a:off x="5143947" y="2018242"/>
            <a:ext cx="1129551" cy="49754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3" name="矩形: 圆角 42"/>
          <p:cNvSpPr/>
          <p:nvPr/>
        </p:nvSpPr>
        <p:spPr>
          <a:xfrm>
            <a:off x="6842363" y="2018242"/>
            <a:ext cx="1129551" cy="49754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5" name="文本框 44"/>
          <p:cNvSpPr txBox="1"/>
          <p:nvPr/>
        </p:nvSpPr>
        <p:spPr>
          <a:xfrm>
            <a:off x="7464465" y="3152001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监控集群状态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46" name="连接符: 肘形 51"/>
          <p:cNvCxnSpPr>
            <a:stCxn id="27" idx="2"/>
            <a:endCxn id="29" idx="0"/>
          </p:cNvCxnSpPr>
          <p:nvPr/>
        </p:nvCxnSpPr>
        <p:spPr>
          <a:xfrm flipH="1">
            <a:off x="2414497" y="2708004"/>
            <a:ext cx="3294226" cy="201506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3131274" y="3198167"/>
            <a:ext cx="833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服务状态变更通知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745905" y="4797921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继续写</a:t>
            </a:r>
            <a:endParaRPr lang="zh-CN" altLang="en-US" sz="12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8026400" y="3872705"/>
            <a:ext cx="1861706" cy="2499668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896" y="390748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809" y="550479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/>
          <p:cNvSpPr txBox="1"/>
          <p:nvPr/>
        </p:nvSpPr>
        <p:spPr>
          <a:xfrm>
            <a:off x="8663215" y="417617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703162" y="576088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71951" y="485782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7" name="直接箭头连接符 16"/>
          <p:cNvCxnSpPr>
            <a:stCxn id="27" idx="2"/>
            <a:endCxn id="5" idx="0"/>
          </p:cNvCxnSpPr>
          <p:nvPr/>
        </p:nvCxnSpPr>
        <p:spPr>
          <a:xfrm>
            <a:off x="5708723" y="2708004"/>
            <a:ext cx="3248530" cy="1164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等号 23"/>
          <p:cNvSpPr/>
          <p:nvPr/>
        </p:nvSpPr>
        <p:spPr>
          <a:xfrm>
            <a:off x="5353687" y="3120236"/>
            <a:ext cx="701673" cy="318924"/>
          </a:xfrm>
          <a:prstGeom prst="mathEqual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8" name="直接连接符 47"/>
          <p:cNvCxnSpPr>
            <a:stCxn id="27" idx="2"/>
            <a:endCxn id="24" idx="5"/>
          </p:cNvCxnSpPr>
          <p:nvPr/>
        </p:nvCxnSpPr>
        <p:spPr>
          <a:xfrm flipH="1">
            <a:off x="5704524" y="2708004"/>
            <a:ext cx="4199" cy="47793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24" idx="2"/>
            <a:endCxn id="26" idx="0"/>
          </p:cNvCxnSpPr>
          <p:nvPr/>
        </p:nvCxnSpPr>
        <p:spPr>
          <a:xfrm flipH="1">
            <a:off x="5693205" y="3373462"/>
            <a:ext cx="11319" cy="478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5" idx="2"/>
            <a:endCxn id="7" idx="0"/>
          </p:cNvCxnSpPr>
          <p:nvPr/>
        </p:nvCxnSpPr>
        <p:spPr>
          <a:xfrm flipH="1">
            <a:off x="8986646" y="4608137"/>
            <a:ext cx="10087" cy="89665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redis</a:t>
            </a:r>
            <a:r>
              <a:rPr lang="zh-CN" altLang="en-US" dirty="0"/>
              <a:t>集群（哨兵模式）脑裂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691194" y="5540204"/>
            <a:ext cx="6634480" cy="973718"/>
          </a:xfrm>
        </p:spPr>
        <p:txBody>
          <a:bodyPr/>
          <a:lstStyle/>
          <a:p>
            <a:r>
              <a:rPr lang="en-US" altLang="zh-CN" sz="1200" dirty="0" err="1"/>
              <a:t>redis</a:t>
            </a:r>
            <a:r>
              <a:rPr lang="zh-CN" altLang="en-US" sz="1200" dirty="0"/>
              <a:t>中有两个配置参数：</a:t>
            </a:r>
            <a:endParaRPr lang="en-US" altLang="zh-CN" sz="1200" dirty="0"/>
          </a:p>
          <a:p>
            <a:r>
              <a:rPr lang="en-US" altLang="zh-CN" sz="1200" dirty="0"/>
              <a:t>min-replicas-to-write 1   </a:t>
            </a:r>
            <a:r>
              <a:rPr lang="zh-CN" altLang="en-US" sz="1200" dirty="0"/>
              <a:t>表示最少的</a:t>
            </a:r>
            <a:r>
              <a:rPr lang="en-US" altLang="zh-CN" sz="1200" dirty="0"/>
              <a:t>salve</a:t>
            </a:r>
            <a:r>
              <a:rPr lang="zh-CN" altLang="en-US" sz="1200" dirty="0"/>
              <a:t>节点为</a:t>
            </a:r>
            <a:r>
              <a:rPr lang="en-US" altLang="zh-CN" sz="1200" dirty="0"/>
              <a:t>1</a:t>
            </a:r>
            <a:r>
              <a:rPr lang="zh-CN" altLang="en-US" sz="1200" dirty="0"/>
              <a:t>个</a:t>
            </a:r>
            <a:endParaRPr lang="zh-CN" altLang="en-US" sz="1200" dirty="0"/>
          </a:p>
          <a:p>
            <a:r>
              <a:rPr lang="en-US" altLang="zh-CN" sz="1200" dirty="0"/>
              <a:t>min-replicas-max-lag 5  </a:t>
            </a:r>
            <a:r>
              <a:rPr lang="zh-CN" altLang="en-US" sz="1200" dirty="0"/>
              <a:t>表示数据复制和同步的延迟不能超过</a:t>
            </a:r>
            <a:r>
              <a:rPr lang="en-US" altLang="zh-CN" sz="1200" dirty="0"/>
              <a:t>5</a:t>
            </a:r>
            <a:r>
              <a:rPr lang="zh-CN" altLang="en-US" sz="1200" dirty="0"/>
              <a:t>秒</a:t>
            </a:r>
            <a:endParaRPr lang="zh-CN" altLang="en-US" sz="1200" dirty="0"/>
          </a:p>
        </p:txBody>
      </p:sp>
      <p:sp>
        <p:nvSpPr>
          <p:cNvPr id="27" name="矩形: 圆角 26"/>
          <p:cNvSpPr/>
          <p:nvPr/>
        </p:nvSpPr>
        <p:spPr>
          <a:xfrm>
            <a:off x="3086546" y="1829100"/>
            <a:ext cx="5244353" cy="8789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/>
          <p:cNvSpPr/>
          <p:nvPr/>
        </p:nvSpPr>
        <p:spPr>
          <a:xfrm>
            <a:off x="1688355" y="4713641"/>
            <a:ext cx="1452283" cy="681009"/>
          </a:xfrm>
          <a:prstGeom prst="roundRect">
            <a:avLst/>
          </a:prstGeom>
          <a:solidFill>
            <a:srgbClr val="48504F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RedisClient</a:t>
            </a:r>
            <a:endParaRPr lang="zh-CN" altLang="en-US" sz="1400"/>
          </a:p>
        </p:txBody>
      </p:sp>
      <p:sp>
        <p:nvSpPr>
          <p:cNvPr id="41" name="矩形: 圆角 40"/>
          <p:cNvSpPr/>
          <p:nvPr/>
        </p:nvSpPr>
        <p:spPr>
          <a:xfrm>
            <a:off x="3445530" y="2018242"/>
            <a:ext cx="1129551" cy="49754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2" name="矩形: 圆角 41"/>
          <p:cNvSpPr/>
          <p:nvPr/>
        </p:nvSpPr>
        <p:spPr>
          <a:xfrm>
            <a:off x="5143947" y="2018242"/>
            <a:ext cx="1129551" cy="49754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3" name="矩形: 圆角 42"/>
          <p:cNvSpPr/>
          <p:nvPr/>
        </p:nvSpPr>
        <p:spPr>
          <a:xfrm>
            <a:off x="6842363" y="2018242"/>
            <a:ext cx="1129551" cy="49754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Sentinel</a:t>
            </a:r>
            <a:endParaRPr lang="zh-CN" altLang="en-US" sz="1400"/>
          </a:p>
        </p:txBody>
      </p:sp>
      <p:sp>
        <p:nvSpPr>
          <p:cNvPr id="45" name="文本框 44"/>
          <p:cNvSpPr txBox="1"/>
          <p:nvPr/>
        </p:nvSpPr>
        <p:spPr>
          <a:xfrm>
            <a:off x="7464465" y="3152001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监控集群状态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46" name="连接符: 肘形 51"/>
          <p:cNvCxnSpPr>
            <a:stCxn id="27" idx="2"/>
            <a:endCxn id="29" idx="0"/>
          </p:cNvCxnSpPr>
          <p:nvPr/>
        </p:nvCxnSpPr>
        <p:spPr>
          <a:xfrm flipH="1">
            <a:off x="2414497" y="2708004"/>
            <a:ext cx="3294226" cy="2005637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3131274" y="3198167"/>
            <a:ext cx="833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服务状态变更通知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6858000" y="3872705"/>
            <a:ext cx="3030106" cy="2499668"/>
          </a:xfrm>
          <a:prstGeom prst="roundRect">
            <a:avLst>
              <a:gd name="adj" fmla="val 545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D2A2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896" y="390748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809" y="5504794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/>
          <p:cNvSpPr txBox="1"/>
          <p:nvPr/>
        </p:nvSpPr>
        <p:spPr>
          <a:xfrm>
            <a:off x="8673375" y="41863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master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723482" y="578120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421711" y="482734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7" name="直接箭头连接符 16"/>
          <p:cNvCxnSpPr>
            <a:stCxn id="27" idx="2"/>
            <a:endCxn id="5" idx="0"/>
          </p:cNvCxnSpPr>
          <p:nvPr/>
        </p:nvCxnSpPr>
        <p:spPr>
          <a:xfrm>
            <a:off x="5708723" y="2708004"/>
            <a:ext cx="3248530" cy="1164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30" name="图片 2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263" y="4699070"/>
            <a:ext cx="721673" cy="7006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19" name="直接箭头连接符 18"/>
          <p:cNvCxnSpPr>
            <a:stCxn id="5" idx="2"/>
          </p:cNvCxnSpPr>
          <p:nvPr/>
        </p:nvCxnSpPr>
        <p:spPr>
          <a:xfrm flipH="1">
            <a:off x="7884160" y="4608137"/>
            <a:ext cx="1112573" cy="41090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5" idx="2"/>
            <a:endCxn id="7" idx="0"/>
          </p:cNvCxnSpPr>
          <p:nvPr/>
        </p:nvCxnSpPr>
        <p:spPr>
          <a:xfrm flipH="1">
            <a:off x="8986646" y="4608137"/>
            <a:ext cx="10087" cy="89665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219802" y="494808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+mn-lt"/>
                <a:ea typeface="+mn-ea"/>
              </a:rPr>
              <a:t>slave</a:t>
            </a:r>
            <a:endParaRPr lang="zh-CN" altLang="en-US" sz="14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140638" y="4297680"/>
            <a:ext cx="5444562" cy="756466"/>
            <a:chOff x="3140638" y="4297680"/>
            <a:chExt cx="5444562" cy="756466"/>
          </a:xfrm>
        </p:grpSpPr>
        <p:cxnSp>
          <p:nvCxnSpPr>
            <p:cNvPr id="25" name="直接箭头连接符 24"/>
            <p:cNvCxnSpPr>
              <a:stCxn id="29" idx="3"/>
            </p:cNvCxnSpPr>
            <p:nvPr/>
          </p:nvCxnSpPr>
          <p:spPr>
            <a:xfrm flipV="1">
              <a:off x="3140638" y="4297680"/>
              <a:ext cx="5444562" cy="756466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5122634" y="4427527"/>
              <a:ext cx="8330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写数据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407600" y="1695325"/>
            <a:ext cx="10698800" cy="58051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哨兵模式：</a:t>
            </a:r>
            <a:r>
              <a:rPr lang="zh-CN" altLang="en-US" sz="1400" dirty="0"/>
              <a:t>实现主从集群的自动故障恢复（监控、自动故障恢复、通知）</a:t>
            </a:r>
            <a:endParaRPr lang="zh-CN" altLang="en-US" sz="1400" dirty="0"/>
          </a:p>
        </p:txBody>
      </p:sp>
      <p:grpSp>
        <p:nvGrpSpPr>
          <p:cNvPr id="5" name="组合 4"/>
          <p:cNvGrpSpPr/>
          <p:nvPr/>
        </p:nvGrpSpPr>
        <p:grpSpPr>
          <a:xfrm>
            <a:off x="1149133" y="1079039"/>
            <a:ext cx="7595169" cy="1802973"/>
            <a:chOff x="1446218" y="1021955"/>
            <a:chExt cx="7876889" cy="1802973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1446218" y="1021955"/>
              <a:ext cx="6828580" cy="1802973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-1" fmla="*/ 779908 w 5296055"/>
                <a:gd name="connsiteY0-2" fmla="*/ 0 h 1976435"/>
                <a:gd name="connsiteX1-3" fmla="*/ 5193068 w 5296055"/>
                <a:gd name="connsiteY1-4" fmla="*/ 0 h 1976435"/>
                <a:gd name="connsiteX2-5" fmla="*/ 5296055 w 5296055"/>
                <a:gd name="connsiteY2-6" fmla="*/ 102987 h 1976435"/>
                <a:gd name="connsiteX3-7" fmla="*/ 5296055 w 5296055"/>
                <a:gd name="connsiteY3-8" fmla="*/ 514924 h 1976435"/>
                <a:gd name="connsiteX4-9" fmla="*/ 5193068 w 5296055"/>
                <a:gd name="connsiteY4-10" fmla="*/ 617911 h 1976435"/>
                <a:gd name="connsiteX5-11" fmla="*/ 852327 w 5296055"/>
                <a:gd name="connsiteY5-12" fmla="*/ 617911 h 1976435"/>
                <a:gd name="connsiteX6-13" fmla="*/ 0 w 5296055"/>
                <a:gd name="connsiteY6-14" fmla="*/ 1976435 h 1976435"/>
                <a:gd name="connsiteX7-15" fmla="*/ 676921 w 5296055"/>
                <a:gd name="connsiteY7-16" fmla="*/ 498849 h 1976435"/>
                <a:gd name="connsiteX8-17" fmla="*/ 676921 w 5296055"/>
                <a:gd name="connsiteY8-18" fmla="*/ 102987 h 1976435"/>
                <a:gd name="connsiteX9-19" fmla="*/ 779908 w 5296055"/>
                <a:gd name="connsiteY9-20" fmla="*/ 0 h 197643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5296055" h="1976435">
                  <a:moveTo>
                    <a:pt x="779908" y="0"/>
                  </a:moveTo>
                  <a:lnTo>
                    <a:pt x="5193068" y="0"/>
                  </a:lnTo>
                  <a:cubicBezTo>
                    <a:pt x="5249946" y="0"/>
                    <a:pt x="5296055" y="46109"/>
                    <a:pt x="5296055" y="102987"/>
                  </a:cubicBezTo>
                  <a:lnTo>
                    <a:pt x="5296055" y="514924"/>
                  </a:lnTo>
                  <a:cubicBezTo>
                    <a:pt x="5296055" y="571802"/>
                    <a:pt x="5249946" y="617911"/>
                    <a:pt x="5193068" y="617911"/>
                  </a:cubicBezTo>
                  <a:lnTo>
                    <a:pt x="852327" y="617911"/>
                  </a:lnTo>
                  <a:lnTo>
                    <a:pt x="0" y="1976435"/>
                  </a:lnTo>
                  <a:lnTo>
                    <a:pt x="676921" y="498849"/>
                  </a:lnTo>
                  <a:lnTo>
                    <a:pt x="676921" y="102987"/>
                  </a:lnTo>
                  <a:cubicBezTo>
                    <a:pt x="676921" y="46109"/>
                    <a:pt x="723030" y="0"/>
                    <a:pt x="779908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怎么保证</a:t>
              </a:r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的高并发高可用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图形 7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6295" y="2731130"/>
            <a:ext cx="867323" cy="116706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265227" y="2355010"/>
            <a:ext cx="7624353" cy="859390"/>
            <a:chOff x="1415952" y="1021955"/>
            <a:chExt cx="7907155" cy="859390"/>
          </a:xfrm>
        </p:grpSpPr>
        <p:sp>
          <p:nvSpPr>
            <p:cNvPr id="10" name="任意多边形: 形状 9"/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你们使用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是单点还是集群，哪种集群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347556" y="3538079"/>
            <a:ext cx="7405337" cy="768656"/>
            <a:chOff x="1643092" y="816979"/>
            <a:chExt cx="7680015" cy="768656"/>
          </a:xfrm>
        </p:grpSpPr>
        <p:sp>
          <p:nvSpPr>
            <p:cNvPr id="14" name="任意多边形: 形状 13"/>
            <p:cNvSpPr/>
            <p:nvPr/>
          </p:nvSpPr>
          <p:spPr bwMode="auto">
            <a:xfrm>
              <a:off x="1643092" y="816979"/>
              <a:ext cx="6631707" cy="768656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-1" fmla="*/ 102987 w 4619134"/>
                <a:gd name="connsiteY0-2" fmla="*/ 0 h 617911"/>
                <a:gd name="connsiteX1-3" fmla="*/ 4516147 w 4619134"/>
                <a:gd name="connsiteY1-4" fmla="*/ 0 h 617911"/>
                <a:gd name="connsiteX2-5" fmla="*/ 4619134 w 4619134"/>
                <a:gd name="connsiteY2-6" fmla="*/ 102987 h 617911"/>
                <a:gd name="connsiteX3-7" fmla="*/ 4619134 w 4619134"/>
                <a:gd name="connsiteY3-8" fmla="*/ 514924 h 617911"/>
                <a:gd name="connsiteX4-9" fmla="*/ 4516147 w 4619134"/>
                <a:gd name="connsiteY4-10" fmla="*/ 617911 h 617911"/>
                <a:gd name="connsiteX5-11" fmla="*/ 175406 w 4619134"/>
                <a:gd name="connsiteY5-12" fmla="*/ 617911 h 617911"/>
                <a:gd name="connsiteX6-13" fmla="*/ 3797 w 4619134"/>
                <a:gd name="connsiteY6-14" fmla="*/ 590174 h 617911"/>
                <a:gd name="connsiteX7-15" fmla="*/ 0 w 4619134"/>
                <a:gd name="connsiteY7-16" fmla="*/ 498849 h 617911"/>
                <a:gd name="connsiteX8-17" fmla="*/ 0 w 4619134"/>
                <a:gd name="connsiteY8-18" fmla="*/ 102987 h 617911"/>
                <a:gd name="connsiteX9-19" fmla="*/ 102987 w 4619134"/>
                <a:gd name="connsiteY9-20" fmla="*/ 0 h 617911"/>
                <a:gd name="connsiteX0-21" fmla="*/ 627218 w 5143365"/>
                <a:gd name="connsiteY0-22" fmla="*/ 224697 h 842608"/>
                <a:gd name="connsiteX1-23" fmla="*/ 5040378 w 5143365"/>
                <a:gd name="connsiteY1-24" fmla="*/ 224697 h 842608"/>
                <a:gd name="connsiteX2-25" fmla="*/ 5143365 w 5143365"/>
                <a:gd name="connsiteY2-26" fmla="*/ 327684 h 842608"/>
                <a:gd name="connsiteX3-27" fmla="*/ 5143365 w 5143365"/>
                <a:gd name="connsiteY3-28" fmla="*/ 739621 h 842608"/>
                <a:gd name="connsiteX4-29" fmla="*/ 5040378 w 5143365"/>
                <a:gd name="connsiteY4-30" fmla="*/ 842608 h 842608"/>
                <a:gd name="connsiteX5-31" fmla="*/ 699637 w 5143365"/>
                <a:gd name="connsiteY5-32" fmla="*/ 842608 h 842608"/>
                <a:gd name="connsiteX6-33" fmla="*/ 528028 w 5143365"/>
                <a:gd name="connsiteY6-34" fmla="*/ 814871 h 842608"/>
                <a:gd name="connsiteX7-35" fmla="*/ 524231 w 5143365"/>
                <a:gd name="connsiteY7-36" fmla="*/ 723546 h 842608"/>
                <a:gd name="connsiteX8-37" fmla="*/ 0 w 5143365"/>
                <a:gd name="connsiteY8-38" fmla="*/ 7777 h 842608"/>
                <a:gd name="connsiteX9-39" fmla="*/ 627218 w 5143365"/>
                <a:gd name="connsiteY9-40" fmla="*/ 224697 h 842608"/>
                <a:gd name="connsiteX0-41" fmla="*/ 627218 w 5143365"/>
                <a:gd name="connsiteY0-42" fmla="*/ 224697 h 842608"/>
                <a:gd name="connsiteX1-43" fmla="*/ 5040378 w 5143365"/>
                <a:gd name="connsiteY1-44" fmla="*/ 224697 h 842608"/>
                <a:gd name="connsiteX2-45" fmla="*/ 5143365 w 5143365"/>
                <a:gd name="connsiteY2-46" fmla="*/ 327684 h 842608"/>
                <a:gd name="connsiteX3-47" fmla="*/ 5143365 w 5143365"/>
                <a:gd name="connsiteY3-48" fmla="*/ 739621 h 842608"/>
                <a:gd name="connsiteX4-49" fmla="*/ 5040378 w 5143365"/>
                <a:gd name="connsiteY4-50" fmla="*/ 842608 h 842608"/>
                <a:gd name="connsiteX5-51" fmla="*/ 699637 w 5143365"/>
                <a:gd name="connsiteY5-52" fmla="*/ 842608 h 842608"/>
                <a:gd name="connsiteX6-53" fmla="*/ 574974 w 5143365"/>
                <a:gd name="connsiteY6-54" fmla="*/ 772216 h 842608"/>
                <a:gd name="connsiteX7-55" fmla="*/ 524231 w 5143365"/>
                <a:gd name="connsiteY7-56" fmla="*/ 723546 h 842608"/>
                <a:gd name="connsiteX8-57" fmla="*/ 0 w 5143365"/>
                <a:gd name="connsiteY8-58" fmla="*/ 7777 h 842608"/>
                <a:gd name="connsiteX9-59" fmla="*/ 627218 w 5143365"/>
                <a:gd name="connsiteY9-60" fmla="*/ 224697 h 8426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5143365" h="842608">
                  <a:moveTo>
                    <a:pt x="627218" y="224697"/>
                  </a:moveTo>
                  <a:lnTo>
                    <a:pt x="5040378" y="224697"/>
                  </a:lnTo>
                  <a:cubicBezTo>
                    <a:pt x="5097256" y="224697"/>
                    <a:pt x="5143365" y="270806"/>
                    <a:pt x="5143365" y="327684"/>
                  </a:cubicBezTo>
                  <a:lnTo>
                    <a:pt x="5143365" y="739621"/>
                  </a:lnTo>
                  <a:cubicBezTo>
                    <a:pt x="5143365" y="796499"/>
                    <a:pt x="5097256" y="842608"/>
                    <a:pt x="5040378" y="842608"/>
                  </a:cubicBezTo>
                  <a:lnTo>
                    <a:pt x="699637" y="842608"/>
                  </a:lnTo>
                  <a:lnTo>
                    <a:pt x="574974" y="772216"/>
                  </a:lnTo>
                  <a:lnTo>
                    <a:pt x="524231" y="723546"/>
                  </a:lnTo>
                  <a:lnTo>
                    <a:pt x="0" y="7777"/>
                  </a:lnTo>
                  <a:cubicBezTo>
                    <a:pt x="0" y="-49101"/>
                    <a:pt x="570340" y="224697"/>
                    <a:pt x="627218" y="224697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集群脑裂，该怎么解决呢？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文本占位符 2"/>
          <p:cNvSpPr txBox="1"/>
          <p:nvPr/>
        </p:nvSpPr>
        <p:spPr>
          <a:xfrm>
            <a:off x="2153077" y="3071638"/>
            <a:ext cx="9790684" cy="5805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主从（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主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从）</a:t>
            </a:r>
            <a:r>
              <a:rPr lang="en-US" altLang="zh-CN" sz="1400" dirty="0">
                <a:solidFill>
                  <a:schemeClr val="tx1"/>
                </a:solidFill>
              </a:rPr>
              <a:t>+</a:t>
            </a:r>
            <a:r>
              <a:rPr lang="zh-CN" altLang="en-US" sz="1400" dirty="0">
                <a:solidFill>
                  <a:schemeClr val="tx1"/>
                </a:solidFill>
              </a:rPr>
              <a:t>哨兵就可以了。单节点不超过</a:t>
            </a:r>
            <a:r>
              <a:rPr lang="en-US" altLang="zh-CN" sz="1400" dirty="0">
                <a:solidFill>
                  <a:schemeClr val="tx1"/>
                </a:solidFill>
              </a:rPr>
              <a:t>10G</a:t>
            </a:r>
            <a:r>
              <a:rPr lang="zh-CN" altLang="en-US" sz="1400" dirty="0">
                <a:solidFill>
                  <a:schemeClr val="tx1"/>
                </a:solidFill>
              </a:rPr>
              <a:t>内存，如果</a:t>
            </a:r>
            <a:r>
              <a:rPr lang="en-US" altLang="zh-CN" sz="1400" dirty="0">
                <a:solidFill>
                  <a:schemeClr val="tx1"/>
                </a:solidFill>
              </a:rPr>
              <a:t>Redis</a:t>
            </a:r>
            <a:r>
              <a:rPr lang="zh-CN" altLang="en-US" sz="1400" dirty="0">
                <a:solidFill>
                  <a:schemeClr val="tx1"/>
                </a:solidFill>
              </a:rPr>
              <a:t>内存不足则可以给不同服务分配独立的</a:t>
            </a:r>
            <a:r>
              <a:rPr lang="en-US" altLang="zh-CN" sz="1400" dirty="0">
                <a:solidFill>
                  <a:schemeClr val="tx1"/>
                </a:solidFill>
              </a:rPr>
              <a:t>Redis</a:t>
            </a:r>
            <a:r>
              <a:rPr lang="zh-CN" altLang="en-US" sz="1400" dirty="0">
                <a:solidFill>
                  <a:schemeClr val="tx1"/>
                </a:solidFill>
              </a:rPr>
              <a:t>主从节点</a:t>
            </a:r>
            <a:endParaRPr lang="zh-CN" altLang="en-US" sz="1400" dirty="0"/>
          </a:p>
        </p:txBody>
      </p:sp>
      <p:sp>
        <p:nvSpPr>
          <p:cNvPr id="16" name="文本占位符 2"/>
          <p:cNvSpPr txBox="1"/>
          <p:nvPr/>
        </p:nvSpPr>
        <p:spPr>
          <a:xfrm>
            <a:off x="2143650" y="4419672"/>
            <a:ext cx="9790684" cy="216966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集群脑裂</a:t>
            </a:r>
            <a:r>
              <a:rPr lang="zh-CN" altLang="en-US" sz="1400" dirty="0">
                <a:solidFill>
                  <a:schemeClr val="tx1"/>
                </a:solidFill>
              </a:rPr>
              <a:t>是由于主节点和从节点和</a:t>
            </a:r>
            <a:r>
              <a:rPr lang="en-US" altLang="zh-CN" sz="1400" dirty="0">
                <a:solidFill>
                  <a:schemeClr val="tx1"/>
                </a:solidFill>
              </a:rPr>
              <a:t>sentinel</a:t>
            </a:r>
            <a:r>
              <a:rPr lang="zh-CN" altLang="en-US" sz="1400" dirty="0">
                <a:solidFill>
                  <a:schemeClr val="tx1"/>
                </a:solidFill>
              </a:rPr>
              <a:t>处于不同的网络分区，使得</a:t>
            </a:r>
            <a:r>
              <a:rPr lang="en-US" altLang="zh-CN" sz="1400" dirty="0">
                <a:solidFill>
                  <a:schemeClr val="tx1"/>
                </a:solidFill>
              </a:rPr>
              <a:t>sentinel</a:t>
            </a:r>
            <a:r>
              <a:rPr lang="zh-CN" altLang="en-US" sz="1400" dirty="0">
                <a:solidFill>
                  <a:schemeClr val="tx1"/>
                </a:solidFill>
              </a:rPr>
              <a:t>没有能够心跳感知到主节点，所以通过选举的方式提升了一个从节点为主，这样就存在了两个</a:t>
            </a:r>
            <a:r>
              <a:rPr lang="en-US" altLang="zh-CN" sz="1400" dirty="0">
                <a:solidFill>
                  <a:schemeClr val="tx1"/>
                </a:solidFill>
              </a:rPr>
              <a:t>master</a:t>
            </a:r>
            <a:r>
              <a:rPr lang="zh-CN" altLang="en-US" sz="1400" dirty="0">
                <a:solidFill>
                  <a:schemeClr val="tx1"/>
                </a:solidFill>
              </a:rPr>
              <a:t>，就像大脑分裂了一样，这样会导致客户端还在老的主节点那里写入数据，新节点无法同步数据，当网络恢复后，</a:t>
            </a:r>
            <a:r>
              <a:rPr lang="en-US" altLang="zh-CN" sz="1400" dirty="0">
                <a:solidFill>
                  <a:schemeClr val="tx1"/>
                </a:solidFill>
              </a:rPr>
              <a:t>sentinel</a:t>
            </a:r>
            <a:r>
              <a:rPr lang="zh-CN" altLang="en-US" sz="1400" dirty="0">
                <a:solidFill>
                  <a:schemeClr val="tx1"/>
                </a:solidFill>
              </a:rPr>
              <a:t>会将老的主节点降为从节点，这时再从新</a:t>
            </a:r>
            <a:r>
              <a:rPr lang="en-US" altLang="zh-CN" sz="1400" dirty="0">
                <a:solidFill>
                  <a:schemeClr val="tx1"/>
                </a:solidFill>
              </a:rPr>
              <a:t>master</a:t>
            </a:r>
            <a:r>
              <a:rPr lang="zh-CN" altLang="en-US" sz="1400" dirty="0">
                <a:solidFill>
                  <a:schemeClr val="tx1"/>
                </a:solidFill>
              </a:rPr>
              <a:t>同步数据，就会导致数据丢失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zh-CN" altLang="en-US" sz="1400" b="1" dirty="0">
                <a:solidFill>
                  <a:schemeClr val="tx1"/>
                </a:solidFill>
              </a:rPr>
              <a:t>解决</a:t>
            </a:r>
            <a:r>
              <a:rPr lang="zh-CN" altLang="en-US" sz="1400" dirty="0">
                <a:solidFill>
                  <a:schemeClr val="tx1"/>
                </a:solidFill>
              </a:rPr>
              <a:t>：我们可以修改</a:t>
            </a:r>
            <a:r>
              <a:rPr lang="en-US" altLang="zh-CN" sz="1400" dirty="0" err="1">
                <a:solidFill>
                  <a:schemeClr val="tx1"/>
                </a:solidFill>
              </a:rPr>
              <a:t>redis</a:t>
            </a:r>
            <a:r>
              <a:rPr lang="zh-CN" altLang="en-US" sz="1400" dirty="0">
                <a:solidFill>
                  <a:schemeClr val="tx1"/>
                </a:solidFill>
              </a:rPr>
              <a:t>的配置，可以设置最少的从节点数量以及缩短主从数据同步的延迟时间，达不到要求就拒绝请求，就可以避免大量的数据丢失</a:t>
            </a:r>
            <a:endParaRPr lang="zh-CN" altLang="en-US" sz="140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155" y="838190"/>
            <a:ext cx="6945633" cy="5637821"/>
          </a:xfrm>
          <a:prstGeom prst="rect">
            <a:avLst/>
          </a:prstGeom>
          <a:solidFill>
            <a:schemeClr val="bg1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  <p:bldP spid="1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分片集群结构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主从和哨兵可以解决高可用、高并发读的问题。但是依然有两个问题没有解决：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海量数据存储问题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高并发写的问题</a:t>
            </a:r>
            <a:endParaRPr lang="en-US" altLang="zh-CN" dirty="0"/>
          </a:p>
          <a:p>
            <a:r>
              <a:rPr lang="zh-CN" altLang="en-US" dirty="0"/>
              <a:t>使用分片集群可以解决上述问题，分片集群特征：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集群中有多个</a:t>
            </a:r>
            <a:r>
              <a:rPr lang="en-US" altLang="zh-CN" dirty="0"/>
              <a:t>master</a:t>
            </a:r>
            <a:r>
              <a:rPr lang="zh-CN" altLang="en-US" dirty="0"/>
              <a:t>，每个</a:t>
            </a:r>
            <a:r>
              <a:rPr lang="en-US" altLang="zh-CN" dirty="0"/>
              <a:t>master</a:t>
            </a:r>
            <a:r>
              <a:rPr lang="zh-CN" altLang="en-US" dirty="0"/>
              <a:t>保存不同数据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每个</a:t>
            </a:r>
            <a:r>
              <a:rPr lang="en-US" altLang="zh-CN" dirty="0"/>
              <a:t>master</a:t>
            </a:r>
            <a:r>
              <a:rPr lang="zh-CN" altLang="en-US" dirty="0"/>
              <a:t>都可以有多个</a:t>
            </a:r>
            <a:r>
              <a:rPr lang="en-US" altLang="zh-CN" dirty="0"/>
              <a:t>slave</a:t>
            </a:r>
            <a:r>
              <a:rPr lang="zh-CN" altLang="en-US" dirty="0"/>
              <a:t>节点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master</a:t>
            </a:r>
            <a:r>
              <a:rPr lang="zh-CN" altLang="en-US" dirty="0"/>
              <a:t>之间通过</a:t>
            </a:r>
            <a:r>
              <a:rPr lang="en-US" altLang="zh-CN" dirty="0"/>
              <a:t>ping</a:t>
            </a:r>
            <a:r>
              <a:rPr lang="zh-CN" altLang="en-US" dirty="0"/>
              <a:t>监测彼此健康状态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客户端请求可以访问集群任意节点，最终都会被转发到正确节点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45" y="4567964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矩形: 圆角 10"/>
          <p:cNvSpPr/>
          <p:nvPr/>
        </p:nvSpPr>
        <p:spPr>
          <a:xfrm>
            <a:off x="7511785" y="4878382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master</a:t>
            </a:r>
            <a:endParaRPr lang="zh-CN" altLang="en-US" sz="110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431" y="5784855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1" name="矩形: 圆角 20"/>
          <p:cNvSpPr/>
          <p:nvPr/>
        </p:nvSpPr>
        <p:spPr>
          <a:xfrm>
            <a:off x="6883681" y="6077546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30" name="直接箭头连接符 29"/>
          <p:cNvCxnSpPr>
            <a:stCxn id="6" idx="2"/>
            <a:endCxn id="20" idx="0"/>
          </p:cNvCxnSpPr>
          <p:nvPr/>
        </p:nvCxnSpPr>
        <p:spPr>
          <a:xfrm flipH="1">
            <a:off x="7163162" y="5188800"/>
            <a:ext cx="616714" cy="59605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7427284" y="5460436"/>
            <a:ext cx="7571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数据同步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521" y="5784855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7" name="矩形: 圆角 66"/>
          <p:cNvSpPr/>
          <p:nvPr/>
        </p:nvSpPr>
        <p:spPr>
          <a:xfrm>
            <a:off x="8161771" y="6077546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69" name="直接箭头连接符 68"/>
          <p:cNvCxnSpPr>
            <a:stCxn id="6" idx="2"/>
            <a:endCxn id="66" idx="0"/>
          </p:cNvCxnSpPr>
          <p:nvPr/>
        </p:nvCxnSpPr>
        <p:spPr>
          <a:xfrm>
            <a:off x="7779876" y="5188800"/>
            <a:ext cx="661376" cy="59605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3" name="图片 7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701" y="4567964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4" name="矩形: 圆角 73"/>
          <p:cNvSpPr/>
          <p:nvPr/>
        </p:nvSpPr>
        <p:spPr>
          <a:xfrm>
            <a:off x="9784341" y="4878382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master</a:t>
            </a:r>
            <a:endParaRPr lang="zh-CN" altLang="en-US" sz="1100"/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987" y="5784855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7" name="矩形: 圆角 76"/>
          <p:cNvSpPr/>
          <p:nvPr/>
        </p:nvSpPr>
        <p:spPr>
          <a:xfrm>
            <a:off x="9156237" y="6077546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78" name="直接箭头连接符 77"/>
          <p:cNvCxnSpPr>
            <a:stCxn id="73" idx="2"/>
            <a:endCxn id="76" idx="0"/>
          </p:cNvCxnSpPr>
          <p:nvPr/>
        </p:nvCxnSpPr>
        <p:spPr>
          <a:xfrm flipH="1">
            <a:off x="9435718" y="5188800"/>
            <a:ext cx="616714" cy="59605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9699840" y="5460436"/>
            <a:ext cx="7571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数据同步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4077" y="5784855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2" name="矩形: 圆角 81"/>
          <p:cNvSpPr/>
          <p:nvPr/>
        </p:nvSpPr>
        <p:spPr>
          <a:xfrm>
            <a:off x="10434327" y="6077546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83" name="直接箭头连接符 82"/>
          <p:cNvCxnSpPr>
            <a:stCxn id="73" idx="2"/>
            <a:endCxn id="81" idx="0"/>
          </p:cNvCxnSpPr>
          <p:nvPr/>
        </p:nvCxnSpPr>
        <p:spPr>
          <a:xfrm>
            <a:off x="10052432" y="5188800"/>
            <a:ext cx="661376" cy="59605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214" y="3238709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" name="矩形: 圆角 14"/>
          <p:cNvSpPr/>
          <p:nvPr/>
        </p:nvSpPr>
        <p:spPr>
          <a:xfrm>
            <a:off x="8651854" y="3549127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master</a:t>
            </a:r>
            <a:endParaRPr lang="zh-CN" altLang="en-US" sz="110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241" y="2075746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矩形: 圆角 22"/>
          <p:cNvSpPr/>
          <p:nvPr/>
        </p:nvSpPr>
        <p:spPr>
          <a:xfrm>
            <a:off x="7848881" y="2386164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29" name="直接箭头连接符 28"/>
          <p:cNvCxnSpPr>
            <a:stCxn id="14" idx="0"/>
            <a:endCxn id="22" idx="2"/>
          </p:cNvCxnSpPr>
          <p:nvPr/>
        </p:nvCxnSpPr>
        <p:spPr>
          <a:xfrm flipH="1" flipV="1">
            <a:off x="8116972" y="2696582"/>
            <a:ext cx="802973" cy="54212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8561762" y="2836392"/>
            <a:ext cx="7721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数据同步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268" y="2074849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6" name="矩形: 圆角 85"/>
          <p:cNvSpPr/>
          <p:nvPr/>
        </p:nvSpPr>
        <p:spPr>
          <a:xfrm>
            <a:off x="9491908" y="2385267"/>
            <a:ext cx="536183" cy="126036"/>
          </a:xfrm>
          <a:prstGeom prst="roundRect">
            <a:avLst>
              <a:gd name="adj" fmla="val 8408"/>
            </a:avLst>
          </a:prstGeom>
          <a:solidFill>
            <a:srgbClr val="FFC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slave</a:t>
            </a:r>
            <a:endParaRPr lang="zh-CN" altLang="en-US" sz="1100"/>
          </a:p>
        </p:txBody>
      </p:sp>
      <p:cxnSp>
        <p:nvCxnSpPr>
          <p:cNvPr id="87" name="直接箭头连接符 86"/>
          <p:cNvCxnSpPr>
            <a:stCxn id="14" idx="0"/>
            <a:endCxn id="85" idx="2"/>
          </p:cNvCxnSpPr>
          <p:nvPr/>
        </p:nvCxnSpPr>
        <p:spPr>
          <a:xfrm flipV="1">
            <a:off x="8919945" y="2695685"/>
            <a:ext cx="840054" cy="54302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>
            <a:stCxn id="14" idx="1"/>
            <a:endCxn id="6" idx="0"/>
          </p:cNvCxnSpPr>
          <p:nvPr/>
        </p:nvCxnSpPr>
        <p:spPr>
          <a:xfrm flipH="1">
            <a:off x="7779876" y="3549127"/>
            <a:ext cx="820338" cy="1018837"/>
          </a:xfrm>
          <a:prstGeom prst="straightConnector1">
            <a:avLst/>
          </a:prstGeom>
          <a:ln>
            <a:solidFill>
              <a:srgbClr val="C00000"/>
            </a:solidFill>
            <a:prstDash val="lgDash"/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73" idx="1"/>
            <a:endCxn id="6" idx="3"/>
          </p:cNvCxnSpPr>
          <p:nvPr/>
        </p:nvCxnSpPr>
        <p:spPr>
          <a:xfrm flipH="1">
            <a:off x="8099606" y="4878382"/>
            <a:ext cx="1633095" cy="0"/>
          </a:xfrm>
          <a:prstGeom prst="straightConnector1">
            <a:avLst/>
          </a:prstGeom>
          <a:ln>
            <a:solidFill>
              <a:srgbClr val="C00000"/>
            </a:solidFill>
            <a:prstDash val="lgDash"/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73" idx="0"/>
            <a:endCxn id="14" idx="3"/>
          </p:cNvCxnSpPr>
          <p:nvPr/>
        </p:nvCxnSpPr>
        <p:spPr>
          <a:xfrm flipH="1" flipV="1">
            <a:off x="9239675" y="3549127"/>
            <a:ext cx="812757" cy="1018837"/>
          </a:xfrm>
          <a:prstGeom prst="straightConnector1">
            <a:avLst/>
          </a:prstGeom>
          <a:ln>
            <a:solidFill>
              <a:srgbClr val="C00000"/>
            </a:solidFill>
            <a:prstDash val="lgDash"/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184436" y="3999186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心跳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266526" y="4009224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心跳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703414" y="4668097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心跳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6" presetClass="entr" presetSubtype="37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6" presetClass="entr" presetSubtype="37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6" presetClass="entr" presetSubtype="37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1" grpId="0" animBg="1"/>
      <p:bldP spid="37" grpId="0"/>
      <p:bldP spid="67" grpId="0" animBg="1"/>
      <p:bldP spid="74" grpId="0" animBg="1"/>
      <p:bldP spid="77" grpId="0" animBg="1"/>
      <p:bldP spid="79" grpId="0"/>
      <p:bldP spid="82" grpId="0" animBg="1"/>
      <p:bldP spid="15" grpId="0" animBg="1"/>
      <p:bldP spid="23" grpId="0" animBg="1"/>
      <p:bldP spid="36" grpId="0"/>
      <p:bldP spid="86" grpId="0" animBg="1"/>
      <p:bldP spid="16" grpId="0"/>
      <p:bldP spid="43" grpId="0"/>
      <p:bldP spid="4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分片集群结构</a:t>
            </a:r>
            <a:r>
              <a:rPr lang="en-US" altLang="zh-CN" dirty="0"/>
              <a:t>-</a:t>
            </a:r>
            <a:r>
              <a:rPr lang="zh-CN" altLang="en-US" dirty="0"/>
              <a:t>数据读写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885316"/>
          </a:xfrm>
        </p:spPr>
        <p:txBody>
          <a:bodyPr/>
          <a:lstStyle/>
          <a:p>
            <a:r>
              <a:rPr lang="en-US" altLang="zh-CN" dirty="0"/>
              <a:t>Redis </a:t>
            </a:r>
            <a:r>
              <a:rPr lang="zh-CN" altLang="en-US" dirty="0"/>
              <a:t>分片集群引入了哈希槽的概念，</a:t>
            </a:r>
            <a:r>
              <a:rPr lang="en-US" altLang="zh-CN" dirty="0"/>
              <a:t>Redis </a:t>
            </a:r>
            <a:r>
              <a:rPr lang="zh-CN" altLang="en-US" dirty="0"/>
              <a:t>集群有 </a:t>
            </a:r>
            <a:r>
              <a:rPr lang="en-US" altLang="zh-CN" dirty="0"/>
              <a:t>16384 </a:t>
            </a:r>
            <a:r>
              <a:rPr lang="zh-CN" altLang="en-US" dirty="0"/>
              <a:t>个哈希槽，每个 </a:t>
            </a:r>
            <a:r>
              <a:rPr lang="en-US" altLang="zh-CN" dirty="0"/>
              <a:t>key</a:t>
            </a:r>
            <a:r>
              <a:rPr lang="zh-CN" altLang="en-US" dirty="0"/>
              <a:t>通过 </a:t>
            </a:r>
            <a:r>
              <a:rPr lang="en-US" altLang="zh-CN" dirty="0"/>
              <a:t>CRC16 </a:t>
            </a:r>
            <a:r>
              <a:rPr lang="zh-CN" altLang="en-US" dirty="0"/>
              <a:t>校验后对 </a:t>
            </a:r>
            <a:r>
              <a:rPr lang="en-US" altLang="zh-CN" dirty="0"/>
              <a:t>16384 </a:t>
            </a:r>
            <a:r>
              <a:rPr lang="zh-CN" altLang="en-US" dirty="0"/>
              <a:t>取模来决定放置哪个槽，集群的每个节点负责一部分 </a:t>
            </a:r>
            <a:r>
              <a:rPr lang="en-US" altLang="zh-CN" dirty="0"/>
              <a:t>hash </a:t>
            </a:r>
            <a:r>
              <a:rPr lang="zh-CN" altLang="en-US" dirty="0"/>
              <a:t>槽。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454" y="2899604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矩形: 圆角 4"/>
          <p:cNvSpPr/>
          <p:nvPr/>
        </p:nvSpPr>
        <p:spPr>
          <a:xfrm>
            <a:off x="5186454" y="3210022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master</a:t>
            </a:r>
            <a:endParaRPr lang="zh-CN" altLang="en-US" sz="11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974" y="4047684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矩形: 圆角 6"/>
          <p:cNvSpPr/>
          <p:nvPr/>
        </p:nvSpPr>
        <p:spPr>
          <a:xfrm>
            <a:off x="5155974" y="4358102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 dirty="0"/>
              <a:t>master</a:t>
            </a:r>
            <a:endParaRPr lang="zh-CN" altLang="en-US" sz="11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494" y="5297364"/>
            <a:ext cx="639461" cy="6208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矩形: 圆角 8"/>
          <p:cNvSpPr/>
          <p:nvPr/>
        </p:nvSpPr>
        <p:spPr>
          <a:xfrm>
            <a:off x="5125494" y="5607782"/>
            <a:ext cx="536183" cy="126036"/>
          </a:xfrm>
          <a:prstGeom prst="roundRect">
            <a:avLst>
              <a:gd name="adj" fmla="val 8408"/>
            </a:avLst>
          </a:prstGeom>
          <a:solidFill>
            <a:srgbClr val="D7271B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 dirty="0"/>
              <a:t>master</a:t>
            </a:r>
            <a:endParaRPr lang="zh-CN" altLang="en-US" sz="1100" dirty="0"/>
          </a:p>
        </p:txBody>
      </p:sp>
      <p:sp>
        <p:nvSpPr>
          <p:cNvPr id="11" name="文本占位符 2"/>
          <p:cNvSpPr txBox="1"/>
          <p:nvPr/>
        </p:nvSpPr>
        <p:spPr>
          <a:xfrm>
            <a:off x="5120320" y="3429000"/>
            <a:ext cx="904560" cy="478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0-5460</a:t>
            </a:r>
            <a:endParaRPr lang="zh-CN" altLang="en-US" sz="1400" dirty="0"/>
          </a:p>
        </p:txBody>
      </p:sp>
      <p:sp>
        <p:nvSpPr>
          <p:cNvPr id="12" name="文本占位符 2"/>
          <p:cNvSpPr txBox="1"/>
          <p:nvPr/>
        </p:nvSpPr>
        <p:spPr>
          <a:xfrm>
            <a:off x="4988240" y="4560445"/>
            <a:ext cx="1514160" cy="478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5461-10922</a:t>
            </a:r>
            <a:endParaRPr lang="zh-CN" altLang="en-US" sz="1400" dirty="0"/>
          </a:p>
        </p:txBody>
      </p:sp>
      <p:sp>
        <p:nvSpPr>
          <p:cNvPr id="13" name="文本占位符 2"/>
          <p:cNvSpPr txBox="1"/>
          <p:nvPr/>
        </p:nvSpPr>
        <p:spPr>
          <a:xfrm>
            <a:off x="4866320" y="5840605"/>
            <a:ext cx="1514160" cy="478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10923-16383</a:t>
            </a:r>
            <a:endParaRPr lang="zh-CN" altLang="en-US" sz="1400" dirty="0"/>
          </a:p>
        </p:txBody>
      </p:sp>
      <p:sp>
        <p:nvSpPr>
          <p:cNvPr id="14" name="矩形: 圆角 13"/>
          <p:cNvSpPr/>
          <p:nvPr/>
        </p:nvSpPr>
        <p:spPr bwMode="auto">
          <a:xfrm>
            <a:off x="853440" y="2895600"/>
            <a:ext cx="2509520" cy="533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 name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itheima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 bwMode="auto">
          <a:xfrm>
            <a:off x="863600" y="4064000"/>
            <a:ext cx="2479040" cy="6400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CRC16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计算</a:t>
            </a:r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name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的</a:t>
            </a:r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hash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值</a:t>
            </a:r>
            <a:endParaRPr lang="zh-CN" altLang="en-US" sz="14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17" name="直接箭头连接符 16"/>
          <p:cNvCxnSpPr>
            <a:stCxn id="14" idx="2"/>
            <a:endCxn id="15" idx="0"/>
          </p:cNvCxnSpPr>
          <p:nvPr/>
        </p:nvCxnSpPr>
        <p:spPr>
          <a:xfrm flipH="1">
            <a:off x="2103120" y="3429000"/>
            <a:ext cx="5080" cy="63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2"/>
          <p:cNvSpPr txBox="1"/>
          <p:nvPr/>
        </p:nvSpPr>
        <p:spPr>
          <a:xfrm>
            <a:off x="3443920" y="4194685"/>
            <a:ext cx="904560" cy="478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666666</a:t>
            </a:r>
            <a:endParaRPr lang="zh-CN" altLang="en-US" sz="1400" dirty="0"/>
          </a:p>
        </p:txBody>
      </p:sp>
      <p:sp>
        <p:nvSpPr>
          <p:cNvPr id="21" name="矩形: 圆角 20"/>
          <p:cNvSpPr/>
          <p:nvPr/>
        </p:nvSpPr>
        <p:spPr bwMode="auto">
          <a:xfrm>
            <a:off x="863600" y="5283200"/>
            <a:ext cx="2479040" cy="64008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666666 % 16384 = 11306</a:t>
            </a:r>
            <a:endParaRPr lang="zh-CN" altLang="en-US" sz="14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23" name="直接箭头连接符 22"/>
          <p:cNvCxnSpPr>
            <a:stCxn id="15" idx="2"/>
            <a:endCxn id="21" idx="0"/>
          </p:cNvCxnSpPr>
          <p:nvPr/>
        </p:nvCxnSpPr>
        <p:spPr>
          <a:xfrm>
            <a:off x="2103120" y="4704080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1" idx="3"/>
            <a:endCxn id="8" idx="1"/>
          </p:cNvCxnSpPr>
          <p:nvPr/>
        </p:nvCxnSpPr>
        <p:spPr>
          <a:xfrm>
            <a:off x="3342640" y="5603240"/>
            <a:ext cx="1782854" cy="4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/>
          <p:cNvSpPr/>
          <p:nvPr/>
        </p:nvSpPr>
        <p:spPr bwMode="auto">
          <a:xfrm>
            <a:off x="8087360" y="2905760"/>
            <a:ext cx="2509520" cy="533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 {</a:t>
            </a:r>
            <a:r>
              <a:rPr lang="en-US" altLang="zh-CN" sz="1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}name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itheima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: 圆角 30"/>
          <p:cNvSpPr/>
          <p:nvPr/>
        </p:nvSpPr>
        <p:spPr bwMode="auto">
          <a:xfrm>
            <a:off x="8097520" y="4074160"/>
            <a:ext cx="2479040" cy="6400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CRC16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算法计算</a:t>
            </a:r>
            <a:r>
              <a:rPr lang="en-US" altLang="zh-CN" sz="1400" dirty="0" err="1">
                <a:solidFill>
                  <a:srgbClr val="C00000"/>
                </a:solidFill>
                <a:ea typeface="阿里巴巴普惠体" panose="00020600040101010101" pitchFamily="18" charset="-122"/>
              </a:rPr>
              <a:t>aaa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的</a:t>
            </a:r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hash</a:t>
            </a:r>
            <a:r>
              <a:rPr lang="zh-CN" altLang="en-US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值</a:t>
            </a:r>
            <a:endParaRPr lang="zh-CN" altLang="en-US" sz="14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32" name="直接箭头连接符 31"/>
          <p:cNvCxnSpPr>
            <a:stCxn id="30" idx="2"/>
            <a:endCxn id="31" idx="0"/>
          </p:cNvCxnSpPr>
          <p:nvPr/>
        </p:nvCxnSpPr>
        <p:spPr>
          <a:xfrm flipH="1">
            <a:off x="9337040" y="3439160"/>
            <a:ext cx="5080" cy="63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/>
          <p:cNvSpPr/>
          <p:nvPr/>
        </p:nvSpPr>
        <p:spPr bwMode="auto">
          <a:xfrm>
            <a:off x="8097520" y="5293360"/>
            <a:ext cx="2479040" cy="64008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ea typeface="阿里巴巴普惠体" panose="00020600040101010101" pitchFamily="18" charset="-122"/>
              </a:rPr>
              <a:t>888888 % 16384 = 4152</a:t>
            </a:r>
            <a:endParaRPr lang="zh-CN" altLang="en-US" sz="140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34" name="直接箭头连接符 33"/>
          <p:cNvCxnSpPr>
            <a:stCxn id="31" idx="2"/>
            <a:endCxn id="33" idx="0"/>
          </p:cNvCxnSpPr>
          <p:nvPr/>
        </p:nvCxnSpPr>
        <p:spPr>
          <a:xfrm>
            <a:off x="9337040" y="4714240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占位符 2"/>
          <p:cNvSpPr txBox="1"/>
          <p:nvPr/>
        </p:nvSpPr>
        <p:spPr>
          <a:xfrm>
            <a:off x="10616880" y="4143885"/>
            <a:ext cx="904560" cy="4789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888888</a:t>
            </a:r>
            <a:endParaRPr lang="zh-CN" altLang="en-US" sz="1400" dirty="0"/>
          </a:p>
        </p:txBody>
      </p:sp>
      <p:cxnSp>
        <p:nvCxnSpPr>
          <p:cNvPr id="39" name="连接符: 肘形 38"/>
          <p:cNvCxnSpPr>
            <a:stCxn id="33" idx="1"/>
            <a:endCxn id="4" idx="3"/>
          </p:cNvCxnSpPr>
          <p:nvPr/>
        </p:nvCxnSpPr>
        <p:spPr>
          <a:xfrm rot="10800000">
            <a:off x="5825916" y="3210022"/>
            <a:ext cx="2271605" cy="24033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  <p:bldP spid="9" grpId="0" animBg="1"/>
      <p:bldP spid="11" grpId="0"/>
      <p:bldP spid="12" grpId="0"/>
      <p:bldP spid="13" grpId="0"/>
      <p:bldP spid="14" grpId="0" animBg="1"/>
      <p:bldP spid="15" grpId="0" animBg="1"/>
      <p:bldP spid="19" grpId="0"/>
      <p:bldP spid="21" grpId="0" animBg="1"/>
      <p:bldP spid="30" grpId="0" animBg="1"/>
      <p:bldP spid="31" grpId="0" animBg="1"/>
      <p:bldP spid="33" grpId="0" animBg="1"/>
      <p:bldP spid="3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393" y="2643146"/>
            <a:ext cx="867323" cy="116706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434806" y="1021955"/>
            <a:ext cx="7605499" cy="1717229"/>
            <a:chOff x="1435505" y="1021955"/>
            <a:chExt cx="7887602" cy="1717229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1435505" y="1021955"/>
              <a:ext cx="6839293" cy="1717229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  <a:gd name="connsiteX0-1" fmla="*/ 788216 w 5304363"/>
                <a:gd name="connsiteY0-2" fmla="*/ 0 h 1882442"/>
                <a:gd name="connsiteX1-3" fmla="*/ 5201376 w 5304363"/>
                <a:gd name="connsiteY1-4" fmla="*/ 0 h 1882442"/>
                <a:gd name="connsiteX2-5" fmla="*/ 5304363 w 5304363"/>
                <a:gd name="connsiteY2-6" fmla="*/ 102987 h 1882442"/>
                <a:gd name="connsiteX3-7" fmla="*/ 5304363 w 5304363"/>
                <a:gd name="connsiteY3-8" fmla="*/ 514924 h 1882442"/>
                <a:gd name="connsiteX4-9" fmla="*/ 5201376 w 5304363"/>
                <a:gd name="connsiteY4-10" fmla="*/ 617911 h 1882442"/>
                <a:gd name="connsiteX5-11" fmla="*/ 860635 w 5304363"/>
                <a:gd name="connsiteY5-12" fmla="*/ 617911 h 1882442"/>
                <a:gd name="connsiteX6-13" fmla="*/ 0 w 5304363"/>
                <a:gd name="connsiteY6-14" fmla="*/ 1882442 h 1882442"/>
                <a:gd name="connsiteX7-15" fmla="*/ 685229 w 5304363"/>
                <a:gd name="connsiteY7-16" fmla="*/ 498849 h 1882442"/>
                <a:gd name="connsiteX8-17" fmla="*/ 685229 w 5304363"/>
                <a:gd name="connsiteY8-18" fmla="*/ 102987 h 1882442"/>
                <a:gd name="connsiteX9-19" fmla="*/ 788216 w 5304363"/>
                <a:gd name="connsiteY9-20" fmla="*/ 0 h 188244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5304363" h="1882442">
                  <a:moveTo>
                    <a:pt x="788216" y="0"/>
                  </a:moveTo>
                  <a:lnTo>
                    <a:pt x="5201376" y="0"/>
                  </a:lnTo>
                  <a:cubicBezTo>
                    <a:pt x="5258254" y="0"/>
                    <a:pt x="5304363" y="46109"/>
                    <a:pt x="5304363" y="102987"/>
                  </a:cubicBezTo>
                  <a:lnTo>
                    <a:pt x="5304363" y="514924"/>
                  </a:lnTo>
                  <a:cubicBezTo>
                    <a:pt x="5304363" y="571802"/>
                    <a:pt x="5258254" y="617911"/>
                    <a:pt x="5201376" y="617911"/>
                  </a:cubicBezTo>
                  <a:lnTo>
                    <a:pt x="860635" y="617911"/>
                  </a:lnTo>
                  <a:lnTo>
                    <a:pt x="0" y="1882442"/>
                  </a:lnTo>
                  <a:lnTo>
                    <a:pt x="685229" y="498849"/>
                  </a:lnTo>
                  <a:lnTo>
                    <a:pt x="685229" y="102987"/>
                  </a:lnTo>
                  <a:cubicBezTo>
                    <a:pt x="685229" y="46109"/>
                    <a:pt x="731338" y="0"/>
                    <a:pt x="78821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err="1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的分片集群有什么作用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2740057" y="1693451"/>
            <a:ext cx="6711885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集群中有多个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，每个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保存不同数据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每个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都可以有多个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节点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之间通过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ping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监测彼此健康状态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客户端请求可以访问集群任意节点，最终都会被转发到正确节点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787191" y="3993590"/>
            <a:ext cx="8722937" cy="199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分片集群引入了哈希槽的概念，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集群有 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16384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个哈希槽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16384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个插槽分配到不同的实例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读写数据：根据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有效部分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计算哈希值，对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16384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取余（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有效部分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，如果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前面有大括号，大括号的内容就是有效部分，如果没有，则以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key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本身做为有效部分）余数做为插槽，寻找插槽所在的实例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625212" y="3051132"/>
            <a:ext cx="6180182" cy="710163"/>
            <a:chOff x="1625212" y="3051132"/>
            <a:chExt cx="6180182" cy="710163"/>
          </a:xfrm>
        </p:grpSpPr>
        <p:sp>
          <p:nvSpPr>
            <p:cNvPr id="33" name="任意多边形: 形状 32"/>
            <p:cNvSpPr/>
            <p:nvPr/>
          </p:nvSpPr>
          <p:spPr bwMode="auto">
            <a:xfrm>
              <a:off x="1625212" y="3051132"/>
              <a:ext cx="6180182" cy="710163"/>
            </a:xfrm>
            <a:custGeom>
              <a:avLst/>
              <a:gdLst>
                <a:gd name="connsiteX0" fmla="*/ 0 w 6180182"/>
                <a:gd name="connsiteY0" fmla="*/ 0 h 710163"/>
                <a:gd name="connsiteX1" fmla="*/ 1363563 w 6180182"/>
                <a:gd name="connsiteY1" fmla="*/ 172835 h 710163"/>
                <a:gd name="connsiteX2" fmla="*/ 6090626 w 6180182"/>
                <a:gd name="connsiteY2" fmla="*/ 172835 h 710163"/>
                <a:gd name="connsiteX3" fmla="*/ 6180182 w 6180182"/>
                <a:gd name="connsiteY3" fmla="*/ 262391 h 710163"/>
                <a:gd name="connsiteX4" fmla="*/ 6180182 w 6180182"/>
                <a:gd name="connsiteY4" fmla="*/ 620607 h 710163"/>
                <a:gd name="connsiteX5" fmla="*/ 6090626 w 6180182"/>
                <a:gd name="connsiteY5" fmla="*/ 710163 h 710163"/>
                <a:gd name="connsiteX6" fmla="*/ 1094422 w 6180182"/>
                <a:gd name="connsiteY6" fmla="*/ 710163 h 710163"/>
                <a:gd name="connsiteX7" fmla="*/ 1004866 w 6180182"/>
                <a:gd name="connsiteY7" fmla="*/ 620607 h 710163"/>
                <a:gd name="connsiteX8" fmla="*/ 1004866 w 6180182"/>
                <a:gd name="connsiteY8" fmla="*/ 564267 h 71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80182" h="710163">
                  <a:moveTo>
                    <a:pt x="0" y="0"/>
                  </a:moveTo>
                  <a:lnTo>
                    <a:pt x="1363563" y="172835"/>
                  </a:lnTo>
                  <a:lnTo>
                    <a:pt x="6090626" y="172835"/>
                  </a:lnTo>
                  <a:cubicBezTo>
                    <a:pt x="6140086" y="172835"/>
                    <a:pt x="6180182" y="212931"/>
                    <a:pt x="6180182" y="262391"/>
                  </a:cubicBezTo>
                  <a:lnTo>
                    <a:pt x="6180182" y="620607"/>
                  </a:lnTo>
                  <a:cubicBezTo>
                    <a:pt x="6180182" y="670067"/>
                    <a:pt x="6140086" y="710163"/>
                    <a:pt x="6090626" y="710163"/>
                  </a:cubicBezTo>
                  <a:lnTo>
                    <a:pt x="1094422" y="710163"/>
                  </a:lnTo>
                  <a:cubicBezTo>
                    <a:pt x="1044962" y="710163"/>
                    <a:pt x="1004866" y="670067"/>
                    <a:pt x="1004866" y="620607"/>
                  </a:cubicBezTo>
                  <a:lnTo>
                    <a:pt x="1004866" y="564267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占位符 6"/>
            <p:cNvSpPr txBox="1"/>
            <p:nvPr/>
          </p:nvSpPr>
          <p:spPr>
            <a:xfrm>
              <a:off x="2897182" y="3263800"/>
              <a:ext cx="4301286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分片集群中数据是怎么存储和读取的？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980" y="1252963"/>
            <a:ext cx="7038801" cy="355079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7954" y="1398808"/>
            <a:ext cx="867323" cy="116706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415952" y="1021955"/>
            <a:ext cx="7624353" cy="859390"/>
            <a:chOff x="1415952" y="1021955"/>
            <a:chExt cx="7907155" cy="859390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Redis</a:t>
              </a:r>
              <a:r>
                <a:rPr lang="zh-CN" altLang="en-US" sz="1400" dirty="0">
                  <a:solidFill>
                    <a:schemeClr val="tx1"/>
                  </a:solidFill>
                </a:rPr>
                <a:t>是单线程的，但是为什么还那么快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749484" y="1795440"/>
            <a:ext cx="8722937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是纯内存操作，执行速度非常快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采用单线程，避免不必要的上下文切换可竞争条件，多线程还要考虑线程安全问题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I/O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多路复用模型，非阻塞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" name="图形 2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6086" y="3412671"/>
            <a:ext cx="867323" cy="116706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474084" y="3035818"/>
            <a:ext cx="7624353" cy="859390"/>
            <a:chOff x="1415952" y="1021955"/>
            <a:chExt cx="7907155" cy="859390"/>
          </a:xfrm>
        </p:grpSpPr>
        <p:sp>
          <p:nvSpPr>
            <p:cNvPr id="9" name="任意多边形: 形状 8"/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能解释一下</a:t>
              </a:r>
              <a:r>
                <a:rPr lang="en-US" altLang="zh-CN" sz="14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I/O</a:t>
              </a:r>
              <a:r>
                <a:rPr lang="zh-CN" altLang="en-US" sz="14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多路复用模型？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589228" y="3822203"/>
            <a:ext cx="8722937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是纯内存操作，执行速度非常快，它的性能瓶颈是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网络延迟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而不是执行速度，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I/O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多路复用模型主要就是实现了高效的网络请求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589228" y="4614055"/>
            <a:ext cx="8722937" cy="2316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用户空间和内核空间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常见的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模型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阻塞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Blocking 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非阻塞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Nonblocking 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多路复用（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 Multiplexing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Redis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网络模型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用户空间和内核空间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90537" y="2205809"/>
            <a:ext cx="4574151" cy="8381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accent3">
                    <a:lumMod val="50000"/>
                  </a:schemeClr>
                </a:solidFill>
                <a:ea typeface="Alibaba PuHuiTi Medium"/>
              </a:rPr>
              <a:t>用户</a:t>
            </a:r>
            <a:endParaRPr lang="en-US" altLang="zh-CN" sz="1200" dirty="0">
              <a:solidFill>
                <a:schemeClr val="accent3">
                  <a:lumMod val="50000"/>
                </a:schemeClr>
              </a:solidFill>
              <a:ea typeface="Alibaba PuHuiTi Medium"/>
            </a:endParaRPr>
          </a:p>
          <a:p>
            <a:r>
              <a:rPr lang="zh-CN" altLang="en-US" sz="1200" dirty="0">
                <a:solidFill>
                  <a:schemeClr val="accent3">
                    <a:lumMod val="50000"/>
                  </a:schemeClr>
                </a:solidFill>
                <a:ea typeface="Alibaba PuHuiTi Medium"/>
              </a:rPr>
              <a:t>空间</a:t>
            </a:r>
            <a:endParaRPr lang="zh-CN" altLang="en-US" sz="1200" dirty="0">
              <a:solidFill>
                <a:schemeClr val="accent3">
                  <a:lumMod val="50000"/>
                </a:schemeClr>
              </a:solidFill>
              <a:ea typeface="Alibaba PuHuiTi Medium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90538" y="3334443"/>
            <a:ext cx="4574151" cy="959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ea typeface="Alibaba PuHuiTi Medium"/>
              </a:rPr>
              <a:t>内核</a:t>
            </a:r>
            <a:endParaRPr lang="en-US" altLang="zh-CN" sz="1200" dirty="0">
              <a:solidFill>
                <a:schemeClr val="accent5">
                  <a:lumMod val="75000"/>
                </a:schemeClr>
              </a:solidFill>
              <a:ea typeface="Alibaba PuHuiTi Medium"/>
            </a:endParaRPr>
          </a:p>
          <a:p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ea typeface="Alibaba PuHuiTi Medium"/>
              </a:rPr>
              <a:t>空间</a:t>
            </a:r>
            <a:endParaRPr lang="zh-CN" altLang="en-US" sz="1200" dirty="0">
              <a:solidFill>
                <a:schemeClr val="accent5">
                  <a:lumMod val="75000"/>
                </a:schemeClr>
              </a:solidFill>
              <a:ea typeface="Alibaba PuHuiTi Medium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90538" y="4574472"/>
            <a:ext cx="4574151" cy="47028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Alibaba PuHuiTi Medium"/>
              </a:rPr>
              <a:t>硬件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a typeface="Alibaba PuHuiTi Medium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7881940" y="4672711"/>
            <a:ext cx="3059899" cy="233399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ea typeface="Alibaba PuHuiTi Medium"/>
              </a:rPr>
              <a:t>硬件设备</a:t>
            </a:r>
            <a:endParaRPr lang="zh-CN" altLang="en-US" sz="1100" dirty="0">
              <a:ea typeface="Alibaba PuHuiTi Medium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7881941" y="3700993"/>
            <a:ext cx="3059899" cy="23339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100" dirty="0">
                <a:ea typeface="Alibaba PuHuiTi Medium"/>
              </a:rPr>
              <a:t>内核缓冲区</a:t>
            </a:r>
            <a:endParaRPr lang="zh-CN" altLang="en-US" sz="1100" dirty="0">
              <a:ea typeface="Alibaba PuHuiTi Medium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7881941" y="2469102"/>
            <a:ext cx="3059899" cy="23339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100" dirty="0">
                <a:ea typeface="Alibaba PuHuiTi Medium"/>
              </a:rPr>
              <a:t>用户缓冲区</a:t>
            </a:r>
            <a:endParaRPr lang="zh-CN" altLang="en-US" sz="1100" dirty="0">
              <a:ea typeface="Alibaba PuHuiTi Medium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8440206" y="2702501"/>
            <a:ext cx="0" cy="998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428928" y="3072217"/>
            <a:ext cx="1234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等待数据就绪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2" name="直接箭头连接符 11"/>
          <p:cNvCxnSpPr>
            <a:stCxn id="7" idx="0"/>
            <a:endCxn id="8" idx="2"/>
          </p:cNvCxnSpPr>
          <p:nvPr/>
        </p:nvCxnSpPr>
        <p:spPr>
          <a:xfrm flipV="1">
            <a:off x="9411890" y="3934392"/>
            <a:ext cx="1" cy="738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401605" y="4302096"/>
            <a:ext cx="10823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1.1.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准备数据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10218808" y="2702501"/>
            <a:ext cx="0" cy="986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0258416" y="3065033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读取数据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文本占位符 3"/>
          <p:cNvSpPr txBox="1"/>
          <p:nvPr/>
        </p:nvSpPr>
        <p:spPr>
          <a:xfrm>
            <a:off x="710880" y="1656000"/>
            <a:ext cx="10998520" cy="193561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Linux</a:t>
            </a:r>
            <a:r>
              <a:rPr lang="zh-CN" altLang="en-US" sz="1400" dirty="0"/>
              <a:t>系统中一个进程使用的内存情况划分两部分：</a:t>
            </a:r>
            <a:r>
              <a:rPr lang="zh-CN" altLang="en-US" sz="1400" b="1" dirty="0"/>
              <a:t>内核空间、用户空间</a:t>
            </a:r>
            <a:endParaRPr lang="en-US" altLang="zh-CN" sz="1400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用户空间</a:t>
            </a:r>
            <a:r>
              <a:rPr lang="zh-CN" altLang="en-US" sz="1400" dirty="0"/>
              <a:t>只能执行受限的命令（</a:t>
            </a:r>
            <a:r>
              <a:rPr lang="en-US" altLang="zh-CN" sz="1400" dirty="0"/>
              <a:t>Ring3</a:t>
            </a:r>
            <a:r>
              <a:rPr lang="zh-CN" altLang="en-US" sz="1400" dirty="0"/>
              <a:t>），而且不能直接调用系统资源</a:t>
            </a:r>
            <a:endParaRPr lang="en-US" altLang="zh-CN" sz="1400" dirty="0"/>
          </a:p>
          <a:p>
            <a:r>
              <a:rPr lang="zh-CN" altLang="en-US" sz="1400" dirty="0"/>
              <a:t>      必须通过内核提供的接口来访问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b="1" dirty="0"/>
              <a:t>内核空间</a:t>
            </a:r>
            <a:r>
              <a:rPr lang="zh-CN" altLang="en-US" sz="1400" dirty="0"/>
              <a:t>可以执行特权命令（</a:t>
            </a:r>
            <a:r>
              <a:rPr lang="en-US" altLang="zh-CN" sz="1400" dirty="0"/>
              <a:t>Ring0</a:t>
            </a:r>
            <a:r>
              <a:rPr lang="zh-CN" altLang="en-US" sz="1400" dirty="0"/>
              <a:t>），调用一切系统资源</a:t>
            </a:r>
            <a:endParaRPr lang="en-US" altLang="zh-CN" dirty="0"/>
          </a:p>
        </p:txBody>
      </p:sp>
      <p:sp>
        <p:nvSpPr>
          <p:cNvPr id="19" name="文本占位符 3"/>
          <p:cNvSpPr txBox="1"/>
          <p:nvPr/>
        </p:nvSpPr>
        <p:spPr>
          <a:xfrm>
            <a:off x="704690" y="3579070"/>
            <a:ext cx="10998520" cy="193561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Linux</a:t>
            </a:r>
            <a:r>
              <a:rPr lang="zh-CN" altLang="en-US" sz="1400" dirty="0"/>
              <a:t>系统为了提高</a:t>
            </a:r>
            <a:r>
              <a:rPr lang="en-US" altLang="zh-CN" sz="1400" dirty="0"/>
              <a:t>IO</a:t>
            </a:r>
            <a:r>
              <a:rPr lang="zh-CN" altLang="en-US" sz="1400" dirty="0"/>
              <a:t>效率，会在用户空间和内核空间都加入缓冲区：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写数据时，要把用户缓冲数据拷贝到内核缓冲区，然后写入设备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读数据时，要从设备读取数据到内核缓冲区，然后拷贝到用户缓冲区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386610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AD2B26"/>
                </a:solidFill>
              </a:rPr>
              <a:t>阻塞</a:t>
            </a:r>
            <a:r>
              <a:rPr lang="en-US" altLang="zh-CN" sz="2400" b="1">
                <a:solidFill>
                  <a:srgbClr val="AD2B26"/>
                </a:solidFill>
              </a:rPr>
              <a:t>IO</a:t>
            </a:r>
            <a:endParaRPr lang="zh-CN" altLang="en-US" sz="2400" b="1">
              <a:solidFill>
                <a:srgbClr val="AD2B26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03849"/>
          </a:xfrm>
        </p:spPr>
        <p:txBody>
          <a:bodyPr/>
          <a:lstStyle/>
          <a:p>
            <a:r>
              <a:rPr lang="zh-CN" altLang="en-US" dirty="0"/>
              <a:t>顾名思义，阻塞</a:t>
            </a:r>
            <a:r>
              <a:rPr lang="en-US" altLang="zh-CN" dirty="0"/>
              <a:t>IO</a:t>
            </a:r>
            <a:r>
              <a:rPr lang="zh-CN" altLang="en-US" dirty="0"/>
              <a:t>就是两个阶段都必须阻塞等待：</a:t>
            </a:r>
            <a:endParaRPr lang="en-US" altLang="zh-CN" dirty="0"/>
          </a:p>
          <a:p>
            <a:r>
              <a:rPr lang="zh-CN" altLang="en-US" dirty="0"/>
              <a:t>阶段一：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用户进程尝试读取数据（比如网卡数据）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此时数据尚未到达，内核需要等待数据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此时用户进程也处于阻塞状态</a:t>
            </a:r>
            <a:endParaRPr lang="en-US" altLang="zh-CN" sz="1400" dirty="0"/>
          </a:p>
          <a:p>
            <a:r>
              <a:rPr lang="zh-CN" altLang="en-US" dirty="0"/>
              <a:t>阶段二：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数据到达并拷贝到内核缓冲区，代表已就绪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将内核数据拷贝到用户缓冲区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拷贝过程中，用户进程依然阻塞等待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拷贝完成，用户进程解除阻塞，处理数据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可以看到，阻塞</a:t>
            </a:r>
            <a:r>
              <a:rPr lang="en-US" altLang="zh-CN" sz="1400" dirty="0"/>
              <a:t>IO</a:t>
            </a:r>
            <a:r>
              <a:rPr lang="zh-CN" altLang="en-US" sz="1400" dirty="0"/>
              <a:t>模型中，用户进程在两个阶段都是阻塞状态。</a:t>
            </a:r>
            <a:endParaRPr lang="zh-CN" altLang="en-US" sz="1400" dirty="0"/>
          </a:p>
        </p:txBody>
      </p:sp>
      <p:sp>
        <p:nvSpPr>
          <p:cNvPr id="2" name="文本框 1"/>
          <p:cNvSpPr txBox="1"/>
          <p:nvPr/>
        </p:nvSpPr>
        <p:spPr>
          <a:xfrm>
            <a:off x="5984135" y="2205356"/>
            <a:ext cx="810579" cy="25391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用户应用</a:t>
            </a:r>
            <a:endParaRPr lang="zh-CN" altLang="en-US" sz="105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409764" y="2208281"/>
            <a:ext cx="810578" cy="25391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内核</a:t>
            </a:r>
            <a:endParaRPr lang="zh-CN" altLang="en-US" sz="105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3" name="直接箭头连接符 12"/>
          <p:cNvCxnSpPr>
            <a:stCxn id="43" idx="3"/>
            <a:endCxn id="47" idx="1"/>
          </p:cNvCxnSpPr>
          <p:nvPr/>
        </p:nvCxnSpPr>
        <p:spPr>
          <a:xfrm>
            <a:off x="6794714" y="2788093"/>
            <a:ext cx="2615050" cy="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9781019" y="2926736"/>
            <a:ext cx="1" cy="906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9781020" y="4436760"/>
            <a:ext cx="0" cy="850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endCxn id="50" idx="3"/>
          </p:cNvCxnSpPr>
          <p:nvPr/>
        </p:nvCxnSpPr>
        <p:spPr>
          <a:xfrm flipH="1">
            <a:off x="6794714" y="5418397"/>
            <a:ext cx="2615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左大括号 33"/>
          <p:cNvSpPr/>
          <p:nvPr/>
        </p:nvSpPr>
        <p:spPr>
          <a:xfrm>
            <a:off x="5699792" y="2665126"/>
            <a:ext cx="253859" cy="2884076"/>
          </a:xfrm>
          <a:prstGeom prst="leftBrace">
            <a:avLst>
              <a:gd name="adj1" fmla="val 49014"/>
              <a:gd name="adj2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989570" y="3899415"/>
            <a:ext cx="7168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进程阻塞</a:t>
            </a:r>
            <a:endParaRPr lang="en-US" altLang="zh-CN" dirty="0"/>
          </a:p>
          <a:p>
            <a:r>
              <a:rPr lang="zh-CN" altLang="en-US" dirty="0"/>
              <a:t>等待数据</a:t>
            </a:r>
            <a:endParaRPr lang="zh-CN" altLang="en-US" dirty="0"/>
          </a:p>
        </p:txBody>
      </p:sp>
      <p:sp>
        <p:nvSpPr>
          <p:cNvPr id="38" name="右大括号 37"/>
          <p:cNvSpPr/>
          <p:nvPr/>
        </p:nvSpPr>
        <p:spPr>
          <a:xfrm>
            <a:off x="10269683" y="2665126"/>
            <a:ext cx="253859" cy="1429795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0640950" y="3172274"/>
            <a:ext cx="8771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en-US" altLang="zh-CN" dirty="0"/>
              <a:t>1.</a:t>
            </a:r>
            <a:r>
              <a:rPr lang="zh-CN" altLang="en-US" dirty="0"/>
              <a:t>等待数据</a:t>
            </a:r>
            <a:endParaRPr lang="zh-CN" altLang="en-US" dirty="0"/>
          </a:p>
        </p:txBody>
      </p:sp>
      <p:sp>
        <p:nvSpPr>
          <p:cNvPr id="41" name="右大括号 40"/>
          <p:cNvSpPr/>
          <p:nvPr/>
        </p:nvSpPr>
        <p:spPr>
          <a:xfrm>
            <a:off x="10269683" y="4175151"/>
            <a:ext cx="253859" cy="1374052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0661789" y="4735218"/>
            <a:ext cx="101802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algn="l"/>
            <a:r>
              <a:rPr lang="en-US" altLang="zh-CN" dirty="0"/>
              <a:t>2.</a:t>
            </a:r>
            <a:r>
              <a:rPr lang="zh-CN" altLang="en-US" dirty="0"/>
              <a:t>从内核拷贝</a:t>
            </a:r>
            <a:endParaRPr lang="en-US" altLang="zh-CN" dirty="0"/>
          </a:p>
          <a:p>
            <a:pPr algn="l"/>
            <a:r>
              <a:rPr lang="en-US" altLang="zh-CN" dirty="0"/>
              <a:t>  </a:t>
            </a:r>
            <a:r>
              <a:rPr lang="zh-CN" altLang="en-US" dirty="0"/>
              <a:t>数据到</a:t>
            </a:r>
            <a:endParaRPr lang="en-US" altLang="zh-CN" dirty="0"/>
          </a:p>
          <a:p>
            <a:pPr algn="l"/>
            <a:r>
              <a:rPr lang="en-US" altLang="zh-CN" dirty="0"/>
              <a:t>  </a:t>
            </a:r>
            <a:r>
              <a:rPr lang="zh-CN" altLang="en-US" dirty="0"/>
              <a:t>用户空间</a:t>
            </a:r>
            <a:endParaRPr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7749058" y="257436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系统调用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817987" y="5174352"/>
            <a:ext cx="6110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返回</a:t>
            </a:r>
            <a:r>
              <a:rPr lang="en-US" altLang="zh-CN" dirty="0"/>
              <a:t>OK</a:t>
            </a:r>
            <a:endParaRPr lang="zh-CN" altLang="en-US" dirty="0"/>
          </a:p>
        </p:txBody>
      </p:sp>
      <p:sp>
        <p:nvSpPr>
          <p:cNvPr id="43" name="矩形: 圆角 42"/>
          <p:cNvSpPr/>
          <p:nvPr/>
        </p:nvSpPr>
        <p:spPr>
          <a:xfrm>
            <a:off x="5984136" y="2657288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recvfrom</a:t>
            </a:r>
            <a:endParaRPr lang="zh-CN" altLang="en-US" sz="1100"/>
          </a:p>
        </p:txBody>
      </p:sp>
      <p:sp>
        <p:nvSpPr>
          <p:cNvPr id="47" name="矩形: 圆角 46"/>
          <p:cNvSpPr/>
          <p:nvPr/>
        </p:nvSpPr>
        <p:spPr>
          <a:xfrm>
            <a:off x="9409764" y="2662034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暂无数据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5984136" y="5287592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处理数据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9409764" y="3833311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数据就绪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9409764" y="4168036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拷贝数据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9409764" y="5289402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拷贝完成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386610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AD2B26"/>
                </a:solidFill>
              </a:rPr>
              <a:t>非阻塞</a:t>
            </a:r>
            <a:r>
              <a:rPr lang="en-US" altLang="zh-CN" sz="2400" b="1">
                <a:solidFill>
                  <a:srgbClr val="AD2B26"/>
                </a:solidFill>
              </a:rPr>
              <a:t>IO</a:t>
            </a:r>
            <a:endParaRPr lang="zh-CN" altLang="en-US" sz="2400" b="1">
              <a:solidFill>
                <a:srgbClr val="AD2B26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03849"/>
          </a:xfrm>
        </p:spPr>
        <p:txBody>
          <a:bodyPr/>
          <a:lstStyle/>
          <a:p>
            <a:r>
              <a:rPr lang="zh-CN" altLang="en-US" dirty="0"/>
              <a:t>顾名思义，非阻塞</a:t>
            </a:r>
            <a:r>
              <a:rPr lang="en-US" altLang="zh-CN" dirty="0"/>
              <a:t>IO</a:t>
            </a:r>
            <a:r>
              <a:rPr lang="zh-CN" altLang="en-US" dirty="0"/>
              <a:t>的</a:t>
            </a:r>
            <a:r>
              <a:rPr lang="en-US" altLang="zh-CN" dirty="0" err="1"/>
              <a:t>recvfrom</a:t>
            </a:r>
            <a:r>
              <a:rPr lang="zh-CN" altLang="en-US" dirty="0"/>
              <a:t>操作会立即返回结果而不是阻塞用户进程。</a:t>
            </a:r>
            <a:endParaRPr lang="en-US" altLang="zh-CN" dirty="0"/>
          </a:p>
          <a:p>
            <a:r>
              <a:rPr lang="zh-CN" altLang="en-US" dirty="0"/>
              <a:t>阶段一：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用户进程尝试读取数据（比如网卡数据）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此时数据尚未到达，内核需要等待数据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返回异常给用户进程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用户进程拿到</a:t>
            </a:r>
            <a:r>
              <a:rPr lang="en-US" altLang="zh-CN" sz="1400" dirty="0"/>
              <a:t>error</a:t>
            </a:r>
            <a:r>
              <a:rPr lang="zh-CN" altLang="en-US" sz="1400" dirty="0"/>
              <a:t>后，再次尝试读取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循环往复，直到数据就绪</a:t>
            </a:r>
            <a:endParaRPr lang="en-US" altLang="zh-CN" sz="1400" dirty="0"/>
          </a:p>
          <a:p>
            <a:r>
              <a:rPr lang="zh-CN" altLang="en-US" dirty="0"/>
              <a:t>阶段二：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将内核数据拷贝到用户缓冲区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拷贝过程中，用户进程依然阻塞等待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400" dirty="0"/>
              <a:t>拷贝完成，用户进程解除阻塞，处理数据</a:t>
            </a:r>
            <a:endParaRPr lang="en-US" altLang="zh-CN" sz="1400" dirty="0"/>
          </a:p>
          <a:p>
            <a:r>
              <a:rPr lang="zh-CN" altLang="en-US" sz="1400" dirty="0"/>
              <a:t>可以看到，非阻塞</a:t>
            </a:r>
            <a:r>
              <a:rPr lang="en-US" altLang="zh-CN" sz="1400" dirty="0"/>
              <a:t>IO</a:t>
            </a:r>
            <a:r>
              <a:rPr lang="zh-CN" altLang="en-US" sz="1400" dirty="0"/>
              <a:t>模型中，用户进程在第一个阶段是非阻塞，第二个阶段是阻塞状态。虽然是非阻塞，但性能并没有得到提高。而且忙等机制会导致</a:t>
            </a:r>
            <a:r>
              <a:rPr lang="en-US" altLang="zh-CN" sz="1400" dirty="0"/>
              <a:t>CPU</a:t>
            </a:r>
            <a:r>
              <a:rPr lang="zh-CN" altLang="en-US" sz="1400" dirty="0"/>
              <a:t>空转，</a:t>
            </a:r>
            <a:r>
              <a:rPr lang="en-US" altLang="zh-CN" sz="1400" dirty="0"/>
              <a:t>CPU</a:t>
            </a:r>
            <a:r>
              <a:rPr lang="zh-CN" altLang="en-US" sz="1400" dirty="0"/>
              <a:t>使用率暴增。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endParaRPr lang="zh-CN" altLang="en-US" sz="1400" dirty="0"/>
          </a:p>
        </p:txBody>
      </p:sp>
      <p:sp>
        <p:nvSpPr>
          <p:cNvPr id="2" name="文本框 1"/>
          <p:cNvSpPr txBox="1"/>
          <p:nvPr/>
        </p:nvSpPr>
        <p:spPr>
          <a:xfrm>
            <a:off x="5948507" y="2205356"/>
            <a:ext cx="810579" cy="25391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用户应用</a:t>
            </a:r>
            <a:endParaRPr lang="zh-CN" altLang="en-US" sz="105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374136" y="2208281"/>
            <a:ext cx="810578" cy="25391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ea typeface="阿里巴巴普惠体" panose="00020600040101010101" pitchFamily="18" charset="-122"/>
              </a:rPr>
              <a:t>内核</a:t>
            </a:r>
            <a:endParaRPr lang="zh-CN" altLang="en-US" sz="105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6759086" y="2716843"/>
            <a:ext cx="2615050" cy="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53" idx="2"/>
            <a:endCxn id="54" idx="0"/>
          </p:cNvCxnSpPr>
          <p:nvPr/>
        </p:nvCxnSpPr>
        <p:spPr>
          <a:xfrm>
            <a:off x="9774339" y="4576523"/>
            <a:ext cx="5086" cy="712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endCxn id="50" idx="3"/>
          </p:cNvCxnSpPr>
          <p:nvPr/>
        </p:nvCxnSpPr>
        <p:spPr>
          <a:xfrm flipH="1">
            <a:off x="6759086" y="5418397"/>
            <a:ext cx="2615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左大括号 33"/>
          <p:cNvSpPr/>
          <p:nvPr/>
        </p:nvSpPr>
        <p:spPr>
          <a:xfrm>
            <a:off x="5664164" y="2665126"/>
            <a:ext cx="253859" cy="2884076"/>
          </a:xfrm>
          <a:prstGeom prst="leftBrace">
            <a:avLst>
              <a:gd name="adj1" fmla="val 49014"/>
              <a:gd name="adj2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775814" y="3768787"/>
            <a:ext cx="9925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进程反复调用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recvfrom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并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等待返回成功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标示（循环）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8" name="右大括号 37"/>
          <p:cNvSpPr/>
          <p:nvPr/>
        </p:nvSpPr>
        <p:spPr>
          <a:xfrm>
            <a:off x="10234055" y="2665126"/>
            <a:ext cx="253859" cy="1520470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0605322" y="3172274"/>
            <a:ext cx="8258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等待数据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41" name="右大括号 40"/>
          <p:cNvSpPr/>
          <p:nvPr/>
        </p:nvSpPr>
        <p:spPr>
          <a:xfrm>
            <a:off x="10234055" y="4314913"/>
            <a:ext cx="253859" cy="1234290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0605321" y="4735218"/>
            <a:ext cx="960519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从内核拷贝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数据到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用户空间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729460" y="2503114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系统调用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782359" y="5174352"/>
            <a:ext cx="6110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返回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OK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5948508" y="2657288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recvfrom</a:t>
            </a:r>
            <a:endParaRPr lang="zh-CN" altLang="en-US" sz="1100"/>
          </a:p>
        </p:txBody>
      </p:sp>
      <p:sp>
        <p:nvSpPr>
          <p:cNvPr id="47" name="矩形: 圆角 46"/>
          <p:cNvSpPr/>
          <p:nvPr/>
        </p:nvSpPr>
        <p:spPr>
          <a:xfrm>
            <a:off x="9374136" y="2662034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暂无数据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5948508" y="5287592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处理数据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9369050" y="4314913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拷贝数据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9374136" y="5289402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拷贝完成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H="1" flipV="1">
            <a:off x="6768934" y="2850078"/>
            <a:ext cx="255319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7566630" y="2799143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EWOULDBLOCK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6757107" y="3296753"/>
            <a:ext cx="2615050" cy="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7727481" y="3083024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系统调用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5946529" y="3237198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recvfrom</a:t>
            </a:r>
            <a:endParaRPr lang="zh-CN" altLang="en-US" sz="1100"/>
          </a:p>
        </p:txBody>
      </p:sp>
      <p:sp>
        <p:nvSpPr>
          <p:cNvPr id="37" name="矩形: 圆角 36"/>
          <p:cNvSpPr/>
          <p:nvPr/>
        </p:nvSpPr>
        <p:spPr>
          <a:xfrm>
            <a:off x="9372157" y="3241944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暂无数据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45" name="直接箭头连接符 44"/>
          <p:cNvCxnSpPr/>
          <p:nvPr/>
        </p:nvCxnSpPr>
        <p:spPr>
          <a:xfrm flipH="1" flipV="1">
            <a:off x="6766955" y="3429988"/>
            <a:ext cx="255319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7564651" y="3379053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</a:rPr>
              <a:t>EWOULDBLOCK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42503" y="3561268"/>
            <a:ext cx="745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.......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6743251" y="3983541"/>
            <a:ext cx="2615050" cy="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7713625" y="3769812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系统调用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5932673" y="3923986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recvfrom</a:t>
            </a:r>
            <a:endParaRPr lang="zh-CN" altLang="en-US" sz="1100"/>
          </a:p>
        </p:txBody>
      </p:sp>
      <p:sp>
        <p:nvSpPr>
          <p:cNvPr id="56" name="矩形: 圆角 55"/>
          <p:cNvSpPr/>
          <p:nvPr/>
        </p:nvSpPr>
        <p:spPr>
          <a:xfrm>
            <a:off x="9358301" y="3928732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数据就绪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386610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>
                <a:solidFill>
                  <a:srgbClr val="AD2B26"/>
                </a:solidFill>
              </a:rPr>
              <a:t>IO</a:t>
            </a:r>
            <a:r>
              <a:rPr lang="zh-CN" altLang="en-US" sz="2400" b="1">
                <a:solidFill>
                  <a:srgbClr val="AD2B26"/>
                </a:solidFill>
              </a:rPr>
              <a:t>多路复用</a:t>
            </a:r>
            <a:endParaRPr lang="zh-CN" altLang="en-US" sz="2400" b="1">
              <a:solidFill>
                <a:srgbClr val="AD2B26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03849"/>
          </a:xfrm>
        </p:spPr>
        <p:txBody>
          <a:bodyPr/>
          <a:lstStyle/>
          <a:p>
            <a:r>
              <a:rPr lang="en-US" altLang="zh-CN" b="1" dirty="0"/>
              <a:t>IO</a:t>
            </a:r>
            <a:r>
              <a:rPr lang="zh-CN" altLang="en-US" b="1" dirty="0"/>
              <a:t>多路复用</a:t>
            </a:r>
            <a:r>
              <a:rPr lang="zh-CN" altLang="en-US" dirty="0"/>
              <a:t>：是利用单个线程来同时监听多个</a:t>
            </a:r>
            <a:r>
              <a:rPr lang="en-US" altLang="zh-CN" dirty="0"/>
              <a:t>Socket </a:t>
            </a:r>
            <a:r>
              <a:rPr lang="zh-CN" altLang="en-US" dirty="0"/>
              <a:t>，并在某个</a:t>
            </a:r>
            <a:r>
              <a:rPr lang="en-US" altLang="zh-CN" dirty="0"/>
              <a:t>Socket</a:t>
            </a:r>
            <a:r>
              <a:rPr lang="zh-CN" altLang="en-US" dirty="0"/>
              <a:t>可读、可写时得到通知，从而避免无效的等待，充分利用</a:t>
            </a:r>
            <a:r>
              <a:rPr lang="en-US" altLang="zh-CN" dirty="0"/>
              <a:t>CPU</a:t>
            </a:r>
            <a:r>
              <a:rPr lang="zh-CN" altLang="en-US" dirty="0"/>
              <a:t>资源。</a:t>
            </a:r>
            <a:endParaRPr lang="zh-CN" altLang="en-US" dirty="0"/>
          </a:p>
          <a:p>
            <a:endParaRPr lang="en-US" altLang="zh-CN" sz="1400" dirty="0"/>
          </a:p>
        </p:txBody>
      </p:sp>
      <p:sp>
        <p:nvSpPr>
          <p:cNvPr id="5" name="文本占位符 5"/>
          <p:cNvSpPr txBox="1"/>
          <p:nvPr/>
        </p:nvSpPr>
        <p:spPr>
          <a:xfrm>
            <a:off x="710880" y="2585588"/>
            <a:ext cx="10698800" cy="50384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阶段一：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用户进程调用</a:t>
            </a:r>
            <a:r>
              <a:rPr lang="en-US" altLang="zh-CN" sz="1200" dirty="0"/>
              <a:t>select</a:t>
            </a:r>
            <a:r>
              <a:rPr lang="zh-CN" altLang="en-US" sz="1200" dirty="0"/>
              <a:t>，指定要监听的</a:t>
            </a:r>
            <a:r>
              <a:rPr lang="en-US" altLang="zh-CN" sz="1200" dirty="0"/>
              <a:t>Socket</a:t>
            </a:r>
            <a:r>
              <a:rPr lang="zh-CN" altLang="en-US" sz="1200" dirty="0"/>
              <a:t>集合</a:t>
            </a:r>
            <a:endParaRPr lang="en-US" altLang="zh-CN" sz="12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内核监听对应的多个</a:t>
            </a:r>
            <a:r>
              <a:rPr lang="en-US" altLang="zh-CN" sz="1200" dirty="0"/>
              <a:t>socket</a:t>
            </a:r>
            <a:endParaRPr lang="en-US" altLang="zh-CN" sz="12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任意一个或多个</a:t>
            </a:r>
            <a:r>
              <a:rPr lang="en-US" altLang="zh-CN" sz="1200" dirty="0"/>
              <a:t>socket</a:t>
            </a:r>
            <a:r>
              <a:rPr lang="zh-CN" altLang="en-US" sz="1200" dirty="0"/>
              <a:t>数据就绪则返回</a:t>
            </a:r>
            <a:r>
              <a:rPr lang="en-US" altLang="zh-CN" sz="1200" dirty="0"/>
              <a:t>readable</a:t>
            </a:r>
            <a:endParaRPr lang="en-US" altLang="zh-CN" sz="12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此过程中用户进程阻塞</a:t>
            </a:r>
            <a:endParaRPr lang="en-US" altLang="zh-CN" sz="1200" dirty="0"/>
          </a:p>
          <a:p>
            <a:r>
              <a:rPr lang="zh-CN" altLang="en-US" sz="1400" dirty="0"/>
              <a:t>阶段二：</a:t>
            </a:r>
            <a:endParaRPr lang="en-US" altLang="zh-CN" sz="1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用户进程找到就绪的</a:t>
            </a:r>
            <a:r>
              <a:rPr lang="en-US" altLang="zh-CN" sz="1200" dirty="0"/>
              <a:t>socket</a:t>
            </a:r>
            <a:endParaRPr lang="en-US" altLang="zh-CN" sz="12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依次调用</a:t>
            </a:r>
            <a:r>
              <a:rPr lang="en-US" altLang="zh-CN" sz="1200" dirty="0" err="1"/>
              <a:t>recvfrom</a:t>
            </a:r>
            <a:r>
              <a:rPr lang="zh-CN" altLang="en-US" sz="1200" dirty="0"/>
              <a:t>读取数据</a:t>
            </a:r>
            <a:endParaRPr lang="en-US" altLang="zh-CN" sz="12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内核将数据拷贝到用户空间</a:t>
            </a:r>
            <a:endParaRPr lang="en-US" altLang="zh-CN" sz="12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1200" dirty="0"/>
              <a:t>用户进程处理数据</a:t>
            </a:r>
            <a:endParaRPr lang="en-US" altLang="zh-CN" sz="1200" dirty="0"/>
          </a:p>
        </p:txBody>
      </p:sp>
      <p:sp>
        <p:nvSpPr>
          <p:cNvPr id="7" name="文本框 6"/>
          <p:cNvSpPr txBox="1"/>
          <p:nvPr/>
        </p:nvSpPr>
        <p:spPr>
          <a:xfrm>
            <a:off x="6382233" y="2404572"/>
            <a:ext cx="810579" cy="25391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bg1"/>
                </a:solidFill>
                <a:ea typeface="阿里巴巴普惠体" panose="00020600040101010101" pitchFamily="18" charset="-122"/>
              </a:rPr>
              <a:t>用户应用</a:t>
            </a:r>
            <a:endParaRPr lang="zh-CN" altLang="en-US" sz="105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461354" y="2407497"/>
            <a:ext cx="810578" cy="25391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bg1"/>
                </a:solidFill>
                <a:ea typeface="阿里巴巴普惠体" panose="00020600040101010101" pitchFamily="18" charset="-122"/>
              </a:rPr>
              <a:t>内核</a:t>
            </a:r>
            <a:endParaRPr lang="zh-CN" altLang="en-US" sz="1050" dirty="0">
              <a:solidFill>
                <a:schemeClr val="bg1"/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9" name="直接箭头连接符 8"/>
          <p:cNvCxnSpPr>
            <a:stCxn id="20" idx="3"/>
            <a:endCxn id="21" idx="1"/>
          </p:cNvCxnSpPr>
          <p:nvPr/>
        </p:nvCxnSpPr>
        <p:spPr>
          <a:xfrm>
            <a:off x="7192812" y="2987309"/>
            <a:ext cx="2265999" cy="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9861557" y="4775739"/>
            <a:ext cx="5086" cy="712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endCxn id="22" idx="3"/>
          </p:cNvCxnSpPr>
          <p:nvPr/>
        </p:nvCxnSpPr>
        <p:spPr>
          <a:xfrm flipH="1">
            <a:off x="7192812" y="5617613"/>
            <a:ext cx="2615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左大括号 11"/>
          <p:cNvSpPr/>
          <p:nvPr/>
        </p:nvSpPr>
        <p:spPr>
          <a:xfrm>
            <a:off x="6088265" y="2864342"/>
            <a:ext cx="253859" cy="1528638"/>
          </a:xfrm>
          <a:prstGeom prst="leftBrace">
            <a:avLst>
              <a:gd name="adj1" fmla="val 49014"/>
              <a:gd name="adj2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007526" y="3267971"/>
            <a:ext cx="10438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进程调用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select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同时监听多个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sockets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，并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阻塞等待数据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14" name="右大括号 13"/>
          <p:cNvSpPr/>
          <p:nvPr/>
        </p:nvSpPr>
        <p:spPr>
          <a:xfrm>
            <a:off x="10321273" y="2864342"/>
            <a:ext cx="253859" cy="1520470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0540390" y="3501078"/>
            <a:ext cx="8258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1.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等待数据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16" name="右大括号 15"/>
          <p:cNvSpPr/>
          <p:nvPr/>
        </p:nvSpPr>
        <p:spPr>
          <a:xfrm>
            <a:off x="10321273" y="4514129"/>
            <a:ext cx="253859" cy="1234290"/>
          </a:xfrm>
          <a:prstGeom prst="rightBrace">
            <a:avLst>
              <a:gd name="adj1" fmla="val 49157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540390" y="4853642"/>
            <a:ext cx="960519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2.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从内核拷贝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数据到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  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用户空间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978225" y="2715252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系统调用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014890" y="5384557"/>
            <a:ext cx="6110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返回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OK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6382234" y="2856504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select</a:t>
            </a:r>
            <a:endParaRPr lang="zh-CN" altLang="en-US" sz="1100"/>
          </a:p>
        </p:txBody>
      </p:sp>
      <p:sp>
        <p:nvSpPr>
          <p:cNvPr id="21" name="矩形: 圆角 20"/>
          <p:cNvSpPr/>
          <p:nvPr/>
        </p:nvSpPr>
        <p:spPr>
          <a:xfrm>
            <a:off x="9458811" y="2861250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暂无数据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6382234" y="5486808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处理数据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9458811" y="4514129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拷贝数据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9458811" y="5488618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拷贝完成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25" name="直接箭头连接符 24"/>
          <p:cNvCxnSpPr>
            <a:stCxn id="27" idx="1"/>
          </p:cNvCxnSpPr>
          <p:nvPr/>
        </p:nvCxnSpPr>
        <p:spPr>
          <a:xfrm flipH="1">
            <a:off x="6497640" y="4262176"/>
            <a:ext cx="2961171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矩形: 圆角 25"/>
          <p:cNvSpPr/>
          <p:nvPr/>
        </p:nvSpPr>
        <p:spPr>
          <a:xfrm>
            <a:off x="6371012" y="4514129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en-US" altLang="zh-CN" sz="1100"/>
              <a:t>recvfrom</a:t>
            </a:r>
            <a:endParaRPr lang="zh-CN" altLang="en-US" sz="1100"/>
          </a:p>
        </p:txBody>
      </p:sp>
      <p:sp>
        <p:nvSpPr>
          <p:cNvPr id="27" name="矩形: 圆角 26"/>
          <p:cNvSpPr/>
          <p:nvPr/>
        </p:nvSpPr>
        <p:spPr>
          <a:xfrm>
            <a:off x="9458811" y="4131371"/>
            <a:ext cx="810578" cy="2616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45720" rIns="0" bIns="4572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数据就绪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9864100" y="3122860"/>
            <a:ext cx="0" cy="1008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7858375" y="4008260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返回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readable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30" name="左大括号 29"/>
          <p:cNvSpPr/>
          <p:nvPr/>
        </p:nvSpPr>
        <p:spPr>
          <a:xfrm>
            <a:off x="6086116" y="4512865"/>
            <a:ext cx="253859" cy="1234290"/>
          </a:xfrm>
          <a:prstGeom prst="leftBrace">
            <a:avLst>
              <a:gd name="adj1" fmla="val 49014"/>
              <a:gd name="adj2" fmla="val 5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5114928" y="4772851"/>
            <a:ext cx="9925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进程反复调用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recvfrom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并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等待返回成功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标示（循环）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32" name="直接箭头连接符 31"/>
          <p:cNvCxnSpPr>
            <a:endCxn id="23" idx="1"/>
          </p:cNvCxnSpPr>
          <p:nvPr/>
        </p:nvCxnSpPr>
        <p:spPr>
          <a:xfrm>
            <a:off x="7192812" y="4640617"/>
            <a:ext cx="2265999" cy="4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7978225" y="4391171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系统调用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386610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>
                <a:solidFill>
                  <a:srgbClr val="AD2B26"/>
                </a:solidFill>
              </a:rPr>
              <a:t>IO</a:t>
            </a:r>
            <a:r>
              <a:rPr lang="zh-CN" altLang="en-US" sz="2400" b="1">
                <a:solidFill>
                  <a:srgbClr val="AD2B26"/>
                </a:solidFill>
              </a:rPr>
              <a:t>多路复用</a:t>
            </a:r>
            <a:endParaRPr lang="en-US" altLang="zh-CN" sz="2400" b="1">
              <a:solidFill>
                <a:srgbClr val="AD2B26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b="1" dirty="0"/>
              <a:t>IO</a:t>
            </a:r>
            <a:r>
              <a:rPr lang="zh-CN" altLang="en-US" b="1" dirty="0"/>
              <a:t>多路复用</a:t>
            </a:r>
            <a:r>
              <a:rPr lang="zh-CN" altLang="en-US" dirty="0"/>
              <a:t>是利用单个线程来同时监听多个</a:t>
            </a:r>
            <a:r>
              <a:rPr lang="en-US" altLang="zh-CN" dirty="0"/>
              <a:t>Socket </a:t>
            </a:r>
            <a:r>
              <a:rPr lang="zh-CN" altLang="en-US" dirty="0"/>
              <a:t>，并在某个</a:t>
            </a:r>
            <a:r>
              <a:rPr lang="en-US" altLang="zh-CN" dirty="0"/>
              <a:t>Socket</a:t>
            </a:r>
            <a:r>
              <a:rPr lang="zh-CN" altLang="en-US" dirty="0"/>
              <a:t>可读、可写时得到通知，从而避免无效的等待，充分利用</a:t>
            </a:r>
            <a:r>
              <a:rPr lang="en-US" altLang="zh-CN" dirty="0"/>
              <a:t>CPU</a:t>
            </a:r>
            <a:r>
              <a:rPr lang="zh-CN" altLang="en-US" dirty="0"/>
              <a:t>资源。不过监听</a:t>
            </a:r>
            <a:r>
              <a:rPr lang="en-US" altLang="zh-CN" dirty="0"/>
              <a:t>Socket</a:t>
            </a:r>
            <a:r>
              <a:rPr lang="zh-CN" altLang="en-US" dirty="0"/>
              <a:t>的方式、通知的方式又有多种实现，常见的有：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select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poll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err="1"/>
              <a:t>epoll</a:t>
            </a:r>
            <a:endParaRPr lang="en-US" altLang="zh-CN" dirty="0"/>
          </a:p>
        </p:txBody>
      </p:sp>
      <p:sp>
        <p:nvSpPr>
          <p:cNvPr id="5" name="iconfont-11012-5218622"/>
          <p:cNvSpPr/>
          <p:nvPr/>
        </p:nvSpPr>
        <p:spPr>
          <a:xfrm>
            <a:off x="6362073" y="3743314"/>
            <a:ext cx="869525" cy="769071"/>
          </a:xfrm>
          <a:custGeom>
            <a:avLst/>
            <a:gdLst>
              <a:gd name="connsiteX0" fmla="*/ 334767 w 424180"/>
              <a:gd name="connsiteY0" fmla="*/ 242545 h 375176"/>
              <a:gd name="connsiteX1" fmla="*/ 374580 w 424180"/>
              <a:gd name="connsiteY1" fmla="*/ 242545 h 375176"/>
              <a:gd name="connsiteX2" fmla="*/ 374580 w 424180"/>
              <a:gd name="connsiteY2" fmla="*/ 282424 h 375176"/>
              <a:gd name="connsiteX3" fmla="*/ 334767 w 424180"/>
              <a:gd name="connsiteY3" fmla="*/ 282424 h 375176"/>
              <a:gd name="connsiteX4" fmla="*/ 268617 w 424180"/>
              <a:gd name="connsiteY4" fmla="*/ 242545 h 375176"/>
              <a:gd name="connsiteX5" fmla="*/ 308431 w 424180"/>
              <a:gd name="connsiteY5" fmla="*/ 242545 h 375176"/>
              <a:gd name="connsiteX6" fmla="*/ 308431 w 424180"/>
              <a:gd name="connsiteY6" fmla="*/ 282424 h 375176"/>
              <a:gd name="connsiteX7" fmla="*/ 268617 w 424180"/>
              <a:gd name="connsiteY7" fmla="*/ 282424 h 375176"/>
              <a:gd name="connsiteX8" fmla="*/ 202468 w 424180"/>
              <a:gd name="connsiteY8" fmla="*/ 242545 h 375176"/>
              <a:gd name="connsiteX9" fmla="*/ 242282 w 424180"/>
              <a:gd name="connsiteY9" fmla="*/ 242545 h 375176"/>
              <a:gd name="connsiteX10" fmla="*/ 242282 w 424180"/>
              <a:gd name="connsiteY10" fmla="*/ 282424 h 375176"/>
              <a:gd name="connsiteX11" fmla="*/ 202468 w 424180"/>
              <a:gd name="connsiteY11" fmla="*/ 282424 h 375176"/>
              <a:gd name="connsiteX12" fmla="*/ 279453 w 424180"/>
              <a:gd name="connsiteY12" fmla="*/ 182658 h 375176"/>
              <a:gd name="connsiteX13" fmla="*/ 279453 w 424180"/>
              <a:gd name="connsiteY13" fmla="*/ 202758 h 375176"/>
              <a:gd name="connsiteX14" fmla="*/ 297645 w 424180"/>
              <a:gd name="connsiteY14" fmla="*/ 202758 h 375176"/>
              <a:gd name="connsiteX15" fmla="*/ 297645 w 424180"/>
              <a:gd name="connsiteY15" fmla="*/ 182658 h 375176"/>
              <a:gd name="connsiteX16" fmla="*/ 49909 w 424180"/>
              <a:gd name="connsiteY16" fmla="*/ 93449 h 375176"/>
              <a:gd name="connsiteX17" fmla="*/ 124296 w 424180"/>
              <a:gd name="connsiteY17" fmla="*/ 93449 h 375176"/>
              <a:gd name="connsiteX18" fmla="*/ 158252 w 424180"/>
              <a:gd name="connsiteY18" fmla="*/ 108595 h 375176"/>
              <a:gd name="connsiteX19" fmla="*/ 169872 w 424180"/>
              <a:gd name="connsiteY19" fmla="*/ 143936 h 375176"/>
              <a:gd name="connsiteX20" fmla="*/ 163871 w 424180"/>
              <a:gd name="connsiteY20" fmla="*/ 202710 h 375176"/>
              <a:gd name="connsiteX21" fmla="*/ 259213 w 424180"/>
              <a:gd name="connsiteY21" fmla="*/ 202710 h 375176"/>
              <a:gd name="connsiteX22" fmla="*/ 259213 w 424180"/>
              <a:gd name="connsiteY22" fmla="*/ 182563 h 375176"/>
              <a:gd name="connsiteX23" fmla="*/ 202494 w 424180"/>
              <a:gd name="connsiteY23" fmla="*/ 182563 h 375176"/>
              <a:gd name="connsiteX24" fmla="*/ 202494 w 424180"/>
              <a:gd name="connsiteY24" fmla="*/ 93449 h 375176"/>
              <a:gd name="connsiteX25" fmla="*/ 374604 w 424180"/>
              <a:gd name="connsiteY25" fmla="*/ 93449 h 375176"/>
              <a:gd name="connsiteX26" fmla="*/ 374604 w 424180"/>
              <a:gd name="connsiteY26" fmla="*/ 182658 h 375176"/>
              <a:gd name="connsiteX27" fmla="*/ 317885 w 424180"/>
              <a:gd name="connsiteY27" fmla="*/ 182658 h 375176"/>
              <a:gd name="connsiteX28" fmla="*/ 317885 w 424180"/>
              <a:gd name="connsiteY28" fmla="*/ 202758 h 375176"/>
              <a:gd name="connsiteX29" fmla="*/ 399797 w 424180"/>
              <a:gd name="connsiteY29" fmla="*/ 202758 h 375176"/>
              <a:gd name="connsiteX30" fmla="*/ 424180 w 424180"/>
              <a:gd name="connsiteY30" fmla="*/ 227192 h 375176"/>
              <a:gd name="connsiteX31" fmla="*/ 424180 w 424180"/>
              <a:gd name="connsiteY31" fmla="*/ 334691 h 375176"/>
              <a:gd name="connsiteX32" fmla="*/ 424180 w 424180"/>
              <a:gd name="connsiteY32" fmla="*/ 334739 h 375176"/>
              <a:gd name="connsiteX33" fmla="*/ 403940 w 424180"/>
              <a:gd name="connsiteY33" fmla="*/ 334739 h 375176"/>
              <a:gd name="connsiteX34" fmla="*/ 403940 w 424180"/>
              <a:gd name="connsiteY34" fmla="*/ 227192 h 375176"/>
              <a:gd name="connsiteX35" fmla="*/ 399797 w 424180"/>
              <a:gd name="connsiteY35" fmla="*/ 223000 h 375176"/>
              <a:gd name="connsiteX36" fmla="*/ 24383 w 424180"/>
              <a:gd name="connsiteY36" fmla="*/ 223000 h 375176"/>
              <a:gd name="connsiteX37" fmla="*/ 20240 w 424180"/>
              <a:gd name="connsiteY37" fmla="*/ 227192 h 375176"/>
              <a:gd name="connsiteX38" fmla="*/ 20240 w 424180"/>
              <a:gd name="connsiteY38" fmla="*/ 354934 h 375176"/>
              <a:gd name="connsiteX39" fmla="*/ 424180 w 424180"/>
              <a:gd name="connsiteY39" fmla="*/ 354934 h 375176"/>
              <a:gd name="connsiteX40" fmla="*/ 424180 w 424180"/>
              <a:gd name="connsiteY40" fmla="*/ 375176 h 375176"/>
              <a:gd name="connsiteX41" fmla="*/ 0 w 424180"/>
              <a:gd name="connsiteY41" fmla="*/ 375176 h 375176"/>
              <a:gd name="connsiteX42" fmla="*/ 0 w 424180"/>
              <a:gd name="connsiteY42" fmla="*/ 227096 h 375176"/>
              <a:gd name="connsiteX43" fmla="*/ 10715 w 424180"/>
              <a:gd name="connsiteY43" fmla="*/ 206949 h 375176"/>
              <a:gd name="connsiteX44" fmla="*/ 24383 w 424180"/>
              <a:gd name="connsiteY44" fmla="*/ 202710 h 375176"/>
              <a:gd name="connsiteX45" fmla="*/ 143584 w 424180"/>
              <a:gd name="connsiteY45" fmla="*/ 202710 h 375176"/>
              <a:gd name="connsiteX46" fmla="*/ 149775 w 424180"/>
              <a:gd name="connsiteY46" fmla="*/ 141840 h 375176"/>
              <a:gd name="connsiteX47" fmla="*/ 143251 w 424180"/>
              <a:gd name="connsiteY47" fmla="*/ 122074 h 375176"/>
              <a:gd name="connsiteX48" fmla="*/ 124296 w 424180"/>
              <a:gd name="connsiteY48" fmla="*/ 113643 h 375176"/>
              <a:gd name="connsiteX49" fmla="*/ 49909 w 424180"/>
              <a:gd name="connsiteY49" fmla="*/ 113643 h 375176"/>
              <a:gd name="connsiteX50" fmla="*/ 30955 w 424180"/>
              <a:gd name="connsiteY50" fmla="*/ 122074 h 375176"/>
              <a:gd name="connsiteX51" fmla="*/ 24431 w 424180"/>
              <a:gd name="connsiteY51" fmla="*/ 141840 h 375176"/>
              <a:gd name="connsiteX52" fmla="*/ 28621 w 424180"/>
              <a:gd name="connsiteY52" fmla="*/ 182515 h 375176"/>
              <a:gd name="connsiteX53" fmla="*/ 8239 w 424180"/>
              <a:gd name="connsiteY53" fmla="*/ 182515 h 375176"/>
              <a:gd name="connsiteX54" fmla="*/ 4334 w 424180"/>
              <a:gd name="connsiteY54" fmla="*/ 143936 h 375176"/>
              <a:gd name="connsiteX55" fmla="*/ 15954 w 424180"/>
              <a:gd name="connsiteY55" fmla="*/ 108547 h 375176"/>
              <a:gd name="connsiteX56" fmla="*/ 49909 w 424180"/>
              <a:gd name="connsiteY56" fmla="*/ 93449 h 375176"/>
              <a:gd name="connsiteX57" fmla="*/ 87055 w 424180"/>
              <a:gd name="connsiteY57" fmla="*/ 20195 h 375176"/>
              <a:gd name="connsiteX58" fmla="*/ 63720 w 424180"/>
              <a:gd name="connsiteY58" fmla="*/ 43581 h 375176"/>
              <a:gd name="connsiteX59" fmla="*/ 87055 w 424180"/>
              <a:gd name="connsiteY59" fmla="*/ 66872 h 375176"/>
              <a:gd name="connsiteX60" fmla="*/ 110390 w 424180"/>
              <a:gd name="connsiteY60" fmla="*/ 43581 h 375176"/>
              <a:gd name="connsiteX61" fmla="*/ 87055 w 424180"/>
              <a:gd name="connsiteY61" fmla="*/ 20195 h 375176"/>
              <a:gd name="connsiteX62" fmla="*/ 87055 w 424180"/>
              <a:gd name="connsiteY62" fmla="*/ 0 h 375176"/>
              <a:gd name="connsiteX63" fmla="*/ 130630 w 424180"/>
              <a:gd name="connsiteY63" fmla="*/ 43581 h 375176"/>
              <a:gd name="connsiteX64" fmla="*/ 87055 w 424180"/>
              <a:gd name="connsiteY64" fmla="*/ 87114 h 375176"/>
              <a:gd name="connsiteX65" fmla="*/ 43480 w 424180"/>
              <a:gd name="connsiteY65" fmla="*/ 43581 h 375176"/>
              <a:gd name="connsiteX66" fmla="*/ 87055 w 424180"/>
              <a:gd name="connsiteY66" fmla="*/ 0 h 37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424180" h="375176">
                <a:moveTo>
                  <a:pt x="334767" y="242545"/>
                </a:moveTo>
                <a:lnTo>
                  <a:pt x="374580" y="242545"/>
                </a:lnTo>
                <a:lnTo>
                  <a:pt x="374580" y="282424"/>
                </a:lnTo>
                <a:lnTo>
                  <a:pt x="334767" y="282424"/>
                </a:lnTo>
                <a:close/>
                <a:moveTo>
                  <a:pt x="268617" y="242545"/>
                </a:moveTo>
                <a:lnTo>
                  <a:pt x="308431" y="242545"/>
                </a:lnTo>
                <a:lnTo>
                  <a:pt x="308431" y="282424"/>
                </a:lnTo>
                <a:lnTo>
                  <a:pt x="268617" y="282424"/>
                </a:lnTo>
                <a:close/>
                <a:moveTo>
                  <a:pt x="202468" y="242545"/>
                </a:moveTo>
                <a:lnTo>
                  <a:pt x="242282" y="242545"/>
                </a:lnTo>
                <a:lnTo>
                  <a:pt x="242282" y="282424"/>
                </a:lnTo>
                <a:lnTo>
                  <a:pt x="202468" y="282424"/>
                </a:lnTo>
                <a:close/>
                <a:moveTo>
                  <a:pt x="279453" y="182658"/>
                </a:moveTo>
                <a:lnTo>
                  <a:pt x="279453" y="202758"/>
                </a:lnTo>
                <a:lnTo>
                  <a:pt x="297645" y="202758"/>
                </a:lnTo>
                <a:lnTo>
                  <a:pt x="297645" y="182658"/>
                </a:lnTo>
                <a:close/>
                <a:moveTo>
                  <a:pt x="49909" y="93449"/>
                </a:moveTo>
                <a:lnTo>
                  <a:pt x="124296" y="93449"/>
                </a:lnTo>
                <a:cubicBezTo>
                  <a:pt x="137202" y="93449"/>
                  <a:pt x="149584" y="98974"/>
                  <a:pt x="158252" y="108595"/>
                </a:cubicBezTo>
                <a:cubicBezTo>
                  <a:pt x="166967" y="118168"/>
                  <a:pt x="171205" y="131076"/>
                  <a:pt x="169872" y="143936"/>
                </a:cubicBezTo>
                <a:lnTo>
                  <a:pt x="163871" y="202710"/>
                </a:lnTo>
                <a:lnTo>
                  <a:pt x="259213" y="202710"/>
                </a:lnTo>
                <a:lnTo>
                  <a:pt x="259213" y="182563"/>
                </a:lnTo>
                <a:lnTo>
                  <a:pt x="202494" y="182563"/>
                </a:lnTo>
                <a:lnTo>
                  <a:pt x="202494" y="93449"/>
                </a:lnTo>
                <a:lnTo>
                  <a:pt x="374604" y="93449"/>
                </a:lnTo>
                <a:lnTo>
                  <a:pt x="374604" y="182658"/>
                </a:lnTo>
                <a:lnTo>
                  <a:pt x="317885" y="182658"/>
                </a:lnTo>
                <a:lnTo>
                  <a:pt x="317885" y="202758"/>
                </a:lnTo>
                <a:lnTo>
                  <a:pt x="399797" y="202758"/>
                </a:lnTo>
                <a:cubicBezTo>
                  <a:pt x="413227" y="202758"/>
                  <a:pt x="424180" y="213713"/>
                  <a:pt x="424180" y="227192"/>
                </a:cubicBezTo>
                <a:lnTo>
                  <a:pt x="424180" y="334691"/>
                </a:lnTo>
                <a:lnTo>
                  <a:pt x="424180" y="334739"/>
                </a:lnTo>
                <a:lnTo>
                  <a:pt x="403940" y="334739"/>
                </a:lnTo>
                <a:lnTo>
                  <a:pt x="403940" y="227192"/>
                </a:lnTo>
                <a:cubicBezTo>
                  <a:pt x="403940" y="224858"/>
                  <a:pt x="402083" y="223000"/>
                  <a:pt x="399797" y="223000"/>
                </a:cubicBezTo>
                <a:lnTo>
                  <a:pt x="24383" y="223000"/>
                </a:lnTo>
                <a:cubicBezTo>
                  <a:pt x="22049" y="223000"/>
                  <a:pt x="20240" y="224858"/>
                  <a:pt x="20240" y="227192"/>
                </a:cubicBezTo>
                <a:lnTo>
                  <a:pt x="20240" y="354934"/>
                </a:lnTo>
                <a:lnTo>
                  <a:pt x="424180" y="354934"/>
                </a:lnTo>
                <a:lnTo>
                  <a:pt x="424180" y="375176"/>
                </a:lnTo>
                <a:lnTo>
                  <a:pt x="0" y="375176"/>
                </a:lnTo>
                <a:lnTo>
                  <a:pt x="0" y="227096"/>
                </a:lnTo>
                <a:cubicBezTo>
                  <a:pt x="0" y="218714"/>
                  <a:pt x="4191" y="211331"/>
                  <a:pt x="10715" y="206949"/>
                </a:cubicBezTo>
                <a:cubicBezTo>
                  <a:pt x="14620" y="204234"/>
                  <a:pt x="19335" y="202710"/>
                  <a:pt x="24383" y="202710"/>
                </a:cubicBezTo>
                <a:lnTo>
                  <a:pt x="143584" y="202710"/>
                </a:lnTo>
                <a:lnTo>
                  <a:pt x="149775" y="141840"/>
                </a:lnTo>
                <a:cubicBezTo>
                  <a:pt x="150489" y="134505"/>
                  <a:pt x="148203" y="127504"/>
                  <a:pt x="143251" y="122074"/>
                </a:cubicBezTo>
                <a:cubicBezTo>
                  <a:pt x="138393" y="116597"/>
                  <a:pt x="131583" y="113643"/>
                  <a:pt x="124296" y="113643"/>
                </a:cubicBezTo>
                <a:lnTo>
                  <a:pt x="49909" y="113643"/>
                </a:lnTo>
                <a:cubicBezTo>
                  <a:pt x="42575" y="113643"/>
                  <a:pt x="35860" y="116644"/>
                  <a:pt x="30955" y="122074"/>
                </a:cubicBezTo>
                <a:cubicBezTo>
                  <a:pt x="26002" y="127551"/>
                  <a:pt x="23669" y="134505"/>
                  <a:pt x="24431" y="141840"/>
                </a:cubicBezTo>
                <a:lnTo>
                  <a:pt x="28621" y="182515"/>
                </a:lnTo>
                <a:lnTo>
                  <a:pt x="8239" y="182515"/>
                </a:lnTo>
                <a:lnTo>
                  <a:pt x="4334" y="143936"/>
                </a:lnTo>
                <a:cubicBezTo>
                  <a:pt x="3000" y="131076"/>
                  <a:pt x="7239" y="118168"/>
                  <a:pt x="15954" y="108547"/>
                </a:cubicBezTo>
                <a:cubicBezTo>
                  <a:pt x="24573" y="98974"/>
                  <a:pt x="37003" y="93449"/>
                  <a:pt x="49909" y="93449"/>
                </a:cubicBezTo>
                <a:close/>
                <a:moveTo>
                  <a:pt x="87055" y="20195"/>
                </a:moveTo>
                <a:cubicBezTo>
                  <a:pt x="74197" y="20242"/>
                  <a:pt x="63720" y="30721"/>
                  <a:pt x="63720" y="43581"/>
                </a:cubicBezTo>
                <a:cubicBezTo>
                  <a:pt x="63720" y="56441"/>
                  <a:pt x="74197" y="66872"/>
                  <a:pt x="87055" y="66872"/>
                </a:cubicBezTo>
                <a:cubicBezTo>
                  <a:pt x="99913" y="66872"/>
                  <a:pt x="110390" y="56441"/>
                  <a:pt x="110390" y="43581"/>
                </a:cubicBezTo>
                <a:cubicBezTo>
                  <a:pt x="110390" y="30673"/>
                  <a:pt x="99913" y="20195"/>
                  <a:pt x="87055" y="20195"/>
                </a:cubicBezTo>
                <a:close/>
                <a:moveTo>
                  <a:pt x="87055" y="0"/>
                </a:moveTo>
                <a:cubicBezTo>
                  <a:pt x="111057" y="0"/>
                  <a:pt x="130630" y="19528"/>
                  <a:pt x="130630" y="43581"/>
                </a:cubicBezTo>
                <a:cubicBezTo>
                  <a:pt x="130630" y="67586"/>
                  <a:pt x="111105" y="87114"/>
                  <a:pt x="87055" y="87114"/>
                </a:cubicBezTo>
                <a:cubicBezTo>
                  <a:pt x="63005" y="87114"/>
                  <a:pt x="43480" y="67586"/>
                  <a:pt x="43480" y="43581"/>
                </a:cubicBezTo>
                <a:cubicBezTo>
                  <a:pt x="43480" y="19528"/>
                  <a:pt x="63101" y="0"/>
                  <a:pt x="87055" y="0"/>
                </a:cubicBezTo>
                <a:close/>
              </a:path>
            </a:pathLst>
          </a:cu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9540" y="4933062"/>
            <a:ext cx="371429" cy="75238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3051" y="3838830"/>
            <a:ext cx="371429" cy="75238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9540" y="2744597"/>
            <a:ext cx="371429" cy="75238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2081" y="2744596"/>
            <a:ext cx="371429" cy="75238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2081" y="3838829"/>
            <a:ext cx="371429" cy="7523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2081" y="4933062"/>
            <a:ext cx="371429" cy="75238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4622" y="2744595"/>
            <a:ext cx="371429" cy="75238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4621" y="3838828"/>
            <a:ext cx="371429" cy="75238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4620" y="4933061"/>
            <a:ext cx="371429" cy="752381"/>
          </a:xfrm>
          <a:prstGeom prst="rect">
            <a:avLst/>
          </a:prstGeom>
        </p:spPr>
      </p:pic>
      <p:pic>
        <p:nvPicPr>
          <p:cNvPr id="39" name="图形 38" descr="灯泡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5900" y="3059149"/>
            <a:ext cx="640791" cy="640791"/>
          </a:xfrm>
          <a:prstGeom prst="rect">
            <a:avLst/>
          </a:prstGeom>
        </p:spPr>
      </p:pic>
      <p:sp>
        <p:nvSpPr>
          <p:cNvPr id="56" name="任意多边形: 形状 55"/>
          <p:cNvSpPr/>
          <p:nvPr/>
        </p:nvSpPr>
        <p:spPr>
          <a:xfrm>
            <a:off x="5954993" y="3123867"/>
            <a:ext cx="312971" cy="306530"/>
          </a:xfrm>
          <a:custGeom>
            <a:avLst/>
            <a:gdLst>
              <a:gd name="connsiteX0" fmla="*/ 223303 w 446606"/>
              <a:gd name="connsiteY0" fmla="*/ 0 h 437414"/>
              <a:gd name="connsiteX1" fmla="*/ 446606 w 446606"/>
              <a:gd name="connsiteY1" fmla="*/ 207988 h 437414"/>
              <a:gd name="connsiteX2" fmla="*/ 381202 w 446606"/>
              <a:gd name="connsiteY2" fmla="*/ 355058 h 437414"/>
              <a:gd name="connsiteX3" fmla="*/ 349169 w 446606"/>
              <a:gd name="connsiteY3" fmla="*/ 375174 h 437414"/>
              <a:gd name="connsiteX4" fmla="*/ 349169 w 446606"/>
              <a:gd name="connsiteY4" fmla="*/ 437414 h 437414"/>
              <a:gd name="connsiteX5" fmla="*/ 91994 w 446606"/>
              <a:gd name="connsiteY5" fmla="*/ 437414 h 437414"/>
              <a:gd name="connsiteX6" fmla="*/ 91994 w 446606"/>
              <a:gd name="connsiteY6" fmla="*/ 371756 h 437414"/>
              <a:gd name="connsiteX7" fmla="*/ 65404 w 446606"/>
              <a:gd name="connsiteY7" fmla="*/ 355058 h 437414"/>
              <a:gd name="connsiteX8" fmla="*/ 0 w 446606"/>
              <a:gd name="connsiteY8" fmla="*/ 207988 h 437414"/>
              <a:gd name="connsiteX9" fmla="*/ 223303 w 446606"/>
              <a:gd name="connsiteY9" fmla="*/ 0 h 43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6606" h="437414">
                <a:moveTo>
                  <a:pt x="223303" y="0"/>
                </a:moveTo>
                <a:cubicBezTo>
                  <a:pt x="346630" y="0"/>
                  <a:pt x="446606" y="93119"/>
                  <a:pt x="446606" y="207988"/>
                </a:cubicBezTo>
                <a:cubicBezTo>
                  <a:pt x="446606" y="265422"/>
                  <a:pt x="421612" y="317420"/>
                  <a:pt x="381202" y="355058"/>
                </a:cubicBezTo>
                <a:lnTo>
                  <a:pt x="349169" y="375174"/>
                </a:lnTo>
                <a:lnTo>
                  <a:pt x="349169" y="437414"/>
                </a:lnTo>
                <a:lnTo>
                  <a:pt x="91994" y="437414"/>
                </a:lnTo>
                <a:lnTo>
                  <a:pt x="91994" y="371756"/>
                </a:lnTo>
                <a:lnTo>
                  <a:pt x="65404" y="355058"/>
                </a:lnTo>
                <a:cubicBezTo>
                  <a:pt x="24994" y="317420"/>
                  <a:pt x="0" y="265422"/>
                  <a:pt x="0" y="207988"/>
                </a:cubicBezTo>
                <a:cubicBezTo>
                  <a:pt x="0" y="93119"/>
                  <a:pt x="99976" y="0"/>
                  <a:pt x="22330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6" name="组合 75"/>
          <p:cNvGrpSpPr/>
          <p:nvPr/>
        </p:nvGrpSpPr>
        <p:grpSpPr>
          <a:xfrm>
            <a:off x="5683031" y="2871734"/>
            <a:ext cx="852797" cy="507810"/>
            <a:chOff x="5660452" y="3108803"/>
            <a:chExt cx="852797" cy="507810"/>
          </a:xfrm>
        </p:grpSpPr>
        <p:sp>
          <p:nvSpPr>
            <p:cNvPr id="59" name="矩形: 圆角 58"/>
            <p:cNvSpPr/>
            <p:nvPr/>
          </p:nvSpPr>
          <p:spPr>
            <a:xfrm rot="2094366">
              <a:off x="5724408" y="3261802"/>
              <a:ext cx="187415" cy="80771"/>
            </a:xfrm>
            <a:prstGeom prst="roundRect">
              <a:avLst>
                <a:gd name="adj" fmla="val 3959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: 圆角 59"/>
            <p:cNvSpPr/>
            <p:nvPr/>
          </p:nvSpPr>
          <p:spPr>
            <a:xfrm>
              <a:off x="5660452" y="3522863"/>
              <a:ext cx="187415" cy="80771"/>
            </a:xfrm>
            <a:prstGeom prst="roundRect">
              <a:avLst>
                <a:gd name="adj" fmla="val 3959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: 圆角 60"/>
            <p:cNvSpPr/>
            <p:nvPr/>
          </p:nvSpPr>
          <p:spPr>
            <a:xfrm rot="5400000">
              <a:off x="5990008" y="3162125"/>
              <a:ext cx="187415" cy="80771"/>
            </a:xfrm>
            <a:prstGeom prst="roundRect">
              <a:avLst>
                <a:gd name="adj" fmla="val 3959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: 圆角 61"/>
            <p:cNvSpPr/>
            <p:nvPr/>
          </p:nvSpPr>
          <p:spPr>
            <a:xfrm>
              <a:off x="6325834" y="3535842"/>
              <a:ext cx="187415" cy="80771"/>
            </a:xfrm>
            <a:prstGeom prst="roundRect">
              <a:avLst>
                <a:gd name="adj" fmla="val 3959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: 圆角 62"/>
            <p:cNvSpPr/>
            <p:nvPr/>
          </p:nvSpPr>
          <p:spPr>
            <a:xfrm rot="19051183">
              <a:off x="6255554" y="3268129"/>
              <a:ext cx="187415" cy="80771"/>
            </a:xfrm>
            <a:prstGeom prst="roundRect">
              <a:avLst>
                <a:gd name="adj" fmla="val 3959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5" name="图片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2029" y="2743864"/>
            <a:ext cx="207239" cy="171790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8984" y="3814346"/>
            <a:ext cx="164910" cy="171641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972" y="2739699"/>
            <a:ext cx="207239" cy="171790"/>
          </a:xfrm>
          <a:prstGeom prst="rect">
            <a:avLst/>
          </a:prstGeom>
        </p:spPr>
      </p:pic>
      <p:pic>
        <p:nvPicPr>
          <p:cNvPr id="68" name="图片 6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1915" y="2735534"/>
            <a:ext cx="207239" cy="171790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2029" y="3858830"/>
            <a:ext cx="207239" cy="171790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971" y="3858830"/>
            <a:ext cx="207239" cy="171790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1913" y="3858830"/>
            <a:ext cx="207239" cy="171790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820" y="4933061"/>
            <a:ext cx="207239" cy="171790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971" y="4933061"/>
            <a:ext cx="207239" cy="171790"/>
          </a:xfrm>
          <a:prstGeom prst="rect">
            <a:avLst/>
          </a:prstGeom>
        </p:spPr>
      </p:pic>
      <p:pic>
        <p:nvPicPr>
          <p:cNvPr id="75" name="图片 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6122" y="4933061"/>
            <a:ext cx="207239" cy="171790"/>
          </a:xfrm>
          <a:prstGeom prst="rect">
            <a:avLst/>
          </a:prstGeom>
        </p:spPr>
      </p:pic>
      <p:sp>
        <p:nvSpPr>
          <p:cNvPr id="32" name="文本占位符 5"/>
          <p:cNvSpPr txBox="1"/>
          <p:nvPr/>
        </p:nvSpPr>
        <p:spPr>
          <a:xfrm>
            <a:off x="746599" y="3224874"/>
            <a:ext cx="4994882" cy="282596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  <a:p>
            <a:r>
              <a:rPr lang="zh-CN" altLang="en-US" dirty="0"/>
              <a:t>差异：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select</a:t>
            </a:r>
            <a:r>
              <a:rPr lang="zh-CN" altLang="en-US" dirty="0"/>
              <a:t>和</a:t>
            </a:r>
            <a:r>
              <a:rPr lang="en-US" altLang="zh-CN" dirty="0"/>
              <a:t>poll</a:t>
            </a:r>
            <a:r>
              <a:rPr lang="zh-CN" altLang="en-US" dirty="0"/>
              <a:t>只会通知用户进程有</a:t>
            </a:r>
            <a:r>
              <a:rPr lang="en-US" altLang="zh-CN" dirty="0"/>
              <a:t>Socket</a:t>
            </a:r>
            <a:r>
              <a:rPr lang="zh-CN" altLang="en-US" dirty="0"/>
              <a:t>就绪，但不确定具体是哪个</a:t>
            </a:r>
            <a:r>
              <a:rPr lang="en-US" altLang="zh-CN" dirty="0"/>
              <a:t>Socket </a:t>
            </a:r>
            <a:r>
              <a:rPr lang="zh-CN" altLang="en-US" dirty="0"/>
              <a:t>，需要用户进程逐个遍历</a:t>
            </a:r>
            <a:r>
              <a:rPr lang="en-US" altLang="zh-CN" dirty="0"/>
              <a:t>Socket</a:t>
            </a:r>
            <a:r>
              <a:rPr lang="zh-CN" altLang="en-US" dirty="0"/>
              <a:t>来确认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/>
              <a:t>epoll</a:t>
            </a:r>
            <a:r>
              <a:rPr lang="zh-CN" altLang="en-US" dirty="0"/>
              <a:t>则会在通知用户进程</a:t>
            </a:r>
            <a:r>
              <a:rPr lang="en-US" altLang="zh-CN" dirty="0"/>
              <a:t>Socket</a:t>
            </a:r>
            <a:r>
              <a:rPr lang="zh-CN" altLang="en-US" dirty="0"/>
              <a:t>就绪的同时，把已就绪的</a:t>
            </a:r>
            <a:r>
              <a:rPr lang="en-US" altLang="zh-CN" dirty="0"/>
              <a:t>Socket</a:t>
            </a:r>
            <a:r>
              <a:rPr lang="zh-CN" altLang="en-US" dirty="0"/>
              <a:t>写入用户空间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8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4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6" grpId="0" animBg="1"/>
      <p:bldP spid="56" grpId="1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/>
          <p:cNvSpPr/>
          <p:nvPr/>
        </p:nvSpPr>
        <p:spPr>
          <a:xfrm>
            <a:off x="8127136" y="3346387"/>
            <a:ext cx="2383302" cy="868025"/>
          </a:xfrm>
          <a:prstGeom prst="rect">
            <a:avLst/>
          </a:prstGeom>
          <a:solidFill>
            <a:srgbClr val="F7FBF4"/>
          </a:solidFill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</a:t>
            </a:r>
            <a:endParaRPr lang="en-US" altLang="zh-CN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线</a:t>
            </a:r>
            <a:endParaRPr lang="en-US" altLang="zh-CN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</a:t>
            </a:r>
            <a:endParaRPr lang="zh-CN" altLang="en-US" sz="1400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7692084" y="5367654"/>
            <a:ext cx="3280264" cy="868025"/>
          </a:xfrm>
          <a:prstGeom prst="rect">
            <a:avLst/>
          </a:prstGeom>
          <a:solidFill>
            <a:srgbClr val="F7FBF4"/>
          </a:solidFill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</a:t>
            </a:r>
            <a:endParaRPr lang="en-US" altLang="zh-CN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线</a:t>
            </a:r>
            <a:endParaRPr lang="en-US" altLang="zh-CN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r"/>
            <a:r>
              <a:rPr lang="zh-CN" altLang="en-US" dirty="0">
                <a:solidFill>
                  <a:srgbClr val="77933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</a:t>
            </a:r>
            <a:endParaRPr lang="zh-CN" altLang="en-US" sz="1400" dirty="0">
              <a:solidFill>
                <a:srgbClr val="77933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占位符 1"/>
          <p:cNvSpPr txBox="1">
            <a:spLocks noGrp="1"/>
          </p:cNvSpPr>
          <p:nvPr>
            <p:ph type="title"/>
          </p:nvPr>
        </p:nvSpPr>
        <p:spPr>
          <a:xfrm>
            <a:off x="711200" y="1060450"/>
            <a:ext cx="10698163" cy="386610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rgbClr val="AD2B26"/>
                </a:solidFill>
              </a:rPr>
              <a:t>Redis</a:t>
            </a:r>
            <a:r>
              <a:rPr lang="zh-CN" altLang="en-US" sz="2400" b="1" dirty="0">
                <a:solidFill>
                  <a:srgbClr val="AD2B26"/>
                </a:solidFill>
              </a:rPr>
              <a:t>网络模型</a:t>
            </a:r>
            <a:endParaRPr lang="zh-CN" altLang="en-US" sz="2400" b="1" dirty="0">
              <a:solidFill>
                <a:srgbClr val="AD2B26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746600" y="1547275"/>
            <a:ext cx="10698800" cy="566039"/>
          </a:xfrm>
        </p:spPr>
        <p:txBody>
          <a:bodyPr/>
          <a:lstStyle/>
          <a:p>
            <a:r>
              <a:rPr lang="en-US" altLang="zh-CN" sz="1400" dirty="0"/>
              <a:t>Redis</a:t>
            </a:r>
            <a:r>
              <a:rPr lang="zh-CN" altLang="en-US" sz="1400" dirty="0"/>
              <a:t>通过</a:t>
            </a:r>
            <a:r>
              <a:rPr lang="en-US" altLang="zh-CN" sz="1400" dirty="0"/>
              <a:t>IO</a:t>
            </a:r>
            <a:r>
              <a:rPr lang="zh-CN" altLang="en-US" sz="1400" dirty="0"/>
              <a:t>多路复用来提高网络性能，并且支持各种不同的多路复用实现，并且将这些实现进行封装， 提供了统一的高性能事件库</a:t>
            </a:r>
            <a:endParaRPr lang="zh-CN" altLang="en-US" sz="1400" dirty="0"/>
          </a:p>
        </p:txBody>
      </p:sp>
      <p:sp>
        <p:nvSpPr>
          <p:cNvPr id="2" name="椭圆 1"/>
          <p:cNvSpPr/>
          <p:nvPr/>
        </p:nvSpPr>
        <p:spPr>
          <a:xfrm>
            <a:off x="1097379" y="2159000"/>
            <a:ext cx="876620" cy="5969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client</a:t>
            </a:r>
            <a:endParaRPr lang="en-US" altLang="zh-CN" sz="1100"/>
          </a:p>
          <a:p>
            <a:pPr algn="ctr"/>
            <a:r>
              <a:rPr lang="en-US" altLang="zh-CN" sz="1100"/>
              <a:t>Socket</a:t>
            </a:r>
            <a:endParaRPr lang="zh-CN" altLang="en-US" sz="1100"/>
          </a:p>
        </p:txBody>
      </p:sp>
      <p:sp>
        <p:nvSpPr>
          <p:cNvPr id="17" name="椭圆 16"/>
          <p:cNvSpPr/>
          <p:nvPr/>
        </p:nvSpPr>
        <p:spPr>
          <a:xfrm>
            <a:off x="1097379" y="3504713"/>
            <a:ext cx="876620" cy="5969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client</a:t>
            </a:r>
            <a:endParaRPr lang="en-US" altLang="zh-CN" sz="1100"/>
          </a:p>
          <a:p>
            <a:pPr algn="ctr"/>
            <a:r>
              <a:rPr lang="en-US" altLang="zh-CN" sz="1100"/>
              <a:t>Socket</a:t>
            </a:r>
            <a:endParaRPr lang="zh-CN" altLang="en-US" sz="1100"/>
          </a:p>
        </p:txBody>
      </p:sp>
      <p:sp>
        <p:nvSpPr>
          <p:cNvPr id="18" name="椭圆 17"/>
          <p:cNvSpPr/>
          <p:nvPr/>
        </p:nvSpPr>
        <p:spPr>
          <a:xfrm>
            <a:off x="1097379" y="4913926"/>
            <a:ext cx="876620" cy="5969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/>
              <a:t>client</a:t>
            </a:r>
            <a:endParaRPr lang="en-US" altLang="zh-CN" sz="1100"/>
          </a:p>
          <a:p>
            <a:pPr algn="ctr"/>
            <a:r>
              <a:rPr lang="en-US" altLang="zh-CN" sz="1100"/>
              <a:t>Socket</a:t>
            </a:r>
            <a:endParaRPr lang="zh-CN" altLang="en-US" sz="1100"/>
          </a:p>
        </p:txBody>
      </p:sp>
      <p:sp>
        <p:nvSpPr>
          <p:cNvPr id="51" name="矩形: 圆角 50"/>
          <p:cNvSpPr/>
          <p:nvPr/>
        </p:nvSpPr>
        <p:spPr>
          <a:xfrm>
            <a:off x="8164659" y="2668944"/>
            <a:ext cx="1712314" cy="5969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连接应答处理器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100" dirty="0" err="1"/>
              <a:t>tcpAccepthandler</a:t>
            </a:r>
            <a:endParaRPr lang="zh-CN" altLang="en-US" sz="1100" dirty="0"/>
          </a:p>
        </p:txBody>
      </p:sp>
      <p:cxnSp>
        <p:nvCxnSpPr>
          <p:cNvPr id="53" name="连接符: 肘形 52"/>
          <p:cNvCxnSpPr>
            <a:endCxn id="51" idx="1"/>
          </p:cNvCxnSpPr>
          <p:nvPr/>
        </p:nvCxnSpPr>
        <p:spPr>
          <a:xfrm flipV="1">
            <a:off x="6287958" y="2967394"/>
            <a:ext cx="1876701" cy="831142"/>
          </a:xfrm>
          <a:prstGeom prst="bentConnector3">
            <a:avLst>
              <a:gd name="adj1" fmla="val 276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矩形: 圆角 61"/>
          <p:cNvSpPr/>
          <p:nvPr/>
        </p:nvSpPr>
        <p:spPr>
          <a:xfrm>
            <a:off x="8172421" y="4302990"/>
            <a:ext cx="1712315" cy="5969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命令请求处理器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1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readQueryFromClient</a:t>
            </a:r>
            <a:endParaRPr lang="en-US" altLang="zh-CN" sz="1100" b="0" dirty="0"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</p:txBody>
      </p:sp>
      <p:cxnSp>
        <p:nvCxnSpPr>
          <p:cNvPr id="73" name="连接符: 肘形 72"/>
          <p:cNvCxnSpPr>
            <a:endCxn id="62" idx="1"/>
          </p:cNvCxnSpPr>
          <p:nvPr/>
        </p:nvCxnSpPr>
        <p:spPr>
          <a:xfrm>
            <a:off x="6287958" y="3798536"/>
            <a:ext cx="1884463" cy="802904"/>
          </a:xfrm>
          <a:prstGeom prst="bentConnector3">
            <a:avLst>
              <a:gd name="adj1" fmla="val 2776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5" name="矩形: 圆角 254"/>
          <p:cNvSpPr/>
          <p:nvPr/>
        </p:nvSpPr>
        <p:spPr>
          <a:xfrm>
            <a:off x="9285996" y="5560139"/>
            <a:ext cx="1062961" cy="5969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接收请求数据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72" name="矩形: 圆角 271"/>
          <p:cNvSpPr/>
          <p:nvPr/>
        </p:nvSpPr>
        <p:spPr>
          <a:xfrm>
            <a:off x="7844637" y="5560140"/>
            <a:ext cx="1139630" cy="5969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把数据转为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Redis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命令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sp>
        <p:nvSpPr>
          <p:cNvPr id="273" name="矩形: 圆角 272"/>
          <p:cNvSpPr/>
          <p:nvPr/>
        </p:nvSpPr>
        <p:spPr>
          <a:xfrm>
            <a:off x="6220021" y="5560140"/>
            <a:ext cx="1094762" cy="596899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选择并执行命令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把结果写入缓冲队列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275" name="连接符: 肘形 274"/>
          <p:cNvCxnSpPr>
            <a:stCxn id="62" idx="3"/>
            <a:endCxn id="255" idx="3"/>
          </p:cNvCxnSpPr>
          <p:nvPr/>
        </p:nvCxnSpPr>
        <p:spPr>
          <a:xfrm>
            <a:off x="9884736" y="4601440"/>
            <a:ext cx="464221" cy="1257149"/>
          </a:xfrm>
          <a:prstGeom prst="bentConnector3">
            <a:avLst>
              <a:gd name="adj1" fmla="val 14924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0" name="直接箭头连接符 279"/>
          <p:cNvCxnSpPr>
            <a:stCxn id="272" idx="1"/>
            <a:endCxn id="273" idx="3"/>
          </p:cNvCxnSpPr>
          <p:nvPr/>
        </p:nvCxnSpPr>
        <p:spPr>
          <a:xfrm flipH="1">
            <a:off x="7314783" y="5858590"/>
            <a:ext cx="5298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6" name="矩形: 圆角 345"/>
          <p:cNvSpPr/>
          <p:nvPr/>
        </p:nvSpPr>
        <p:spPr>
          <a:xfrm>
            <a:off x="8175658" y="3492506"/>
            <a:ext cx="1712314" cy="5969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命令回复处理器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algn="ctr"/>
            <a:r>
              <a:rPr lang="en-US" altLang="zh-CN" sz="11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sendReplyToClient</a:t>
            </a:r>
            <a:endParaRPr lang="zh-CN" altLang="en-US" sz="1100" dirty="0"/>
          </a:p>
        </p:txBody>
      </p:sp>
      <p:cxnSp>
        <p:nvCxnSpPr>
          <p:cNvPr id="348" name="直接箭头连接符 347"/>
          <p:cNvCxnSpPr>
            <a:endCxn id="346" idx="1"/>
          </p:cNvCxnSpPr>
          <p:nvPr/>
        </p:nvCxnSpPr>
        <p:spPr>
          <a:xfrm flipV="1">
            <a:off x="6287958" y="3790956"/>
            <a:ext cx="1887700" cy="7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>
            <a:off x="3646127" y="3465513"/>
            <a:ext cx="2641551" cy="64201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IO</a:t>
            </a:r>
            <a:r>
              <a:rPr lang="zh-CN" altLang="en-US" dirty="0"/>
              <a:t>多路复用 </a:t>
            </a:r>
            <a:r>
              <a:rPr lang="en-US" altLang="zh-CN" dirty="0"/>
              <a:t>+ </a:t>
            </a:r>
            <a:r>
              <a:rPr lang="zh-CN" altLang="en-US" dirty="0"/>
              <a:t>事件派发</a:t>
            </a:r>
            <a:endParaRPr lang="zh-CN" altLang="en-US" dirty="0"/>
          </a:p>
        </p:txBody>
      </p:sp>
      <p:cxnSp>
        <p:nvCxnSpPr>
          <p:cNvPr id="10" name="连接符: 曲线 9"/>
          <p:cNvCxnSpPr>
            <a:stCxn id="2" idx="6"/>
            <a:endCxn id="86" idx="1"/>
          </p:cNvCxnSpPr>
          <p:nvPr/>
        </p:nvCxnSpPr>
        <p:spPr>
          <a:xfrm>
            <a:off x="1973999" y="2457450"/>
            <a:ext cx="1672128" cy="132907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连接符: 曲线 11"/>
          <p:cNvCxnSpPr>
            <a:stCxn id="17" idx="6"/>
            <a:endCxn id="86" idx="1"/>
          </p:cNvCxnSpPr>
          <p:nvPr/>
        </p:nvCxnSpPr>
        <p:spPr>
          <a:xfrm flipV="1">
            <a:off x="1973999" y="3786523"/>
            <a:ext cx="1672128" cy="166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连接符: 曲线 13"/>
          <p:cNvCxnSpPr>
            <a:stCxn id="18" idx="6"/>
            <a:endCxn id="86" idx="1"/>
          </p:cNvCxnSpPr>
          <p:nvPr/>
        </p:nvCxnSpPr>
        <p:spPr>
          <a:xfrm flipV="1">
            <a:off x="1973999" y="3786523"/>
            <a:ext cx="1672128" cy="142585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: 圆角 14"/>
          <p:cNvSpPr/>
          <p:nvPr/>
        </p:nvSpPr>
        <p:spPr bwMode="auto">
          <a:xfrm>
            <a:off x="3733014" y="5542961"/>
            <a:ext cx="1989058" cy="631595"/>
          </a:xfrm>
          <a:prstGeom prst="round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/>
          <p:cNvCxnSpPr>
            <a:stCxn id="273" idx="1"/>
            <a:endCxn id="15" idx="3"/>
          </p:cNvCxnSpPr>
          <p:nvPr/>
        </p:nvCxnSpPr>
        <p:spPr>
          <a:xfrm flipH="1">
            <a:off x="5722072" y="5858590"/>
            <a:ext cx="497949" cy="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连接符: 曲线 23"/>
          <p:cNvCxnSpPr>
            <a:stCxn id="15" idx="0"/>
          </p:cNvCxnSpPr>
          <p:nvPr/>
        </p:nvCxnSpPr>
        <p:spPr>
          <a:xfrm rot="5400000" flipH="1" flipV="1">
            <a:off x="5644299" y="3014221"/>
            <a:ext cx="1611984" cy="3445496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 bwMode="auto">
          <a:xfrm>
            <a:off x="5128182" y="5599522"/>
            <a:ext cx="480767" cy="50904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 bwMode="auto">
          <a:xfrm>
            <a:off x="4525652" y="5599522"/>
            <a:ext cx="480767" cy="50904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 bwMode="auto">
          <a:xfrm>
            <a:off x="3923122" y="5599522"/>
            <a:ext cx="480767" cy="50904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占位符 5"/>
          <p:cNvSpPr txBox="1"/>
          <p:nvPr/>
        </p:nvSpPr>
        <p:spPr>
          <a:xfrm>
            <a:off x="4487159" y="6166409"/>
            <a:ext cx="791851" cy="4040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缓冲区</a:t>
            </a:r>
            <a:endParaRPr lang="zh-CN" altLang="en-US" sz="1200" dirty="0"/>
          </a:p>
        </p:txBody>
      </p:sp>
      <p:sp>
        <p:nvSpPr>
          <p:cNvPr id="36" name="文本占位符 5"/>
          <p:cNvSpPr txBox="1"/>
          <p:nvPr/>
        </p:nvSpPr>
        <p:spPr>
          <a:xfrm>
            <a:off x="6391374" y="6166409"/>
            <a:ext cx="1131216" cy="4040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串行执行</a:t>
            </a:r>
            <a:endParaRPr lang="zh-CN" altLang="en-US" sz="1200" dirty="0"/>
          </a:p>
        </p:txBody>
      </p:sp>
      <p:cxnSp>
        <p:nvCxnSpPr>
          <p:cNvPr id="38" name="直接箭头连接符 37"/>
          <p:cNvCxnSpPr>
            <a:stCxn id="255" idx="1"/>
            <a:endCxn id="272" idx="3"/>
          </p:cNvCxnSpPr>
          <p:nvPr/>
        </p:nvCxnSpPr>
        <p:spPr>
          <a:xfrm flipH="1">
            <a:off x="8984267" y="5858589"/>
            <a:ext cx="30172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247449" y="1819373"/>
            <a:ext cx="9300386" cy="1101963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altLang="zh-CN" sz="1400" b="1" dirty="0"/>
              <a:t>I/O</a:t>
            </a:r>
            <a:r>
              <a:rPr lang="zh-CN" altLang="en-US" sz="1400" b="1" dirty="0"/>
              <a:t>多路复用</a:t>
            </a:r>
            <a:endParaRPr lang="en-US" altLang="zh-CN" sz="1400" b="1" dirty="0"/>
          </a:p>
          <a:p>
            <a:r>
              <a:rPr lang="zh-CN" altLang="en-US" sz="1400" dirty="0"/>
              <a:t>是指利用单个线程来同时监听多个</a:t>
            </a:r>
            <a:r>
              <a:rPr lang="en-US" altLang="zh-CN" sz="1400" dirty="0"/>
              <a:t>Socket </a:t>
            </a:r>
            <a:r>
              <a:rPr lang="zh-CN" altLang="en-US" sz="1400" dirty="0"/>
              <a:t>，并在某个</a:t>
            </a:r>
            <a:r>
              <a:rPr lang="en-US" altLang="zh-CN" sz="1400" dirty="0"/>
              <a:t>Socket</a:t>
            </a:r>
            <a:r>
              <a:rPr lang="zh-CN" altLang="en-US" sz="1400" dirty="0"/>
              <a:t>可读、可写时得到通知，从而避免无效的等待，充分利用</a:t>
            </a:r>
            <a:r>
              <a:rPr lang="en-US" altLang="zh-CN" sz="1400" dirty="0"/>
              <a:t>CPU</a:t>
            </a:r>
            <a:r>
              <a:rPr lang="zh-CN" altLang="en-US" sz="1400" dirty="0"/>
              <a:t>资源。目前的</a:t>
            </a:r>
            <a:r>
              <a:rPr lang="en-US" altLang="zh-CN" sz="1400" dirty="0"/>
              <a:t>I/O</a:t>
            </a:r>
            <a:r>
              <a:rPr lang="zh-CN" altLang="en-US" sz="1400" dirty="0"/>
              <a:t>多路复用都是采用的</a:t>
            </a:r>
            <a:r>
              <a:rPr lang="en-US" altLang="zh-CN" sz="1400" dirty="0" err="1"/>
              <a:t>epoll</a:t>
            </a:r>
            <a:r>
              <a:rPr lang="zh-CN" altLang="en-US" sz="1400" dirty="0"/>
              <a:t>模式实现，它会在通知用户进程</a:t>
            </a:r>
            <a:r>
              <a:rPr lang="en-US" altLang="zh-CN" sz="1400" dirty="0"/>
              <a:t>Socket</a:t>
            </a:r>
            <a:r>
              <a:rPr lang="zh-CN" altLang="en-US" sz="1400" dirty="0"/>
              <a:t>就绪的同时，把已就绪的</a:t>
            </a:r>
            <a:r>
              <a:rPr lang="en-US" altLang="zh-CN" sz="1400" dirty="0"/>
              <a:t>Socket</a:t>
            </a:r>
            <a:r>
              <a:rPr lang="zh-CN" altLang="en-US" sz="1400" dirty="0"/>
              <a:t>写入用户空间，不需要挨个遍历</a:t>
            </a:r>
            <a:r>
              <a:rPr lang="en-US" altLang="zh-CN" sz="1400" dirty="0"/>
              <a:t>Socket</a:t>
            </a:r>
            <a:r>
              <a:rPr lang="zh-CN" altLang="en-US" sz="1400" dirty="0"/>
              <a:t>来判断是否就绪，提升了性能。</a:t>
            </a:r>
            <a:endParaRPr lang="zh-CN" altLang="en-US" sz="1400" dirty="0"/>
          </a:p>
          <a:p>
            <a:endParaRPr lang="zh-CN" altLang="en-US" sz="1200" dirty="0"/>
          </a:p>
        </p:txBody>
      </p:sp>
      <p:pic>
        <p:nvPicPr>
          <p:cNvPr id="4" name="图形 3" descr="穿高领毛衣戴眼镜的男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0672" y="1348201"/>
            <a:ext cx="867323" cy="116706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398670" y="971348"/>
            <a:ext cx="7624353" cy="859390"/>
            <a:chOff x="1415952" y="1021955"/>
            <a:chExt cx="7907155" cy="859390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占位符 6"/>
            <p:cNvSpPr txBox="1"/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600" indent="-3810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40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5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6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200" indent="-3048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8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4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0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600" indent="-304800" algn="l" defTabSz="12192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能解释一下</a:t>
              </a:r>
              <a:r>
                <a:rPr lang="en-US" altLang="zh-CN" sz="14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I/O</a:t>
              </a:r>
              <a:r>
                <a:rPr lang="zh-CN" altLang="en-US" sz="14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多路复用模型？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文本占位符 2"/>
          <p:cNvSpPr txBox="1"/>
          <p:nvPr/>
        </p:nvSpPr>
        <p:spPr>
          <a:xfrm>
            <a:off x="2181462" y="3308808"/>
            <a:ext cx="9300386" cy="236612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 startAt="2"/>
            </a:pPr>
            <a:r>
              <a:rPr lang="en-US" altLang="zh-CN" sz="1400" b="1" dirty="0"/>
              <a:t>Redis</a:t>
            </a:r>
            <a:r>
              <a:rPr lang="zh-CN" altLang="en-US" sz="1400" b="1" dirty="0"/>
              <a:t>网络模型</a:t>
            </a:r>
            <a:endParaRPr lang="en-US" altLang="zh-CN" sz="1400" b="1" dirty="0"/>
          </a:p>
          <a:p>
            <a:r>
              <a:rPr lang="zh-CN" altLang="en-US" sz="1400" dirty="0"/>
              <a:t>就是使用</a:t>
            </a:r>
            <a:r>
              <a:rPr lang="en-US" altLang="zh-CN" sz="1400" dirty="0"/>
              <a:t>I/O</a:t>
            </a:r>
            <a:r>
              <a:rPr lang="zh-CN" altLang="en-US" sz="1400" dirty="0"/>
              <a:t>多路复用结合事件的处理器来应对多个</a:t>
            </a:r>
            <a:r>
              <a:rPr lang="en-US" altLang="zh-CN" sz="1400" dirty="0"/>
              <a:t>Socket</a:t>
            </a:r>
            <a:r>
              <a:rPr lang="zh-CN" altLang="en-US" sz="1400" dirty="0"/>
              <a:t>请求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连接应答处理器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命令回复处理器，在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Redis6.0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之后，为了提升更好的性能，使用了多线程来处理回复事件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命令请求处理器，在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Redis6.0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之后，将命令的转换使用了多线程，增加命令转换速度，在命令执行的时候，依然是单线程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  <p:bldP spid="8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330" y="1206769"/>
            <a:ext cx="10199340" cy="48735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椭圆 5"/>
          <p:cNvSpPr/>
          <p:nvPr/>
        </p:nvSpPr>
        <p:spPr bwMode="auto">
          <a:xfrm>
            <a:off x="829558" y="3776597"/>
            <a:ext cx="2762054" cy="276205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3475849" y="3579275"/>
            <a:ext cx="2911814" cy="691066"/>
          </a:xfrm>
        </p:spPr>
        <p:txBody>
          <a:bodyPr/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黑马虎翼老师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ISLIDE.ICON" val="#404313;#393789;#10268;"/>
</p:tagLst>
</file>

<file path=ppt/tags/tag2.xml><?xml version="1.0" encoding="utf-8"?>
<p:tagLst xmlns:p="http://schemas.openxmlformats.org/presentationml/2006/main">
  <p:tag name="ISLIDE.ICON" val="#404313;#393789;#10268;"/>
</p:tagLst>
</file>

<file path=ppt/tags/tag3.xml><?xml version="1.0" encoding="utf-8"?>
<p:tagLst xmlns:p="http://schemas.openxmlformats.org/presentationml/2006/main">
  <p:tag name="ISLIDE.ICON" val="#404313;#393789;#10268;"/>
</p:tagLst>
</file>

<file path=ppt/tags/tag4.xml><?xml version="1.0" encoding="utf-8"?>
<p:tagLst xmlns:p="http://schemas.openxmlformats.org/presentationml/2006/main">
  <p:tag name="ISLIDE.ICON" val="#404313;#393789;#10268;"/>
</p:tagLst>
</file>

<file path=ppt/tags/tag5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6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7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8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9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10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11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12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13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14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15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16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17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18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19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20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21.xml><?xml version="1.0" encoding="utf-8"?>
<p:tagLst xmlns:p="http://schemas.openxmlformats.org/presentationml/2006/main">
  <p:tag name="KSO_WM_DIAGRAM_VIRTUALLY_FRAME" val="{&quot;height&quot;:491.6524409448819,&quot;left&quot;:105.39141732283466,&quot;top&quot;:28.792598425196864,&quot;width&quot;:1254.014094488189}"/>
</p:tagLst>
</file>

<file path=ppt/tags/tag22.xml><?xml version="1.0" encoding="utf-8"?>
<p:tagLst xmlns:p="http://schemas.openxmlformats.org/presentationml/2006/main">
  <p:tag name="ISLIDE.ICON" val="#405265;#404313;"/>
</p:tagLst>
</file>

<file path=ppt/tags/tag23.xml><?xml version="1.0" encoding="utf-8"?>
<p:tagLst xmlns:p="http://schemas.openxmlformats.org/presentationml/2006/main">
  <p:tag name="ISLIDE.ICON" val="#405265;#404313;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1"/>
        </a:solidFill>
        <a:ln w="12700">
          <a:solidFill>
            <a:schemeClr val="tx1"/>
          </a:solidFill>
        </a:ln>
      </a:spPr>
      <a:bodyPr anchor="ctr"/>
      <a:lstStyle>
        <a:defPPr algn="ctr">
          <a:defRPr sz="1400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19285</Words>
  <Application>WPS 演示</Application>
  <PresentationFormat>宽屏</PresentationFormat>
  <Paragraphs>2444</Paragraphs>
  <Slides>85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85</vt:i4>
      </vt:variant>
    </vt:vector>
  </HeadingPairs>
  <TitlesOfParts>
    <vt:vector size="124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Segoe UI Light</vt:lpstr>
      <vt:lpstr>微软雅黑 Light</vt:lpstr>
      <vt:lpstr>华文楷体</vt:lpstr>
      <vt:lpstr>Alibaba PuHuiTi</vt:lpstr>
      <vt:lpstr>Alibaba PuHuiTi Medium</vt:lpstr>
      <vt:lpstr>Alibaba PuHuiTi M</vt:lpstr>
      <vt:lpstr>Arial Unicode MS</vt:lpstr>
      <vt:lpstr>等线</vt:lpstr>
      <vt:lpstr>Arial Unicode MS</vt:lpstr>
      <vt:lpstr>JetBrains Mono</vt:lpstr>
      <vt:lpstr>Alibaba PuHuiTi R</vt:lpstr>
      <vt:lpstr>Segoe Print</vt:lpstr>
      <vt:lpstr>-apple-system</vt:lpstr>
      <vt:lpstr>Consolas</vt:lpstr>
      <vt:lpstr>Source Code Pro Medium</vt:lpstr>
      <vt:lpstr>Alibaba PuHuiTi B</vt:lpstr>
      <vt:lpstr>Alibaba PuHuiTi Medium</vt:lpstr>
      <vt:lpstr>Open Sans</vt:lpstr>
      <vt:lpstr>Lato</vt:lpstr>
      <vt:lpstr>Source code pro</vt:lpstr>
      <vt:lpstr>Yu Gothic UI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Redis篇</vt:lpstr>
      <vt:lpstr>PowerPoint 演示文稿</vt:lpstr>
      <vt:lpstr>PowerPoint 演示文稿</vt:lpstr>
      <vt:lpstr>PowerPoint 演示文稿</vt:lpstr>
      <vt:lpstr>PowerPoint 演示文稿</vt:lpstr>
      <vt:lpstr>缓存穿透</vt:lpstr>
      <vt:lpstr>缓存穿透</vt:lpstr>
      <vt:lpstr>布隆过滤器</vt:lpstr>
      <vt:lpstr>布隆过滤器</vt:lpstr>
      <vt:lpstr>布隆过滤器</vt:lpstr>
      <vt:lpstr>缓存穿透</vt:lpstr>
      <vt:lpstr>PowerPoint 演示文稿</vt:lpstr>
      <vt:lpstr>缓存击穿</vt:lpstr>
      <vt:lpstr>缓存击穿</vt:lpstr>
      <vt:lpstr>PowerPoint 演示文稿</vt:lpstr>
      <vt:lpstr>缓存雪崩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双写一致</vt:lpstr>
      <vt:lpstr>双写一致</vt:lpstr>
      <vt:lpstr>双写一致</vt:lpstr>
      <vt:lpstr>双写一致</vt:lpstr>
      <vt:lpstr>双写一致</vt:lpstr>
      <vt:lpstr>PowerPoint 演示文稿</vt:lpstr>
      <vt:lpstr>PowerPoint 演示文稿</vt:lpstr>
      <vt:lpstr>Redis持久化</vt:lpstr>
      <vt:lpstr>RDB的执行原理？</vt:lpstr>
      <vt:lpstr>AOF</vt:lpstr>
      <vt:lpstr>AOF</vt:lpstr>
      <vt:lpstr>AOF</vt:lpstr>
      <vt:lpstr>RDB与AOF对比</vt:lpstr>
      <vt:lpstr>PowerPoint 演示文稿</vt:lpstr>
      <vt:lpstr>PowerPoint 演示文稿</vt:lpstr>
      <vt:lpstr>Redis数据删除策略-惰性删除</vt:lpstr>
      <vt:lpstr>Redis数据删除策略-定期删除</vt:lpstr>
      <vt:lpstr>PowerPoint 演示文稿</vt:lpstr>
      <vt:lpstr>PowerPoint 演示文稿</vt:lpstr>
      <vt:lpstr>数据淘汰策略</vt:lpstr>
      <vt:lpstr>数据淘汰策略-使用建议</vt:lpstr>
      <vt:lpstr>关于数据淘汰策略其他的面试问题</vt:lpstr>
      <vt:lpstr>PowerPoint 演示文稿</vt:lpstr>
      <vt:lpstr>PowerPoint 演示文稿</vt:lpstr>
      <vt:lpstr>抢券场景</vt:lpstr>
      <vt:lpstr>抢券执行流程</vt:lpstr>
      <vt:lpstr>抢券执行流程</vt:lpstr>
      <vt:lpstr>抢券执行流程</vt:lpstr>
      <vt:lpstr>服务集群部署</vt:lpstr>
      <vt:lpstr>抢券执行流程</vt:lpstr>
      <vt:lpstr>抢券执行流程</vt:lpstr>
      <vt:lpstr>redis分布式锁</vt:lpstr>
      <vt:lpstr>redisson实现的分布式锁-执行流程</vt:lpstr>
      <vt:lpstr>redisson实现的分布式锁-可重入</vt:lpstr>
      <vt:lpstr>PowerPoint 演示文稿</vt:lpstr>
      <vt:lpstr>PowerPoint 演示文稿</vt:lpstr>
      <vt:lpstr>redisson实现的分布式锁-主从一致性</vt:lpstr>
      <vt:lpstr>PowerPoint 演示文稿</vt:lpstr>
      <vt:lpstr>PowerPoint 演示文稿</vt:lpstr>
      <vt:lpstr>PowerPoint 演示文稿</vt:lpstr>
      <vt:lpstr>PowerPoint 演示文稿</vt:lpstr>
      <vt:lpstr>主从复制</vt:lpstr>
      <vt:lpstr>主从数据同步原理</vt:lpstr>
      <vt:lpstr>主从数据同步原理</vt:lpstr>
      <vt:lpstr>PowerPoint 演示文稿</vt:lpstr>
      <vt:lpstr>哨兵的作用</vt:lpstr>
      <vt:lpstr>服务状态监控</vt:lpstr>
      <vt:lpstr>redis集群（哨兵模式）脑裂</vt:lpstr>
      <vt:lpstr>redis集群（哨兵模式）脑裂</vt:lpstr>
      <vt:lpstr>redis集群（哨兵模式）脑裂</vt:lpstr>
      <vt:lpstr>PowerPoint 演示文稿</vt:lpstr>
      <vt:lpstr>分片集群结构</vt:lpstr>
      <vt:lpstr>分片集群结构-数据读写</vt:lpstr>
      <vt:lpstr>PowerPoint 演示文稿</vt:lpstr>
      <vt:lpstr>PowerPoint 演示文稿</vt:lpstr>
      <vt:lpstr>用户空间和内核空间</vt:lpstr>
      <vt:lpstr>阻塞IO</vt:lpstr>
      <vt:lpstr>非阻塞IO</vt:lpstr>
      <vt:lpstr>IO多路复用</vt:lpstr>
      <vt:lpstr>IO多路复用</vt:lpstr>
      <vt:lpstr>Redis网络模型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Chipmunk</cp:lastModifiedBy>
  <cp:revision>7305</cp:revision>
  <dcterms:created xsi:type="dcterms:W3CDTF">2020-03-31T02:23:00Z</dcterms:created>
  <dcterms:modified xsi:type="dcterms:W3CDTF">2025-03-19T06:18:18Z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7CFF00422FEA4F9BADE7445DF5B1C543_12</vt:lpwstr>
  </property>
  <property fmtid="{D5CDD505-2E9C-101B-9397-08002B2CF9AE}" pid="3" name="KSOProductBuildVer">
    <vt:lpwstr>2052-12.1.0.20305</vt:lpwstr>
  </property>
</Properties>
</file>